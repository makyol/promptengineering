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a:t>
            </a:r>
          </a:p>
          <a:p/>
          <a:p>
            <a:r>
              <a:t>Last week you built something that answers from your own documents, and we ended by naming</a:t>
            </a:r>
          </a:p>
          <a:p>
            <a:r>
              <a:t>three ways a grounded answer goes wrong.</a:t>
            </a:r>
          </a:p>
          <a:p/>
          <a:p>
            <a:r>
              <a:t>Today you find out how often that happens — on your own system, with your own eyes.</a:t>
            </a:r>
          </a:p>
          <a:p/>
          <a:p>
            <a:r>
              <a:t>This is the session I care most about. Everything else in this course is useful. This is the</a:t>
            </a:r>
          </a:p>
          <a:p>
            <a:r>
              <a:t>part that makes you professionally different from someone who has simply used these tools a</a:t>
            </a:r>
          </a:p>
          <a:p>
            <a:r>
              <a:t>lot. Because anyone can use them. Almost nobody tests them.</a:t>
            </a:r>
          </a:p>
          <a:p/>
          <a:p>
            <a:r>
              <a:t>And I want to warn you: today is slightly uncomfortable. You are going to build ten questions</a:t>
            </a:r>
          </a:p>
          <a:p>
            <a:r>
              <a:t>designed to break something you made an hour ago, three of which your documents cannot</a:t>
            </a:r>
          </a:p>
          <a:p>
            <a:r>
              <a:t>possibly answer. And it will answer them anyway. Confidently. With a citation, sometimes.</a:t>
            </a:r>
          </a:p>
          <a:p/>
          <a:p>
            <a:r>
              <a:t>That's not a failure of your build. It's the mechanism from week three, and today you'll watch</a:t>
            </a:r>
          </a:p>
          <a:p>
            <a:r>
              <a:t>it happen to you rather than hearing me describe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we're going.</a:t>
            </a:r>
          </a:p>
          <a:p/>
          <a:p>
            <a:r>
              <a:t>First, why verification is harder than generation. There's an asymmetry here that gets worse</a:t>
            </a:r>
          </a:p>
          <a:p>
            <a:r>
              <a:t>as the systems improve, and understanding it explains why this skill becomes more valuable</a:t>
            </a:r>
          </a:p>
          <a:p>
            <a:r>
              <a:t>over time rather than less.</a:t>
            </a:r>
          </a:p>
          <a:p/>
          <a:p>
            <a:r>
              <a:t>Then the test set — the actual artifact. Seven questions it should be able to answer, three</a:t>
            </a:r>
          </a:p>
          <a:p>
            <a:r>
              <a:t>it cannot.</a:t>
            </a:r>
          </a:p>
          <a:p/>
          <a:p>
            <a:r>
              <a:t>Then why those three unanswerable questions are the whole exercise. If you take one thing</a:t>
            </a:r>
          </a:p>
          <a:p>
            <a:r>
              <a:t>from today, it's this.</a:t>
            </a:r>
          </a:p>
          <a:p/>
          <a:p>
            <a:r>
              <a:t>Then how to write a question that actually tests something, because most questions people</a:t>
            </a:r>
          </a:p>
          <a:p>
            <a:r>
              <a:t>write don't.</a:t>
            </a:r>
          </a:p>
          <a:p/>
          <a:p>
            <a:r>
              <a:t>Then why asking twice isn't checking — a trap almost everyone falls into.</a:t>
            </a:r>
          </a:p>
          <a:p/>
          <a:p>
            <a:r>
              <a:t>Then you build one and run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Why this is hard.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asymmetry.</a:t>
            </a:r>
          </a:p>
          <a:p/>
          <a:p>
            <a:r>
              <a:t>It takes seconds to generate an answer and much longer to check one.</a:t>
            </a:r>
          </a:p>
          <a:p/>
          <a:p>
            <a:r>
              <a:t>Ask for a summary of a forty-page report: five seconds. Verify that the summary is accurate</a:t>
            </a:r>
          </a:p>
          <a:p>
            <a:r>
              <a:t>and complete: you read the forty pages. The tool has saved you nothing if you check properly,</a:t>
            </a:r>
          </a:p>
          <a:p>
            <a:r>
              <a:t>and has saved you a great deal if you don't.</a:t>
            </a:r>
          </a:p>
          <a:p/>
          <a:p>
            <a:r>
              <a:t>Almost everyone, almost always, doesn't.</a:t>
            </a:r>
          </a:p>
          <a:p/>
          <a:p>
            <a:r>
              <a:t>Now the second line, which is the part people miss. This gap widens as output gets better.</a:t>
            </a:r>
          </a:p>
          <a:p/>
          <a:p>
            <a:r>
              <a:t>When output is obviously bad, checking is fast — you spot the nonsense and discard it. As</a:t>
            </a:r>
          </a:p>
          <a:p>
            <a:r>
              <a:t>quality rises, errors get rarer and subtler, so you have to look harder to find them, and</a:t>
            </a:r>
          </a:p>
          <a:p>
            <a:r>
              <a:t>you're less motivated to look because the last twenty answers were fine.</a:t>
            </a:r>
          </a:p>
          <a:p/>
          <a:p>
            <a:r>
              <a:t>So: better models make verification harder, not easier. That's counterintuitive and it's why</a:t>
            </a:r>
          </a:p>
          <a:p>
            <a:r>
              <a:t>this skill appreciates rather than depreciating.</a:t>
            </a:r>
          </a:p>
          <a:p/>
          <a:p>
            <a:r>
              <a:t>The response isn't to check everything, which is impossible. It's to test the system once,</a:t>
            </a:r>
          </a:p>
          <a:p>
            <a:r>
              <a:t>properly, so you know what kind of thing it gets wrong. That's what a test set is for.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strategy, and it's different from what people expect.</a:t>
            </a:r>
          </a:p>
          <a:p/>
          <a:p>
            <a:r>
              <a:t>You build something once. Then you test it deliberately — ten questions where you already know</a:t>
            </a:r>
          </a:p>
          <a:p>
            <a:r>
              <a:t>the right answer, including questions about things it cannot possibly know.</a:t>
            </a:r>
          </a:p>
          <a:p/>
          <a:p>
            <a:r>
              <a:t>From that, you learn its shape. Not "did it fail today" but *how* it fails. Does it invent</a:t>
            </a:r>
          </a:p>
          <a:p>
            <a:r>
              <a:t>citations? Does it over-read? Does it quietly answer from memory when the documents run out?</a:t>
            </a:r>
          </a:p>
          <a:p/>
          <a:p>
            <a:r>
              <a:t>And then you use it accordingly. You know which categories of answer to trust and which to</a:t>
            </a:r>
          </a:p>
          <a:p>
            <a:r>
              <a:t>check every time.</a:t>
            </a:r>
          </a:p>
          <a:p/>
          <a:p>
            <a:r>
              <a:t>Read the caption, because this is the realistic position. You cannot verify every answer</a:t>
            </a:r>
          </a:p>
          <a:p>
            <a:r>
              <a:t>forever — nobody has that discipline and nobody has that time. What you can do is characterise</a:t>
            </a:r>
          </a:p>
          <a:p>
            <a:r>
              <a:t>the system once and then use it knowingly.</a:t>
            </a:r>
          </a:p>
          <a:p/>
          <a:p>
            <a:r>
              <a:t>That's the difference between a professional and an enthusiast. Not that the professional</a:t>
            </a:r>
          </a:p>
          <a:p>
            <a:r>
              <a:t>checks more. That the professional knows what to check.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The artifact.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questions. Seven plus three.</a:t>
            </a:r>
          </a:p>
          <a:p/>
          <a:p>
            <a:r>
              <a:t>The seven your sources genuinely answer, graded by difficulty.</a:t>
            </a:r>
          </a:p>
          <a:p/>
          <a:p>
            <a:r>
              <a:t>Two easy — the answer is stated plainly in one place. These check the basic machinery works.</a:t>
            </a:r>
          </a:p>
          <a:p/>
          <a:p>
            <a:r>
              <a:t>Three medium — the answer requires combining two parts of a document. Remember from last week</a:t>
            </a:r>
          </a:p>
          <a:p>
            <a:r>
              <a:t>that retrieval pulls passages, not whole documents, so this is where things start to strain.</a:t>
            </a:r>
          </a:p>
          <a:p/>
          <a:p>
            <a:r>
              <a:t>Two hard — the answer is stated in unusual wording, or lives in a table, or is phrased as an</a:t>
            </a:r>
          </a:p>
          <a:p>
            <a:r>
              <a:t>exception. Exceptions are particularly good tests, because a system that retrieves the general</a:t>
            </a:r>
          </a:p>
          <a:p>
            <a:r>
              <a:t>rule and misses the exception gives you a confident answer that's wrong in exactly the cases</a:t>
            </a:r>
          </a:p>
          <a:p>
            <a:r>
              <a:t>that matter.</a:t>
            </a:r>
          </a:p>
          <a:p/>
          <a:p>
            <a:r>
              <a:t>Then three your sources cannot answer. Plausible questions somebody would genuinely ask, about</a:t>
            </a:r>
          </a:p>
          <a:p>
            <a:r>
              <a:t>material that simply isn't in your documents. Not silly questions — plausible ones.</a:t>
            </a:r>
          </a:p>
          <a:p/>
          <a:p>
            <a:r>
              <a:t>The correct response to all three is last week's refusal string. NOT IN SOURCES.</a:t>
            </a:r>
          </a:p>
          <a:p/>
          <a:p>
            <a:r>
              <a:t>Anything else is a finding.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slide from this week, this one.</a:t>
            </a:r>
          </a:p>
          <a:p/>
          <a:p>
            <a:r>
              <a:t>The three unanswerable questions are the entire exercise.</a:t>
            </a:r>
          </a:p>
          <a:p/>
          <a:p>
            <a:r>
              <a:t>Here's why. The seven answerable ones tell you the system works, and it probably does — that's</a:t>
            </a:r>
          </a:p>
          <a:p>
            <a:r>
              <a:t>the boring result and it's what most people stop at. Somebody builds something, tries a few</a:t>
            </a:r>
          </a:p>
          <a:p>
            <a:r>
              <a:t>questions, gets good answers, and concludes it's reliable.</a:t>
            </a:r>
          </a:p>
          <a:p/>
          <a:p>
            <a:r>
              <a:t>But they've only tested the case where things go well.</a:t>
            </a:r>
          </a:p>
          <a:p/>
          <a:p>
            <a:r>
              <a:t>The three unanswerable questions test the case that actually matters: what does this system do</a:t>
            </a:r>
          </a:p>
          <a:p>
            <a:r>
              <a:t>when it doesn't know? Because in real use, you will ask questions your sources don't cover.</a:t>
            </a:r>
          </a:p>
          <a:p>
            <a:r>
              <a:t>That is guaranteed. You won't know you're doing it — that's the whole problem — but you will do</a:t>
            </a:r>
          </a:p>
          <a:p>
            <a:r>
              <a:t>it.</a:t>
            </a:r>
          </a:p>
          <a:p/>
          <a:p>
            <a:r>
              <a:t>And the behaviour in that situation is the single most important property of the system. Does</a:t>
            </a:r>
          </a:p>
          <a:p>
            <a:r>
              <a:t>it refuse cleanly? Does it hedge and then answer anyway? Does it invent a citation?</a:t>
            </a:r>
          </a:p>
          <a:p/>
          <a:p>
            <a:r>
              <a:t>You cannot discover that by using it normally, because when you use it normally you don't know</a:t>
            </a:r>
          </a:p>
          <a:p>
            <a:r>
              <a:t>which questions are unanswerable. You only find out by constructing the situation deliberately.</a:t>
            </a:r>
          </a:p>
          <a:p/>
          <a:p>
            <a:r>
              <a:t>That's what today 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for writing questions that actually test something.</a:t>
            </a:r>
          </a:p>
          <a:p/>
          <a:p>
            <a:r>
              <a:t>Specific enough to be wrong. "What does the guideline say about dosing?" cannot be graded —</a:t>
            </a:r>
          </a:p>
          <a:p>
            <a:r>
              <a:t>almost any answer is arguably responsive. "What is the maximum daily dose it states for</a:t>
            </a:r>
          </a:p>
          <a:p>
            <a:r>
              <a:t>adults?" has one right answer, so you can tell whether you got it. If you can't imagine</a:t>
            </a:r>
          </a:p>
          <a:p>
            <a:r>
              <a:t>marking it wrong, it isn't a test question.</a:t>
            </a:r>
          </a:p>
          <a:p/>
          <a:p>
            <a:r>
              <a:t>You already know the answer. If you have to go and look it up afterwards in order to grade it,</a:t>
            </a:r>
          </a:p>
          <a:p>
            <a:r>
              <a:t>you won't grade it. You'll skim the answer, think "sounds right," and move on. So write</a:t>
            </a:r>
          </a:p>
          <a:p>
            <a:r>
              <a:t>questions from material you've actually read, and write the expected answer down *before* you</a:t>
            </a:r>
          </a:p>
          <a:p>
            <a:r>
              <a:t>run it. That order matters — writing it afterwards lets you unconsciously accept whatever you</a:t>
            </a:r>
          </a:p>
          <a:p>
            <a:r>
              <a:t>got.</a:t>
            </a:r>
          </a:p>
          <a:p/>
          <a:p>
            <a:r>
              <a:t>And the unanswerable ones must be plausible. This is the one people get wrong. Don't ask your</a:t>
            </a:r>
          </a:p>
          <a:p>
            <a:r>
              <a:t>clinical guideline about football. Ask it something a colleague would genuinely ask that your</a:t>
            </a:r>
          </a:p>
          <a:p>
            <a:r>
              <a:t>documents happen not to cover — an adjacent topic, a different jurisdiction, a later year, a</a:t>
            </a:r>
          </a:p>
          <a:p>
            <a:r>
              <a:t>related condition. That's the realistic case, and it's where the system actually fails.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grades. Keep it this simple, because a complicated rubric doesn't get used.</a:t>
            </a:r>
          </a:p>
          <a:p/>
          <a:p>
            <a:r>
              <a:t>CORRECT — right answer, and the quotation genuinely supports it. Both halves required.</a:t>
            </a:r>
          </a:p>
          <a:p/>
          <a:p>
            <a:r>
              <a:t>UNSUPPORTED — plausible answer, but no quotation, or a quotation that doesn't actually support</a:t>
            </a:r>
          </a:p>
          <a:p>
            <a:r>
              <a:t>the claim. Note that an answer can be *true* and still graded UNSUPPORTED, because you're</a:t>
            </a:r>
          </a:p>
          <a:p>
            <a:r>
              <a:t>testing the system's process, not its luck.</a:t>
            </a:r>
          </a:p>
          <a:p/>
          <a:p>
            <a:r>
              <a:t>WRONG — the answer contradicts the source.</a:t>
            </a:r>
          </a:p>
          <a:p/>
          <a:p>
            <a:r>
              <a:t>REFUSED — said NOT IN SOURCES.</a:t>
            </a:r>
          </a:p>
          <a:p/>
          <a:p>
            <a:r>
              <a:t>Now the bold part: read the pattern, not the score. Nobody cares that you got seven out of ten.</a:t>
            </a:r>
          </a:p>
          <a:p>
            <a:r>
              <a:t>What matters is *which* ones and *how*.</a:t>
            </a:r>
          </a:p>
          <a:p/>
          <a:p>
            <a:r>
              <a:t>REFUSED on all three unanswerable questions is the result you want. That's a well-behaved</a:t>
            </a:r>
          </a:p>
          <a:p>
            <a:r>
              <a:t>system and you can use it with reasonable confidence.</a:t>
            </a:r>
          </a:p>
          <a:p/>
          <a:p>
            <a:r>
              <a:t>UNSUPPORTED on any of the three unanswerable questions is your headline finding. Write it down</a:t>
            </a:r>
          </a:p>
          <a:p>
            <a:r>
              <a:t>in words: "when it doesn't know, it answers anyway." That single sentence should change how</a:t>
            </a:r>
          </a:p>
          <a:p>
            <a:r>
              <a:t>you use the system permanently.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informal verification method, and it doesn't work.</a:t>
            </a:r>
          </a:p>
          <a:p/>
          <a:p>
            <a:r>
              <a:t>The pattern: you get an answer, you feel unsure, you ask again, you get something similar, and</a:t>
            </a:r>
          </a:p>
          <a:p>
            <a:r>
              <a:t>you feel reassured. Everyone does this. It feels like checking.</a:t>
            </a:r>
          </a:p>
          <a:p/>
          <a:p>
            <a:r>
              <a:t>What consistency actually measures is how strongly a pattern is represented in the training</a:t>
            </a:r>
          </a:p>
          <a:p>
            <a:r>
              <a:t>data. Not whether it's true. And the crucial consequence: a widely repeated error is reproduced</a:t>
            </a:r>
          </a:p>
          <a:p>
            <a:r>
              <a:t>very consistently indeed. Common misconceptions are, by definition, common in text. So the</a:t>
            </a:r>
          </a:p>
          <a:p>
            <a:r>
              <a:t>things you're most likely to get wrong are the things that will come back most consistently.</a:t>
            </a:r>
          </a:p>
          <a:p/>
          <a:p>
            <a:r>
              <a:t>Consistency is, if anything, weak evidence in the wrong direction for exactly the errors that</a:t>
            </a:r>
          </a:p>
          <a:p>
            <a:r>
              <a:t>matter.</a:t>
            </a:r>
          </a:p>
          <a:p/>
          <a:p>
            <a:r>
              <a:t>What does work: check against a source. Check against something you already know. Ask for the</a:t>
            </a:r>
          </a:p>
          <a:p>
            <a:r>
              <a:t>quotation and look it up. All of those compare the answer against something outside the system.</a:t>
            </a:r>
          </a:p>
          <a:p/>
          <a:p>
            <a:r>
              <a:t>Asking a different model is slightly better than asking the same one twice, because the errors</a:t>
            </a:r>
          </a:p>
          <a:p>
            <a:r>
              <a:t>may differ. But they're trained on overlapping material, so a widespread misconception may</a:t>
            </a:r>
          </a:p>
          <a:p>
            <a:r>
              <a:t>appear in both. Better than nothing; not proof.</a:t>
            </a:r>
          </a:p>
          <a:p/>
          <a:p>
            <a:r>
              <a:t>The general principle: verification requires something outside the system. Another opinion from</a:t>
            </a:r>
          </a:p>
          <a:p>
            <a:r>
              <a:t>inside it isn't independent.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Twenty minutes. This one is uncomfortable by design.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minutes. Four steps.</a:t>
            </a:r>
          </a:p>
          <a:p/>
          <a:p>
            <a:r>
              <a:t>One. Seven questions your sources answer — two easy, three medium, two hard. And write the</a:t>
            </a:r>
          </a:p>
          <a:p>
            <a:r>
              <a:t>expected answer next to each one *before* you run anything. I'll keep saying this because it's</a:t>
            </a:r>
          </a:p>
          <a:p>
            <a:r>
              <a:t>the step everyone skips and it's the step that makes the exercise honest.</a:t>
            </a:r>
          </a:p>
          <a:p/>
          <a:p>
            <a:r>
              <a:t>Two. Three plausible questions your sources cannot answer. Adjacent topic, different</a:t>
            </a:r>
          </a:p>
          <a:p>
            <a:r>
              <a:t>jurisdiction, a later year. Realistic, not absurd.</a:t>
            </a:r>
          </a:p>
          <a:p/>
          <a:p>
            <a:r>
              <a:t>Three. Run all ten against your week seven assistant. If you don't have one — if you weren't</a:t>
            </a:r>
          </a:p>
          <a:p>
            <a:r>
              <a:t>here, or it didn't work — use mine, it's on the board with its source pack.</a:t>
            </a:r>
          </a:p>
          <a:p/>
          <a:p>
            <a:r>
              <a:t>Four. Grade each one, and then write a single sentence describing how this system behaves when</a:t>
            </a:r>
          </a:p>
          <a:p>
            <a:r>
              <a:t>it doesn't know.</a:t>
            </a:r>
          </a:p>
          <a:p/>
          <a:p>
            <a:r>
              <a:t>That sentence is what you take away. Not the assistant. Not the score. The sentence.</a:t>
            </a:r>
          </a:p>
          <a:p/>
          <a:p>
            <a:r>
              <a:t>[Circulate. Watch for: unanswerable questions that are too absurd — push them to make them</a:t>
            </a:r>
          </a:p>
          <a:p>
            <a:r>
              <a:t>plausible; and people grading generously. Ask "did you look up that quote?" If nobody is</a:t>
            </a:r>
          </a:p>
          <a:p>
            <a:r>
              <a:t>building, run the provided test set on the provided assistant on screen — the three</a:t>
            </a:r>
          </a:p>
          <a:p>
            <a:r>
              <a:t>unanswerable ones are the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almost always happens — and this holds whether or not you ran it yourself.</a:t>
            </a:r>
          </a:p>
          <a:p/>
          <a:p>
            <a:r>
              <a:t>It answers at least one unanswerable question. Usually with something reasonable-sounding</a:t>
            </a:r>
          </a:p>
          <a:p>
            <a:r>
              <a:t>drawn from general knowledge, sometimes with a hedge attached, occasionally with a citation</a:t>
            </a:r>
          </a:p>
          <a:p>
            <a:r>
              <a:t>that doesn't exist. That is week three's mechanism, on a system you built, in front of you. If</a:t>
            </a:r>
          </a:p>
          <a:p>
            <a:r>
              <a:t>that happened to you in the last twenty minutes, that's the most valuable thing that will</a:t>
            </a:r>
          </a:p>
          <a:p>
            <a:r>
              <a:t>happen to you in this course.</a:t>
            </a:r>
          </a:p>
          <a:p/>
          <a:p>
            <a:r>
              <a:t>The hard questions expose retrieval rather than reasoning. Failures cluster on answers spread</a:t>
            </a:r>
          </a:p>
          <a:p>
            <a:r>
              <a:t>across sections, stated as exceptions, or held in tables. And the diagnosis matters: the model</a:t>
            </a:r>
          </a:p>
          <a:p>
            <a:r>
              <a:t>didn't reason badly. It never saw the right passage. Those need completely different fixes —</a:t>
            </a:r>
          </a:p>
          <a:p>
            <a:r>
              <a:t>one is a prompting problem, the other is a document-structure problem, and you'd waste a lot of</a:t>
            </a:r>
          </a:p>
          <a:p>
            <a:r>
              <a:t>time treating one as the other.</a:t>
            </a:r>
          </a:p>
          <a:p/>
          <a:p>
            <a:r>
              <a:t>And over-reading is the most common wrong answer. The claim is stronger than the sentence</a:t>
            </a:r>
          </a:p>
          <a:p>
            <a:r>
              <a:t>supports. "May" becomes "must." A specific case becomes a general rule.</a:t>
            </a:r>
          </a:p>
          <a:p/>
          <a:p>
            <a:r>
              <a:t>Go back and check yours for that specifically. It's easy to miss because the answer isn't</a:t>
            </a:r>
          </a:p>
          <a:p>
            <a:r>
              <a:t>false, it's overstated.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What's examinable from today, and this week is heavily represented on both exams.</a:t>
            </a:r>
          </a:p>
          <a:p/>
          <a:p>
            <a:r>
              <a:t>The verification gap, including the counterintuitive part: it widens as output quality rises.</a:t>
            </a:r>
          </a:p>
          <a:p>
            <a:r>
              <a:t>Expect to be asked why better models make checking harder.</a:t>
            </a:r>
          </a:p>
          <a:p/>
          <a:p>
            <a:r>
              <a:t>Test set structure. Seven answerable graded by difficulty, three plausible unanswerable ones,</a:t>
            </a:r>
          </a:p>
          <a:p>
            <a:r>
              <a:t>expected answers written before running. I may give you a proposed test set and ask what's</a:t>
            </a:r>
          </a:p>
          <a:p>
            <a:r>
              <a:t>wrong with it — usually the unanswerable questions are absurd rather than plausible, or the</a:t>
            </a:r>
          </a:p>
          <a:p>
            <a:r>
              <a:t>questions are too vague to grade.</a:t>
            </a:r>
          </a:p>
          <a:p/>
          <a:p>
            <a:r>
              <a:t>Why the unanswerable ones matter most: they test behaviour in the situation you cannot detect</a:t>
            </a:r>
          </a:p>
          <a:p>
            <a:r>
              <a:t>during normal use.</a:t>
            </a:r>
          </a:p>
          <a:p/>
          <a:p>
            <a:r>
              <a:t>The four grades, and reading the pattern rather than the score.</a:t>
            </a:r>
          </a:p>
          <a:p/>
          <a:p>
            <a:r>
              <a:t>And consistency is not correctness — with the reason. Repeating a question measures how common</a:t>
            </a:r>
          </a:p>
          <a:p>
            <a:r>
              <a:t>a pattern is. Verification requires something outside the system. That is a near-certain exam</a:t>
            </a:r>
          </a:p>
          <a:p>
            <a:r>
              <a:t>question.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a:t>
            </a:r>
          </a:p>
          <a:p/>
          <a:p>
            <a:r>
              <a:t>Generating is fast, checking is slow, and the gap grows as quality rises. Which is why this</a:t>
            </a:r>
          </a:p>
          <a:p>
            <a:r>
              <a:t>skill matters more over time, not less.</a:t>
            </a:r>
          </a:p>
          <a:p/>
          <a:p>
            <a:r>
              <a:t>Test the system once, deliberately, rather than hoping to catch errors forever. You will not</a:t>
            </a:r>
          </a:p>
          <a:p>
            <a:r>
              <a:t>catch them forever. Nobody does.</a:t>
            </a:r>
          </a:p>
          <a:p/>
          <a:p>
            <a:r>
              <a:t>Three unanswerable questions tell you more than seven answerable ones.</a:t>
            </a:r>
          </a:p>
          <a:p/>
          <a:p>
            <a:r>
              <a:t>Grade the pattern, not the score.</a:t>
            </a:r>
          </a:p>
          <a:p/>
          <a:p>
            <a:r>
              <a:t>And asking twice is not checking. Verification requires something outside the system.</a:t>
            </a:r>
          </a:p>
          <a:p/>
          <a:p>
            <a:r>
              <a:t>Next week: agents and workflow automation. Today you tested a system where you saw every</a:t>
            </a:r>
          </a:p>
          <a:p>
            <a:r>
              <a:t>answer. Next week we build something that runs several steps without you watching — and every</a:t>
            </a:r>
          </a:p>
          <a:p>
            <a:r>
              <a:t>problem from today gets multiplied, because now the errors happen where nobody is looking.</a:t>
            </a:r>
          </a:p>
          <a:p/>
          <a:p>
            <a:r>
              <a:t>If today made you slightly uncomfortable, next week is designed to make that productive.</a:t>
            </a:r>
          </a:p>
          <a:p/>
          <a:p>
            <a:r>
              <a:t>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questions here.</a:t>
            </a:r>
          </a:p>
          <a:p/>
          <a:p>
            <a:r>
              <a:t>Common ones:</a:t>
            </a:r>
          </a:p>
          <a:p/>
          <a:p>
            <a:r>
              <a:t>"Ten questions doesn't sound like much." — It isn't statistically. It's not meant to be. It's</a:t>
            </a:r>
          </a:p>
          <a:p>
            <a:r>
              <a:t>enough to characterise the failure shape, which is what you need. Ten questions you actually</a:t>
            </a:r>
          </a:p>
          <a:p>
            <a:r>
              <a:t>run beat a hundred you plan and don't.</a:t>
            </a:r>
          </a:p>
          <a:p/>
          <a:p>
            <a:r>
              <a:t>"What if it passes everything?" — Then your unanswerable questions probably weren't plausible</a:t>
            </a:r>
          </a:p>
          <a:p>
            <a:r>
              <a:t>enough, or too close to something in your documents. Make them harder and try again.</a:t>
            </a:r>
          </a:p>
          <a:p/>
          <a:p>
            <a:r>
              <a:t>"Do I need to redo this when I change something?" — Yes, at least the three unanswerable ones.</a:t>
            </a:r>
          </a:p>
          <a:p>
            <a:r>
              <a:t>That's why ten is the right number — small enough to rerun.</a:t>
            </a:r>
          </a:p>
          <a:p/>
          <a:p>
            <a:r>
              <a:t>"Isn't this what professional evaluation does?" — It's a simplified version of it, and the</a:t>
            </a:r>
          </a:p>
          <a:p>
            <a:r>
              <a:t>professional versions add scale and automation. The logic is the same, and the logic is the</a:t>
            </a:r>
          </a:p>
          <a:p>
            <a:r>
              <a:t>part that transfers.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605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1371600"/>
            <a:ext cx="1051560" cy="50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68680"/>
            <a:ext cx="10637215" cy="411480"/>
          </a:xfrm>
          <a:prstGeom prst="rect">
            <a:avLst/>
          </a:prstGeom>
          <a:noFill/>
        </p:spPr>
        <p:txBody>
          <a:bodyPr wrap="square" lIns="0" rIns="0" tIns="0" bIns="0">
            <a:spAutoFit/>
          </a:bodyPr>
          <a:lstStyle/>
          <a:p>
            <a:r>
              <a:rPr sz="1500" b="1" i="0" spc="220">
                <a:solidFill>
                  <a:srgbClr val="0F766E"/>
                </a:solidFill>
                <a:latin typeface="Calibri"/>
              </a:rPr>
              <a:t>WEEK 8</a:t>
            </a:r>
          </a:p>
        </p:txBody>
      </p:sp>
      <p:sp>
        <p:nvSpPr>
          <p:cNvPr id="5" name="TextBox 4"/>
          <p:cNvSpPr txBox="1"/>
          <p:nvPr/>
        </p:nvSpPr>
        <p:spPr>
          <a:xfrm>
            <a:off x="777240" y="1783080"/>
            <a:ext cx="9692640" cy="1371600"/>
          </a:xfrm>
          <a:prstGeom prst="rect">
            <a:avLst/>
          </a:prstGeom>
          <a:noFill/>
        </p:spPr>
        <p:txBody>
          <a:bodyPr wrap="square" lIns="0" rIns="0" tIns="0" bIns="0">
            <a:spAutoFit/>
          </a:bodyPr>
          <a:lstStyle/>
          <a:p>
            <a:r>
              <a:rPr sz="4000" b="1" i="0">
                <a:solidFill>
                  <a:srgbClr val="FFFFFF"/>
                </a:solidFill>
                <a:latin typeface="Calibri Light"/>
              </a:rPr>
              <a:t>Verification: Knowing When AI Is Wrong</a:t>
            </a:r>
          </a:p>
        </p:txBody>
      </p:sp>
      <p:sp>
        <p:nvSpPr>
          <p:cNvPr id="6" name="TextBox 5"/>
          <p:cNvSpPr txBox="1"/>
          <p:nvPr/>
        </p:nvSpPr>
        <p:spPr>
          <a:xfrm>
            <a:off x="777240" y="3063240"/>
            <a:ext cx="9692640" cy="548640"/>
          </a:xfrm>
          <a:prstGeom prst="rect">
            <a:avLst/>
          </a:prstGeom>
          <a:noFill/>
        </p:spPr>
        <p:txBody>
          <a:bodyPr wrap="square" lIns="0" rIns="0" tIns="0" bIns="0">
            <a:spAutoFit/>
          </a:bodyPr>
          <a:lstStyle/>
          <a:p>
            <a:r>
              <a:rPr sz="1900" b="0" i="0">
                <a:solidFill>
                  <a:srgbClr val="C3D0DB"/>
                </a:solidFill>
                <a:latin typeface="Calibri"/>
              </a:rPr>
              <a:t>Artifact: the Test Set</a:t>
            </a:r>
          </a:p>
        </p:txBody>
      </p:sp>
      <p:sp>
        <p:nvSpPr>
          <p:cNvPr id="7" name="TextBox 6"/>
          <p:cNvSpPr txBox="1"/>
          <p:nvPr/>
        </p:nvSpPr>
        <p:spPr>
          <a:xfrm>
            <a:off x="777240" y="4709160"/>
            <a:ext cx="10637215" cy="1280160"/>
          </a:xfrm>
          <a:prstGeom prst="rect">
            <a:avLst/>
          </a:prstGeom>
          <a:noFill/>
        </p:spPr>
        <p:txBody>
          <a:bodyPr wrap="square" lIns="0" rIns="0" tIns="0" bIns="0">
            <a:spAutoFit/>
          </a:bodyPr>
          <a:lstStyle/>
          <a:p>
            <a:pPr>
              <a:spcAft>
                <a:spcPts val="400"/>
              </a:spcAft>
            </a:pPr>
            <a:r>
              <a:rPr sz="1600" b="1" i="0">
                <a:solidFill>
                  <a:srgbClr val="1F2937"/>
                </a:solidFill>
                <a:latin typeface="Calibri"/>
              </a:rPr>
              <a:t>Prompt Engineering and Large Language Models</a:t>
            </a:r>
          </a:p>
          <a:p>
            <a:pPr>
              <a:spcAft>
                <a:spcPts val="400"/>
              </a:spcAft>
            </a:pPr>
            <a:r>
              <a:rPr sz="1500" b="0" i="0">
                <a:solidFill>
                  <a:srgbClr val="6B7787"/>
                </a:solidFill>
                <a:latin typeface="Calibri"/>
              </a:rPr>
              <a:t>Mehmet Ali Akyol, PhD</a:t>
            </a:r>
          </a:p>
          <a:p>
            <a:pPr>
              <a:spcAft>
                <a:spcPts val="400"/>
              </a:spcAft>
            </a:pPr>
            <a:r>
              <a:rPr sz="1500" b="0" i="0">
                <a:solidFill>
                  <a:srgbClr val="6B7787"/>
                </a:solidFill>
                <a:latin typeface="Calibri"/>
              </a:rPr>
              <a:t>Ankara Medipol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Today: What We'll Explore</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637215" cy="4343400"/>
          </a:xfrm>
          <a:prstGeom prst="rect">
            <a:avLst/>
          </a:prstGeom>
          <a:noFill/>
        </p:spPr>
        <p:txBody>
          <a:bodyPr wrap="square" lIns="0" rIns="0" tIns="0" bIns="0">
            <a:spAutoFit/>
          </a:bodyPr>
          <a:lstStyle/>
          <a:p>
            <a:pPr>
              <a:lnSpc>
                <a:spcPct val="115000"/>
              </a:lnSpc>
              <a:spcAft>
                <a:spcPts val="1000"/>
              </a:spcAft>
            </a:pPr>
            <a:r>
              <a:rPr sz="1900" b="0" i="0">
                <a:solidFill>
                  <a:srgbClr val="1F2937"/>
                </a:solidFill>
                <a:latin typeface="Calibri"/>
              </a:rPr>
              <a:t>•  Why verification is harder than generation — and why that gap keeps growing</a:t>
            </a:r>
          </a:p>
          <a:p>
            <a:pPr>
              <a:lnSpc>
                <a:spcPct val="115000"/>
              </a:lnSpc>
              <a:spcAft>
                <a:spcPts val="1000"/>
              </a:spcAft>
            </a:pPr>
            <a:r>
              <a:rPr sz="1900" b="0" i="0">
                <a:solidFill>
                  <a:srgbClr val="1F2937"/>
                </a:solidFill>
                <a:latin typeface="Calibri"/>
              </a:rPr>
              <a:t>•  The test set: seven questions it should answer, three it cannot</a:t>
            </a:r>
          </a:p>
          <a:p>
            <a:pPr>
              <a:lnSpc>
                <a:spcPct val="115000"/>
              </a:lnSpc>
              <a:spcAft>
                <a:spcPts val="1000"/>
              </a:spcAft>
            </a:pPr>
            <a:r>
              <a:rPr sz="1900" b="1" i="0">
                <a:solidFill>
                  <a:srgbClr val="1F2937"/>
                </a:solidFill>
                <a:latin typeface="Calibri"/>
              </a:rPr>
              <a:t>•  Why the three unanswerable questions are the whole exercise</a:t>
            </a:r>
          </a:p>
          <a:p>
            <a:pPr>
              <a:lnSpc>
                <a:spcPct val="115000"/>
              </a:lnSpc>
              <a:spcAft>
                <a:spcPts val="1000"/>
              </a:spcAft>
            </a:pPr>
            <a:r>
              <a:rPr sz="1900" b="0" i="0">
                <a:solidFill>
                  <a:srgbClr val="1F2937"/>
                </a:solidFill>
                <a:latin typeface="Calibri"/>
              </a:rPr>
              <a:t>•  Writing a question that actually tests something</a:t>
            </a:r>
          </a:p>
          <a:p>
            <a:pPr>
              <a:lnSpc>
                <a:spcPct val="115000"/>
              </a:lnSpc>
              <a:spcAft>
                <a:spcPts val="1000"/>
              </a:spcAft>
            </a:pPr>
            <a:r>
              <a:rPr sz="1900" b="0" i="0">
                <a:solidFill>
                  <a:srgbClr val="1F2937"/>
                </a:solidFill>
                <a:latin typeface="Calibri"/>
              </a:rPr>
              <a:t>•  Why asking twice is not checking</a:t>
            </a:r>
          </a:p>
          <a:p>
            <a:pPr>
              <a:lnSpc>
                <a:spcPct val="115000"/>
              </a:lnSpc>
              <a:spcAft>
                <a:spcPts val="1000"/>
              </a:spcAft>
            </a:pPr>
            <a:r>
              <a:rPr sz="1900" b="0" i="0">
                <a:solidFill>
                  <a:srgbClr val="1F2937"/>
                </a:solidFill>
                <a:latin typeface="Calibri"/>
              </a:rPr>
              <a:t>•  Build: your own Test Set, and run it</a:t>
            </a:r>
          </a:p>
        </p:txBody>
      </p:sp>
      <p:sp>
        <p:nvSpPr>
          <p:cNvPr id="5" name="TextBox 4"/>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8  ·  Prompt Engineering and Large Language Models</a:t>
            </a:r>
          </a:p>
        </p:txBody>
      </p:sp>
      <p:sp>
        <p:nvSpPr>
          <p:cNvPr id="6" name="TextBox 5"/>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2743200"/>
            <a:ext cx="10058400" cy="457200"/>
          </a:xfrm>
          <a:prstGeom prst="rect">
            <a:avLst/>
          </a:prstGeom>
          <a:noFill/>
        </p:spPr>
        <p:txBody>
          <a:bodyPr wrap="square" lIns="0" rIns="0" tIns="0" bIns="0">
            <a:spAutoFit/>
          </a:bodyPr>
          <a:lstStyle/>
          <a:p>
            <a:r>
              <a:rPr sz="1400" b="1" i="0">
                <a:solidFill>
                  <a:srgbClr val="0F766E"/>
                </a:solidFill>
                <a:latin typeface="Calibri"/>
              </a:rPr>
              <a:t>PART 1</a:t>
            </a:r>
          </a:p>
        </p:txBody>
      </p:sp>
      <p:sp>
        <p:nvSpPr>
          <p:cNvPr id="4" name="TextBox 3"/>
          <p:cNvSpPr txBox="1"/>
          <p:nvPr/>
        </p:nvSpPr>
        <p:spPr>
          <a:xfrm>
            <a:off x="1280160" y="3200400"/>
            <a:ext cx="10058400" cy="1097280"/>
          </a:xfrm>
          <a:prstGeom prst="rect">
            <a:avLst/>
          </a:prstGeom>
          <a:noFill/>
        </p:spPr>
        <p:txBody>
          <a:bodyPr wrap="square" lIns="0" rIns="0" tIns="0" bIns="0">
            <a:spAutoFit/>
          </a:bodyPr>
          <a:lstStyle/>
          <a:p>
            <a:r>
              <a:rPr sz="3400" b="1" i="0">
                <a:solidFill>
                  <a:srgbClr val="1F2937"/>
                </a:solidFill>
                <a:latin typeface="Calibri Light"/>
              </a:rPr>
              <a:t>The Verification Gap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331720"/>
            <a:ext cx="1051560" cy="50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697480"/>
            <a:ext cx="10241280" cy="1828800"/>
          </a:xfrm>
          <a:prstGeom prst="rect">
            <a:avLst/>
          </a:prstGeom>
          <a:noFill/>
        </p:spPr>
        <p:txBody>
          <a:bodyPr wrap="square" lIns="0" rIns="0" tIns="0" bIns="0">
            <a:spAutoFit/>
          </a:bodyPr>
          <a:lstStyle/>
          <a:p>
            <a:r>
              <a:rPr sz="3200" b="1" i="0">
                <a:solidFill>
                  <a:srgbClr val="1F2937"/>
                </a:solidFill>
                <a:latin typeface="Calibri Light"/>
              </a:rPr>
              <a:t>It takes seconds to generate an answer and much longer to check one.</a:t>
            </a:r>
          </a:p>
        </p:txBody>
      </p:sp>
      <p:sp>
        <p:nvSpPr>
          <p:cNvPr id="5" name="TextBox 4"/>
          <p:cNvSpPr txBox="1"/>
          <p:nvPr/>
        </p:nvSpPr>
        <p:spPr>
          <a:xfrm>
            <a:off x="777240" y="4434840"/>
            <a:ext cx="10241280" cy="731520"/>
          </a:xfrm>
          <a:prstGeom prst="rect">
            <a:avLst/>
          </a:prstGeom>
          <a:noFill/>
        </p:spPr>
        <p:txBody>
          <a:bodyPr wrap="square" lIns="0" rIns="0" tIns="0" bIns="0">
            <a:spAutoFit/>
          </a:bodyPr>
          <a:lstStyle/>
          <a:p>
            <a:r>
              <a:rPr sz="1800" b="0" i="0">
                <a:solidFill>
                  <a:srgbClr val="333D4B"/>
                </a:solidFill>
                <a:latin typeface="Calibri"/>
              </a:rPr>
              <a:t>That asymmetry is the whole problem — and it widens as the output gets better.</a:t>
            </a:r>
          </a:p>
        </p:txBody>
      </p:sp>
      <p:sp>
        <p:nvSpPr>
          <p:cNvPr id="6" name="TextBox 5"/>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8  ·  Prompt Engineering and Large Language Models</a:t>
            </a:r>
          </a:p>
        </p:txBody>
      </p:sp>
      <p:sp>
        <p:nvSpPr>
          <p:cNvPr id="7" name="TextBox 6"/>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Testing the System, Not the Answer</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2377440"/>
            <a:ext cx="2371267" cy="1874519"/>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1832" y="2560320"/>
            <a:ext cx="2042083" cy="1508759"/>
          </a:xfrm>
          <a:prstGeom prst="rect">
            <a:avLst/>
          </a:prstGeom>
          <a:noFill/>
        </p:spPr>
        <p:txBody>
          <a:bodyPr wrap="square" lIns="0" rIns="0" tIns="0" bIns="0" anchor="ctr">
            <a:spAutoFit/>
          </a:bodyPr>
          <a:lstStyle/>
          <a:p>
            <a:pPr algn="ctr">
              <a:lnSpc>
                <a:spcPct val="105000"/>
              </a:lnSpc>
              <a:spcAft>
                <a:spcPts val="200"/>
              </a:spcAft>
            </a:pPr>
            <a:r>
              <a:rPr sz="1600" b="1" i="0">
                <a:solidFill>
                  <a:srgbClr val="0F766E"/>
                </a:solidFill>
                <a:latin typeface="Calibri"/>
              </a:rPr>
              <a:t>Build once</a:t>
            </a:r>
          </a:p>
          <a:p>
            <a:pPr algn="ctr">
              <a:lnSpc>
                <a:spcPct val="105000"/>
              </a:lnSpc>
              <a:spcAft>
                <a:spcPts val="200"/>
              </a:spcAft>
            </a:pPr>
            <a:r>
              <a:rPr sz="600" b="0" i="0">
                <a:solidFill>
                  <a:srgbClr val="FFFFFF"/>
                </a:solidFill>
                <a:latin typeface="Calibri"/>
              </a:rPr>
              <a:t/>
            </a:r>
          </a:p>
          <a:p>
            <a:pPr algn="ctr">
              <a:lnSpc>
                <a:spcPct val="105000"/>
              </a:lnSpc>
              <a:spcAft>
                <a:spcPts val="200"/>
              </a:spcAft>
            </a:pPr>
            <a:r>
              <a:rPr sz="1300" b="0" i="0">
                <a:solidFill>
                  <a:srgbClr val="333D4B"/>
                </a:solidFill>
                <a:latin typeface="Calibri"/>
              </a:rPr>
              <a:t>You make a grounded assistant, a tool, a workflow.</a:t>
            </a:r>
          </a:p>
        </p:txBody>
      </p:sp>
      <p:sp>
        <p:nvSpPr>
          <p:cNvPr id="6" name="Right Arrow 5"/>
          <p:cNvSpPr/>
          <p:nvPr/>
        </p:nvSpPr>
        <p:spPr>
          <a:xfrm>
            <a:off x="3221659" y="3214115"/>
            <a:ext cx="237744" cy="201168"/>
          </a:xfrm>
          <a:prstGeom prst="rightArrow">
            <a:avLst/>
          </a:prstGeom>
          <a:solidFill>
            <a:srgbClr val="B6C4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532555" y="2377440"/>
            <a:ext cx="2371267" cy="1874519"/>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97147" y="2560320"/>
            <a:ext cx="2042083" cy="1508759"/>
          </a:xfrm>
          <a:prstGeom prst="rect">
            <a:avLst/>
          </a:prstGeom>
          <a:noFill/>
        </p:spPr>
        <p:txBody>
          <a:bodyPr wrap="square" lIns="0" rIns="0" tIns="0" bIns="0" anchor="ctr">
            <a:spAutoFit/>
          </a:bodyPr>
          <a:lstStyle/>
          <a:p>
            <a:pPr algn="ctr">
              <a:lnSpc>
                <a:spcPct val="105000"/>
              </a:lnSpc>
              <a:spcAft>
                <a:spcPts val="200"/>
              </a:spcAft>
            </a:pPr>
            <a:r>
              <a:rPr sz="1600" b="1" i="0">
                <a:solidFill>
                  <a:srgbClr val="0F766E"/>
                </a:solidFill>
                <a:latin typeface="Calibri"/>
              </a:rPr>
              <a:t>Test deliberately</a:t>
            </a:r>
          </a:p>
          <a:p>
            <a:pPr algn="ctr">
              <a:lnSpc>
                <a:spcPct val="105000"/>
              </a:lnSpc>
              <a:spcAft>
                <a:spcPts val="200"/>
              </a:spcAft>
            </a:pPr>
            <a:r>
              <a:rPr sz="600" b="0" i="0">
                <a:solidFill>
                  <a:srgbClr val="FFFFFF"/>
                </a:solidFill>
                <a:latin typeface="Calibri"/>
              </a:rPr>
              <a:t/>
            </a:r>
          </a:p>
          <a:p>
            <a:pPr algn="ctr">
              <a:lnSpc>
                <a:spcPct val="105000"/>
              </a:lnSpc>
              <a:spcAft>
                <a:spcPts val="200"/>
              </a:spcAft>
            </a:pPr>
            <a:r>
              <a:rPr sz="1300" b="0" i="0">
                <a:solidFill>
                  <a:srgbClr val="333D4B"/>
                </a:solidFill>
                <a:latin typeface="Calibri"/>
              </a:rPr>
              <a:t>Ten questions where you already know the right answer — including what it cannot know.</a:t>
            </a:r>
          </a:p>
        </p:txBody>
      </p:sp>
      <p:sp>
        <p:nvSpPr>
          <p:cNvPr id="9" name="Right Arrow 8"/>
          <p:cNvSpPr/>
          <p:nvPr/>
        </p:nvSpPr>
        <p:spPr>
          <a:xfrm>
            <a:off x="5976975" y="3214115"/>
            <a:ext cx="237744" cy="201168"/>
          </a:xfrm>
          <a:prstGeom prst="rightArrow">
            <a:avLst/>
          </a:prstGeom>
          <a:solidFill>
            <a:srgbClr val="B6C4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87871" y="2377440"/>
            <a:ext cx="2371267" cy="1874519"/>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2463" y="2560320"/>
            <a:ext cx="2042083" cy="1508759"/>
          </a:xfrm>
          <a:prstGeom prst="rect">
            <a:avLst/>
          </a:prstGeom>
          <a:noFill/>
        </p:spPr>
        <p:txBody>
          <a:bodyPr wrap="square" lIns="0" rIns="0" tIns="0" bIns="0" anchor="ctr">
            <a:spAutoFit/>
          </a:bodyPr>
          <a:lstStyle/>
          <a:p>
            <a:pPr algn="ctr">
              <a:lnSpc>
                <a:spcPct val="105000"/>
              </a:lnSpc>
              <a:spcAft>
                <a:spcPts val="200"/>
              </a:spcAft>
            </a:pPr>
            <a:r>
              <a:rPr sz="1600" b="1" i="0">
                <a:solidFill>
                  <a:srgbClr val="0F766E"/>
                </a:solidFill>
                <a:latin typeface="Calibri"/>
              </a:rPr>
              <a:t>Learn its shape</a:t>
            </a:r>
          </a:p>
          <a:p>
            <a:pPr algn="ctr">
              <a:lnSpc>
                <a:spcPct val="105000"/>
              </a:lnSpc>
              <a:spcAft>
                <a:spcPts val="200"/>
              </a:spcAft>
            </a:pPr>
            <a:r>
              <a:rPr sz="600" b="0" i="0">
                <a:solidFill>
                  <a:srgbClr val="FFFFFF"/>
                </a:solidFill>
                <a:latin typeface="Calibri"/>
              </a:rPr>
              <a:t/>
            </a:r>
          </a:p>
          <a:p>
            <a:pPr algn="ctr">
              <a:lnSpc>
                <a:spcPct val="105000"/>
              </a:lnSpc>
              <a:spcAft>
                <a:spcPts val="200"/>
              </a:spcAft>
            </a:pPr>
            <a:r>
              <a:rPr sz="1300" b="0" i="0">
                <a:solidFill>
                  <a:srgbClr val="333D4B"/>
                </a:solidFill>
                <a:latin typeface="Calibri"/>
              </a:rPr>
              <a:t>You discover how it fails, not just whether it failed today.</a:t>
            </a:r>
          </a:p>
        </p:txBody>
      </p:sp>
      <p:sp>
        <p:nvSpPr>
          <p:cNvPr id="12" name="Right Arrow 11"/>
          <p:cNvSpPr/>
          <p:nvPr/>
        </p:nvSpPr>
        <p:spPr>
          <a:xfrm>
            <a:off x="8732291" y="3214115"/>
            <a:ext cx="237744" cy="201168"/>
          </a:xfrm>
          <a:prstGeom prst="rightArrow">
            <a:avLst/>
          </a:prstGeom>
          <a:solidFill>
            <a:srgbClr val="B6C4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043187" y="2377440"/>
            <a:ext cx="2371267" cy="1874519"/>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07779" y="2560320"/>
            <a:ext cx="2042083" cy="1508759"/>
          </a:xfrm>
          <a:prstGeom prst="rect">
            <a:avLst/>
          </a:prstGeom>
          <a:noFill/>
        </p:spPr>
        <p:txBody>
          <a:bodyPr wrap="square" lIns="0" rIns="0" tIns="0" bIns="0" anchor="ctr">
            <a:spAutoFit/>
          </a:bodyPr>
          <a:lstStyle/>
          <a:p>
            <a:pPr algn="ctr">
              <a:lnSpc>
                <a:spcPct val="105000"/>
              </a:lnSpc>
              <a:spcAft>
                <a:spcPts val="200"/>
              </a:spcAft>
            </a:pPr>
            <a:r>
              <a:rPr sz="1600" b="1" i="0">
                <a:solidFill>
                  <a:srgbClr val="0F766E"/>
                </a:solidFill>
                <a:latin typeface="Calibri"/>
              </a:rPr>
              <a:t>Use it accordingly</a:t>
            </a:r>
          </a:p>
          <a:p>
            <a:pPr algn="ctr">
              <a:lnSpc>
                <a:spcPct val="105000"/>
              </a:lnSpc>
              <a:spcAft>
                <a:spcPts val="200"/>
              </a:spcAft>
            </a:pPr>
            <a:r>
              <a:rPr sz="600" b="0" i="0">
                <a:solidFill>
                  <a:srgbClr val="FFFFFF"/>
                </a:solidFill>
                <a:latin typeface="Calibri"/>
              </a:rPr>
              <a:t/>
            </a:r>
          </a:p>
          <a:p>
            <a:pPr algn="ctr">
              <a:lnSpc>
                <a:spcPct val="105000"/>
              </a:lnSpc>
              <a:spcAft>
                <a:spcPts val="200"/>
              </a:spcAft>
            </a:pPr>
            <a:r>
              <a:rPr sz="1300" b="0" i="0">
                <a:solidFill>
                  <a:srgbClr val="333D4B"/>
                </a:solidFill>
                <a:latin typeface="Calibri"/>
              </a:rPr>
              <a:t>You now know which answers to trust and which to check.</a:t>
            </a:r>
          </a:p>
        </p:txBody>
      </p:sp>
      <p:sp>
        <p:nvSpPr>
          <p:cNvPr id="15" name="TextBox 14"/>
          <p:cNvSpPr txBox="1"/>
          <p:nvPr/>
        </p:nvSpPr>
        <p:spPr>
          <a:xfrm>
            <a:off x="777240" y="4663439"/>
            <a:ext cx="10637215" cy="457200"/>
          </a:xfrm>
          <a:prstGeom prst="rect">
            <a:avLst/>
          </a:prstGeom>
          <a:noFill/>
        </p:spPr>
        <p:txBody>
          <a:bodyPr wrap="square" lIns="0" rIns="0" tIns="0" bIns="0" anchor="ctr">
            <a:spAutoFit/>
          </a:bodyPr>
          <a:lstStyle/>
          <a:p>
            <a:pPr algn="l">
              <a:lnSpc>
                <a:spcPct val="105000"/>
              </a:lnSpc>
              <a:spcAft>
                <a:spcPts val="200"/>
              </a:spcAft>
            </a:pPr>
            <a:r>
              <a:rPr sz="1500" b="0" i="0">
                <a:solidFill>
                  <a:srgbClr val="6B7787"/>
                </a:solidFill>
                <a:latin typeface="Calibri"/>
              </a:rPr>
              <a:t>You cannot verify every answer forever. You can characterise the system once and use it knowingly.</a:t>
            </a:r>
          </a:p>
        </p:txBody>
      </p:sp>
      <p:sp>
        <p:nvSpPr>
          <p:cNvPr id="16" name="TextBox 15"/>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8  ·  Prompt Engineering and Large Language Models</a:t>
            </a:r>
          </a:p>
        </p:txBody>
      </p:sp>
      <p:sp>
        <p:nvSpPr>
          <p:cNvPr id="17" name="TextBox 16"/>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2743200"/>
            <a:ext cx="10058400" cy="457200"/>
          </a:xfrm>
          <a:prstGeom prst="rect">
            <a:avLst/>
          </a:prstGeom>
          <a:noFill/>
        </p:spPr>
        <p:txBody>
          <a:bodyPr wrap="square" lIns="0" rIns="0" tIns="0" bIns="0">
            <a:spAutoFit/>
          </a:bodyPr>
          <a:lstStyle/>
          <a:p>
            <a:r>
              <a:rPr sz="1400" b="1" i="0">
                <a:solidFill>
                  <a:srgbClr val="0F766E"/>
                </a:solidFill>
                <a:latin typeface="Calibri"/>
              </a:rPr>
              <a:t>PART 2</a:t>
            </a:r>
          </a:p>
        </p:txBody>
      </p:sp>
      <p:sp>
        <p:nvSpPr>
          <p:cNvPr id="4" name="TextBox 3"/>
          <p:cNvSpPr txBox="1"/>
          <p:nvPr/>
        </p:nvSpPr>
        <p:spPr>
          <a:xfrm>
            <a:off x="1280160" y="3200400"/>
            <a:ext cx="10058400" cy="1097280"/>
          </a:xfrm>
          <a:prstGeom prst="rect">
            <a:avLst/>
          </a:prstGeom>
          <a:noFill/>
        </p:spPr>
        <p:txBody>
          <a:bodyPr wrap="square" lIns="0" rIns="0" tIns="0" bIns="0">
            <a:spAutoFit/>
          </a:bodyPr>
          <a:lstStyle/>
          <a:p>
            <a:r>
              <a:rPr sz="3400" b="1" i="0">
                <a:solidFill>
                  <a:srgbClr val="1F2937"/>
                </a:solidFill>
                <a:latin typeface="Calibri Light"/>
              </a:rPr>
              <a:t>The Test Set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Ten Questions: Seven and Three</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637215" cy="4343400"/>
          </a:xfrm>
          <a:prstGeom prst="rect">
            <a:avLst/>
          </a:prstGeom>
          <a:noFill/>
        </p:spPr>
        <p:txBody>
          <a:bodyPr wrap="square" lIns="0" rIns="0" tIns="0" bIns="0">
            <a:spAutoFit/>
          </a:bodyPr>
          <a:lstStyle/>
          <a:p>
            <a:pPr>
              <a:lnSpc>
                <a:spcPct val="115000"/>
              </a:lnSpc>
              <a:spcAft>
                <a:spcPts val="1000"/>
              </a:spcAft>
            </a:pPr>
            <a:r>
              <a:rPr sz="1900" b="1" i="0">
                <a:solidFill>
                  <a:srgbClr val="1F2937"/>
                </a:solidFill>
                <a:latin typeface="Calibri"/>
              </a:rPr>
              <a:t>•  Seven questions your sources genuinely answer.</a:t>
            </a:r>
          </a:p>
          <a:p>
            <a:pPr lvl="1">
              <a:lnSpc>
                <a:spcPct val="115000"/>
              </a:lnSpc>
              <a:spcAft>
                <a:spcPts val="500"/>
              </a:spcAft>
            </a:pPr>
            <a:r>
              <a:rPr sz="1600" b="0" i="0">
                <a:solidFill>
                  <a:srgbClr val="333D4B"/>
                </a:solidFill>
                <a:latin typeface="Calibri"/>
              </a:rPr>
              <a:t>—  Two easy — the answer is stated plainly in one place</a:t>
            </a:r>
          </a:p>
          <a:p>
            <a:pPr lvl="1">
              <a:lnSpc>
                <a:spcPct val="115000"/>
              </a:lnSpc>
              <a:spcAft>
                <a:spcPts val="500"/>
              </a:spcAft>
            </a:pPr>
            <a:r>
              <a:rPr sz="1600" b="0" i="0">
                <a:solidFill>
                  <a:srgbClr val="333D4B"/>
                </a:solidFill>
                <a:latin typeface="Calibri"/>
              </a:rPr>
              <a:t>—  Three medium — the answer requires combining two parts of a document</a:t>
            </a:r>
          </a:p>
          <a:p>
            <a:pPr lvl="1">
              <a:lnSpc>
                <a:spcPct val="115000"/>
              </a:lnSpc>
              <a:spcAft>
                <a:spcPts val="500"/>
              </a:spcAft>
            </a:pPr>
            <a:r>
              <a:rPr sz="1600" b="0" i="0">
                <a:solidFill>
                  <a:srgbClr val="333D4B"/>
                </a:solidFill>
                <a:latin typeface="Calibri"/>
              </a:rPr>
              <a:t>—  Two hard — the answer is stated in unusual wording, or in a table, or as an exception</a:t>
            </a:r>
          </a:p>
          <a:p>
            <a:pPr>
              <a:lnSpc>
                <a:spcPct val="115000"/>
              </a:lnSpc>
              <a:spcAft>
                <a:spcPts val="1000"/>
              </a:spcAft>
            </a:pPr>
          </a:p>
          <a:p>
            <a:pPr>
              <a:lnSpc>
                <a:spcPct val="115000"/>
              </a:lnSpc>
              <a:spcAft>
                <a:spcPts val="1000"/>
              </a:spcAft>
            </a:pPr>
            <a:r>
              <a:rPr sz="1900" b="1" i="0">
                <a:solidFill>
                  <a:srgbClr val="1F2937"/>
                </a:solidFill>
                <a:latin typeface="Calibri"/>
              </a:rPr>
              <a:t>•  Three questions your sources cannot answer.</a:t>
            </a:r>
          </a:p>
          <a:p>
            <a:pPr lvl="1">
              <a:lnSpc>
                <a:spcPct val="115000"/>
              </a:lnSpc>
              <a:spcAft>
                <a:spcPts val="500"/>
              </a:spcAft>
            </a:pPr>
            <a:r>
              <a:rPr sz="1600" b="0" i="0">
                <a:solidFill>
                  <a:srgbClr val="333D4B"/>
                </a:solidFill>
                <a:latin typeface="Calibri"/>
              </a:rPr>
              <a:t>—  Plausible questions someone would genuinely ask, about material that simply is not there</a:t>
            </a:r>
          </a:p>
          <a:p>
            <a:pPr lvl="1">
              <a:lnSpc>
                <a:spcPct val="115000"/>
              </a:lnSpc>
              <a:spcAft>
                <a:spcPts val="500"/>
              </a:spcAft>
            </a:pPr>
            <a:r>
              <a:rPr sz="1600" b="0" i="0">
                <a:solidFill>
                  <a:srgbClr val="333D4B"/>
                </a:solidFill>
                <a:latin typeface="Calibri"/>
              </a:rPr>
              <a:t>—  The correct response to all three is the refusal string from last week</a:t>
            </a:r>
          </a:p>
        </p:txBody>
      </p:sp>
      <p:sp>
        <p:nvSpPr>
          <p:cNvPr id="5" name="TextBox 4"/>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8  ·  Prompt Engineering and Large Language Models</a:t>
            </a:r>
          </a:p>
        </p:txBody>
      </p:sp>
      <p:sp>
        <p:nvSpPr>
          <p:cNvPr id="6" name="TextBox 5"/>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331720"/>
            <a:ext cx="1051560" cy="50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697480"/>
            <a:ext cx="10241280" cy="1828800"/>
          </a:xfrm>
          <a:prstGeom prst="rect">
            <a:avLst/>
          </a:prstGeom>
          <a:noFill/>
        </p:spPr>
        <p:txBody>
          <a:bodyPr wrap="square" lIns="0" rIns="0" tIns="0" bIns="0">
            <a:spAutoFit/>
          </a:bodyPr>
          <a:lstStyle/>
          <a:p>
            <a:r>
              <a:rPr sz="3200" b="1" i="0">
                <a:solidFill>
                  <a:srgbClr val="1F2937"/>
                </a:solidFill>
                <a:latin typeface="Calibri Light"/>
              </a:rPr>
              <a:t>The three unanswerable questions are the entire exercise.</a:t>
            </a:r>
          </a:p>
        </p:txBody>
      </p:sp>
      <p:sp>
        <p:nvSpPr>
          <p:cNvPr id="5" name="TextBox 4"/>
          <p:cNvSpPr txBox="1"/>
          <p:nvPr/>
        </p:nvSpPr>
        <p:spPr>
          <a:xfrm>
            <a:off x="777240" y="4434840"/>
            <a:ext cx="10241280" cy="731520"/>
          </a:xfrm>
          <a:prstGeom prst="rect">
            <a:avLst/>
          </a:prstGeom>
          <a:noFill/>
        </p:spPr>
        <p:txBody>
          <a:bodyPr wrap="square" lIns="0" rIns="0" tIns="0" bIns="0">
            <a:spAutoFit/>
          </a:bodyPr>
          <a:lstStyle/>
          <a:p>
            <a:r>
              <a:rPr sz="1800" b="0" i="0">
                <a:solidFill>
                  <a:srgbClr val="333D4B"/>
                </a:solidFill>
                <a:latin typeface="Calibri"/>
              </a:rPr>
              <a:t>The other seven tell you it works. These three tell you what it does when it doesn't.</a:t>
            </a:r>
          </a:p>
        </p:txBody>
      </p:sp>
      <p:sp>
        <p:nvSpPr>
          <p:cNvPr id="6" name="TextBox 5"/>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8  ·  Prompt Engineering and Large Language Models</a:t>
            </a:r>
          </a:p>
        </p:txBody>
      </p:sp>
      <p:sp>
        <p:nvSpPr>
          <p:cNvPr id="7" name="TextBox 6"/>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Writing a Question That Tests Something</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2057400"/>
            <a:ext cx="3301898" cy="3200400"/>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78408" y="2331720"/>
            <a:ext cx="64008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560320"/>
            <a:ext cx="2899562" cy="640080"/>
          </a:xfrm>
          <a:prstGeom prst="rect">
            <a:avLst/>
          </a:prstGeom>
          <a:noFill/>
        </p:spPr>
        <p:txBody>
          <a:bodyPr wrap="square" lIns="0" rIns="0" tIns="0" bIns="0" anchor="t">
            <a:spAutoFit/>
          </a:bodyPr>
          <a:lstStyle/>
          <a:p>
            <a:pPr algn="l">
              <a:lnSpc>
                <a:spcPct val="105000"/>
              </a:lnSpc>
              <a:spcAft>
                <a:spcPts val="200"/>
              </a:spcAft>
            </a:pPr>
            <a:r>
              <a:rPr sz="1800" b="1" i="0">
                <a:solidFill>
                  <a:srgbClr val="1F2937"/>
                </a:solidFill>
                <a:latin typeface="Calibri"/>
              </a:rPr>
              <a:t>Specific enough to be wrong</a:t>
            </a:r>
          </a:p>
        </p:txBody>
      </p:sp>
      <p:sp>
        <p:nvSpPr>
          <p:cNvPr id="7" name="TextBox 6"/>
          <p:cNvSpPr txBox="1"/>
          <p:nvPr/>
        </p:nvSpPr>
        <p:spPr>
          <a:xfrm>
            <a:off x="978408" y="3246120"/>
            <a:ext cx="2899562" cy="1737360"/>
          </a:xfrm>
          <a:prstGeom prst="rect">
            <a:avLst/>
          </a:prstGeom>
          <a:noFill/>
        </p:spPr>
        <p:txBody>
          <a:bodyPr wrap="square" lIns="0" rIns="0" tIns="0" bIns="0" anchor="t">
            <a:spAutoFit/>
          </a:bodyPr>
          <a:lstStyle/>
          <a:p>
            <a:pPr algn="l">
              <a:lnSpc>
                <a:spcPct val="105000"/>
              </a:lnSpc>
              <a:spcAft>
                <a:spcPts val="200"/>
              </a:spcAft>
            </a:pPr>
            <a:r>
              <a:rPr sz="1350" b="0" i="0">
                <a:solidFill>
                  <a:srgbClr val="333D4B"/>
                </a:solidFill>
                <a:latin typeface="Calibri"/>
              </a:rPr>
              <a:t>"What does the guideline say about dosing?" cannot be graded. "What is the maximum daily dose it states for adults?" has one right answer, so you can tell whether you got it.</a:t>
            </a:r>
          </a:p>
        </p:txBody>
      </p:sp>
      <p:sp>
        <p:nvSpPr>
          <p:cNvPr id="8" name="Rounded Rectangle 7"/>
          <p:cNvSpPr/>
          <p:nvPr/>
        </p:nvSpPr>
        <p:spPr>
          <a:xfrm>
            <a:off x="4444898" y="2057400"/>
            <a:ext cx="3301898" cy="3200400"/>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646066" y="2331720"/>
            <a:ext cx="64008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6066" y="2560320"/>
            <a:ext cx="2899562" cy="640080"/>
          </a:xfrm>
          <a:prstGeom prst="rect">
            <a:avLst/>
          </a:prstGeom>
          <a:noFill/>
        </p:spPr>
        <p:txBody>
          <a:bodyPr wrap="square" lIns="0" rIns="0" tIns="0" bIns="0" anchor="t">
            <a:spAutoFit/>
          </a:bodyPr>
          <a:lstStyle/>
          <a:p>
            <a:pPr algn="l">
              <a:lnSpc>
                <a:spcPct val="105000"/>
              </a:lnSpc>
              <a:spcAft>
                <a:spcPts val="200"/>
              </a:spcAft>
            </a:pPr>
            <a:r>
              <a:rPr sz="1800" b="1" i="0">
                <a:solidFill>
                  <a:srgbClr val="1F2937"/>
                </a:solidFill>
                <a:latin typeface="Calibri"/>
              </a:rPr>
              <a:t>You already know the answer</a:t>
            </a:r>
          </a:p>
        </p:txBody>
      </p:sp>
      <p:sp>
        <p:nvSpPr>
          <p:cNvPr id="11" name="TextBox 10"/>
          <p:cNvSpPr txBox="1"/>
          <p:nvPr/>
        </p:nvSpPr>
        <p:spPr>
          <a:xfrm>
            <a:off x="4646066" y="3246120"/>
            <a:ext cx="2899562" cy="1737360"/>
          </a:xfrm>
          <a:prstGeom prst="rect">
            <a:avLst/>
          </a:prstGeom>
          <a:noFill/>
        </p:spPr>
        <p:txBody>
          <a:bodyPr wrap="square" lIns="0" rIns="0" tIns="0" bIns="0" anchor="t">
            <a:spAutoFit/>
          </a:bodyPr>
          <a:lstStyle/>
          <a:p>
            <a:pPr algn="l">
              <a:lnSpc>
                <a:spcPct val="105000"/>
              </a:lnSpc>
              <a:spcAft>
                <a:spcPts val="200"/>
              </a:spcAft>
            </a:pPr>
            <a:r>
              <a:rPr sz="1350" b="0" i="0">
                <a:solidFill>
                  <a:srgbClr val="333D4B"/>
                </a:solidFill>
                <a:latin typeface="Calibri"/>
              </a:rPr>
              <a:t>If you have to look it up afterwards to grade it, you will not grade it. Write questions from material you have read. Note the answer before you run it.</a:t>
            </a:r>
          </a:p>
        </p:txBody>
      </p:sp>
      <p:sp>
        <p:nvSpPr>
          <p:cNvPr id="12" name="Rounded Rectangle 11"/>
          <p:cNvSpPr/>
          <p:nvPr/>
        </p:nvSpPr>
        <p:spPr>
          <a:xfrm>
            <a:off x="8112556" y="2057400"/>
            <a:ext cx="3301898" cy="3200400"/>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13724" y="2331720"/>
            <a:ext cx="64008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3724" y="2560320"/>
            <a:ext cx="2899562" cy="640080"/>
          </a:xfrm>
          <a:prstGeom prst="rect">
            <a:avLst/>
          </a:prstGeom>
          <a:noFill/>
        </p:spPr>
        <p:txBody>
          <a:bodyPr wrap="square" lIns="0" rIns="0" tIns="0" bIns="0" anchor="t">
            <a:spAutoFit/>
          </a:bodyPr>
          <a:lstStyle/>
          <a:p>
            <a:pPr algn="l">
              <a:lnSpc>
                <a:spcPct val="105000"/>
              </a:lnSpc>
              <a:spcAft>
                <a:spcPts val="200"/>
              </a:spcAft>
            </a:pPr>
            <a:r>
              <a:rPr sz="1800" b="1" i="0">
                <a:solidFill>
                  <a:srgbClr val="1F2937"/>
                </a:solidFill>
                <a:latin typeface="Calibri"/>
              </a:rPr>
              <a:t>The unanswerable ones must be plausible</a:t>
            </a:r>
          </a:p>
        </p:txBody>
      </p:sp>
      <p:sp>
        <p:nvSpPr>
          <p:cNvPr id="15" name="TextBox 14"/>
          <p:cNvSpPr txBox="1"/>
          <p:nvPr/>
        </p:nvSpPr>
        <p:spPr>
          <a:xfrm>
            <a:off x="8313724" y="3246120"/>
            <a:ext cx="2899562" cy="1737360"/>
          </a:xfrm>
          <a:prstGeom prst="rect">
            <a:avLst/>
          </a:prstGeom>
          <a:noFill/>
        </p:spPr>
        <p:txBody>
          <a:bodyPr wrap="square" lIns="0" rIns="0" tIns="0" bIns="0" anchor="t">
            <a:spAutoFit/>
          </a:bodyPr>
          <a:lstStyle/>
          <a:p>
            <a:pPr algn="l">
              <a:lnSpc>
                <a:spcPct val="105000"/>
              </a:lnSpc>
              <a:spcAft>
                <a:spcPts val="200"/>
              </a:spcAft>
            </a:pPr>
            <a:r>
              <a:rPr sz="1350" b="0" i="0">
                <a:solidFill>
                  <a:srgbClr val="333D4B"/>
                </a:solidFill>
                <a:latin typeface="Calibri"/>
              </a:rPr>
              <a:t>Not absurd. Something a colleague would genuinely ask, that your documents happen not to cover — an adjacent topic, a different jurisdiction, a later year.</a:t>
            </a:r>
          </a:p>
        </p:txBody>
      </p:sp>
      <p:sp>
        <p:nvSpPr>
          <p:cNvPr id="16" name="TextBox 15"/>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8  ·  Prompt Engineering and Large Language Models</a:t>
            </a:r>
          </a:p>
        </p:txBody>
      </p:sp>
      <p:sp>
        <p:nvSpPr>
          <p:cNvPr id="17" name="TextBox 16"/>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Grading What Comes Back</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637215" cy="4343400"/>
          </a:xfrm>
          <a:prstGeom prst="rect">
            <a:avLst/>
          </a:prstGeom>
          <a:noFill/>
        </p:spPr>
        <p:txBody>
          <a:bodyPr wrap="square" lIns="0" rIns="0" tIns="0" bIns="0">
            <a:spAutoFit/>
          </a:bodyPr>
          <a:lstStyle/>
          <a:p>
            <a:pPr>
              <a:lnSpc>
                <a:spcPct val="115000"/>
              </a:lnSpc>
              <a:spcAft>
                <a:spcPts val="1000"/>
              </a:spcAft>
            </a:pPr>
            <a:r>
              <a:rPr sz="1900" b="1" i="0">
                <a:solidFill>
                  <a:srgbClr val="1F2937"/>
                </a:solidFill>
                <a:latin typeface="Calibri"/>
              </a:rPr>
              <a:t>•  For each of the ten, record one of:</a:t>
            </a:r>
          </a:p>
          <a:p>
            <a:pPr lvl="1">
              <a:lnSpc>
                <a:spcPct val="115000"/>
              </a:lnSpc>
              <a:spcAft>
                <a:spcPts val="500"/>
              </a:spcAft>
            </a:pPr>
            <a:r>
              <a:rPr sz="1600" b="0" i="0">
                <a:solidFill>
                  <a:srgbClr val="333D4B"/>
                </a:solidFill>
                <a:latin typeface="Calibri"/>
              </a:rPr>
              <a:t>—  CORRECT — right answer, and the quotation genuinely supports it</a:t>
            </a:r>
          </a:p>
          <a:p>
            <a:pPr lvl="1">
              <a:lnSpc>
                <a:spcPct val="115000"/>
              </a:lnSpc>
              <a:spcAft>
                <a:spcPts val="500"/>
              </a:spcAft>
            </a:pPr>
            <a:r>
              <a:rPr sz="1600" b="0" i="0">
                <a:solidFill>
                  <a:srgbClr val="333D4B"/>
                </a:solidFill>
                <a:latin typeface="Calibri"/>
              </a:rPr>
              <a:t>—  UNSUPPORTED — plausible answer, but no quotation, or a quotation that does not support it</a:t>
            </a:r>
          </a:p>
          <a:p>
            <a:pPr lvl="1">
              <a:lnSpc>
                <a:spcPct val="115000"/>
              </a:lnSpc>
              <a:spcAft>
                <a:spcPts val="500"/>
              </a:spcAft>
            </a:pPr>
            <a:r>
              <a:rPr sz="1600" b="0" i="0">
                <a:solidFill>
                  <a:srgbClr val="333D4B"/>
                </a:solidFill>
                <a:latin typeface="Calibri"/>
              </a:rPr>
              <a:t>—  WRONG — the answer contradicts the source</a:t>
            </a:r>
          </a:p>
          <a:p>
            <a:pPr lvl="1">
              <a:lnSpc>
                <a:spcPct val="115000"/>
              </a:lnSpc>
              <a:spcAft>
                <a:spcPts val="500"/>
              </a:spcAft>
            </a:pPr>
            <a:r>
              <a:rPr sz="1600" b="0" i="0">
                <a:solidFill>
                  <a:srgbClr val="333D4B"/>
                </a:solidFill>
                <a:latin typeface="Calibri"/>
              </a:rPr>
              <a:t>—  REFUSED — said NOT IN SOURCES</a:t>
            </a:r>
          </a:p>
          <a:p>
            <a:pPr>
              <a:lnSpc>
                <a:spcPct val="115000"/>
              </a:lnSpc>
              <a:spcAft>
                <a:spcPts val="1000"/>
              </a:spcAft>
            </a:pPr>
          </a:p>
          <a:p>
            <a:pPr>
              <a:lnSpc>
                <a:spcPct val="115000"/>
              </a:lnSpc>
              <a:spcAft>
                <a:spcPts val="1000"/>
              </a:spcAft>
            </a:pPr>
            <a:r>
              <a:rPr sz="1900" b="1" i="0">
                <a:solidFill>
                  <a:srgbClr val="1F2937"/>
                </a:solidFill>
                <a:latin typeface="Calibri"/>
              </a:rPr>
              <a:t>•  Then read the pattern, not the score:</a:t>
            </a:r>
          </a:p>
          <a:p>
            <a:pPr lvl="1">
              <a:lnSpc>
                <a:spcPct val="115000"/>
              </a:lnSpc>
              <a:spcAft>
                <a:spcPts val="500"/>
              </a:spcAft>
            </a:pPr>
            <a:r>
              <a:rPr sz="1600" b="0" i="0">
                <a:solidFill>
                  <a:srgbClr val="333D4B"/>
                </a:solidFill>
                <a:latin typeface="Calibri"/>
              </a:rPr>
              <a:t>—  REFUSED on all three unanswerable questions is the result you want</a:t>
            </a:r>
          </a:p>
          <a:p>
            <a:pPr lvl="1">
              <a:lnSpc>
                <a:spcPct val="115000"/>
              </a:lnSpc>
              <a:spcAft>
                <a:spcPts val="500"/>
              </a:spcAft>
            </a:pPr>
            <a:r>
              <a:rPr sz="1600" b="0" i="0">
                <a:solidFill>
                  <a:srgbClr val="333D4B"/>
                </a:solidFill>
                <a:latin typeface="Calibri"/>
              </a:rPr>
              <a:t>—  UNSUPPORTED on any of the three is your headline finding — write it down</a:t>
            </a:r>
          </a:p>
        </p:txBody>
      </p:sp>
      <p:sp>
        <p:nvSpPr>
          <p:cNvPr id="5" name="TextBox 4"/>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8  ·  Prompt Engineering and Large Language Models</a:t>
            </a:r>
          </a:p>
        </p:txBody>
      </p:sp>
      <p:sp>
        <p:nvSpPr>
          <p:cNvPr id="6" name="TextBox 5"/>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Why Asking Twice Is Not Checking</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637215" cy="4343400"/>
          </a:xfrm>
          <a:prstGeom prst="rect">
            <a:avLst/>
          </a:prstGeom>
          <a:noFill/>
        </p:spPr>
        <p:txBody>
          <a:bodyPr wrap="square" lIns="0" rIns="0" tIns="0" bIns="0">
            <a:spAutoFit/>
          </a:bodyPr>
          <a:lstStyle/>
          <a:p>
            <a:pPr>
              <a:lnSpc>
                <a:spcPct val="115000"/>
              </a:lnSpc>
              <a:spcAft>
                <a:spcPts val="1000"/>
              </a:spcAft>
            </a:pPr>
            <a:r>
              <a:rPr sz="1900" b="0" i="0">
                <a:solidFill>
                  <a:srgbClr val="1F2937"/>
                </a:solidFill>
                <a:latin typeface="Calibri"/>
              </a:rPr>
              <a:t>•  The most common informal verification method, and it does not work</a:t>
            </a:r>
          </a:p>
          <a:p>
            <a:pPr lvl="1">
              <a:lnSpc>
                <a:spcPct val="115000"/>
              </a:lnSpc>
              <a:spcAft>
                <a:spcPts val="500"/>
              </a:spcAft>
            </a:pPr>
            <a:r>
              <a:rPr sz="1600" b="0" i="0">
                <a:solidFill>
                  <a:srgbClr val="333D4B"/>
                </a:solidFill>
                <a:latin typeface="Calibri"/>
              </a:rPr>
              <a:t>—  You get an answer, feel unsure, ask again, get something similar, feel reassured</a:t>
            </a:r>
          </a:p>
          <a:p>
            <a:pPr>
              <a:lnSpc>
                <a:spcPct val="115000"/>
              </a:lnSpc>
              <a:spcAft>
                <a:spcPts val="1000"/>
              </a:spcAft>
            </a:pPr>
          </a:p>
          <a:p>
            <a:pPr>
              <a:lnSpc>
                <a:spcPct val="115000"/>
              </a:lnSpc>
              <a:spcAft>
                <a:spcPts val="1000"/>
              </a:spcAft>
            </a:pPr>
            <a:r>
              <a:rPr sz="1900" b="1" i="0">
                <a:solidFill>
                  <a:srgbClr val="1F2937"/>
                </a:solidFill>
                <a:latin typeface="Calibri"/>
              </a:rPr>
              <a:t>•  What consistency actually measures:</a:t>
            </a:r>
          </a:p>
          <a:p>
            <a:pPr lvl="1">
              <a:lnSpc>
                <a:spcPct val="115000"/>
              </a:lnSpc>
              <a:spcAft>
                <a:spcPts val="500"/>
              </a:spcAft>
            </a:pPr>
            <a:r>
              <a:rPr sz="1600" b="0" i="0">
                <a:solidFill>
                  <a:srgbClr val="333D4B"/>
                </a:solidFill>
                <a:latin typeface="Calibri"/>
              </a:rPr>
              <a:t>—  How strongly the pattern is represented in the training data — not whether it is true</a:t>
            </a:r>
          </a:p>
          <a:p>
            <a:pPr lvl="1">
              <a:lnSpc>
                <a:spcPct val="115000"/>
              </a:lnSpc>
              <a:spcAft>
                <a:spcPts val="500"/>
              </a:spcAft>
            </a:pPr>
            <a:r>
              <a:rPr sz="1600" b="0" i="0">
                <a:solidFill>
                  <a:srgbClr val="333D4B"/>
                </a:solidFill>
                <a:latin typeface="Calibri"/>
              </a:rPr>
              <a:t>—  A widely repeated error is reproduced very consistently indeed</a:t>
            </a:r>
          </a:p>
          <a:p>
            <a:pPr>
              <a:lnSpc>
                <a:spcPct val="115000"/>
              </a:lnSpc>
              <a:spcAft>
                <a:spcPts val="1000"/>
              </a:spcAft>
            </a:pPr>
          </a:p>
          <a:p>
            <a:pPr>
              <a:lnSpc>
                <a:spcPct val="115000"/>
              </a:lnSpc>
              <a:spcAft>
                <a:spcPts val="1000"/>
              </a:spcAft>
            </a:pPr>
            <a:r>
              <a:rPr sz="1900" b="1" i="0">
                <a:solidFill>
                  <a:srgbClr val="1F2937"/>
                </a:solidFill>
                <a:latin typeface="Calibri"/>
              </a:rPr>
              <a:t>•  What does work:</a:t>
            </a:r>
          </a:p>
          <a:p>
            <a:pPr lvl="1">
              <a:lnSpc>
                <a:spcPct val="115000"/>
              </a:lnSpc>
              <a:spcAft>
                <a:spcPts val="500"/>
              </a:spcAft>
            </a:pPr>
            <a:r>
              <a:rPr sz="1600" b="0" i="0">
                <a:solidFill>
                  <a:srgbClr val="333D4B"/>
                </a:solidFill>
                <a:latin typeface="Calibri"/>
              </a:rPr>
              <a:t>—  Check against a source. Check against something you already know. Ask for the quotation and look it up.</a:t>
            </a:r>
          </a:p>
          <a:p>
            <a:pPr lvl="1">
              <a:lnSpc>
                <a:spcPct val="115000"/>
              </a:lnSpc>
              <a:spcAft>
                <a:spcPts val="500"/>
              </a:spcAft>
            </a:pPr>
            <a:r>
              <a:rPr sz="1600" b="0" i="0">
                <a:solidFill>
                  <a:srgbClr val="333D4B"/>
                </a:solidFill>
                <a:latin typeface="Calibri"/>
              </a:rPr>
              <a:t>—  Asking a different model is slightly better than asking the same one twice — but they may share the same error.</a:t>
            </a:r>
          </a:p>
        </p:txBody>
      </p:sp>
      <p:sp>
        <p:nvSpPr>
          <p:cNvPr id="5" name="TextBox 4"/>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8  ·  Prompt Engineering and Large Language Models</a:t>
            </a:r>
          </a:p>
        </p:txBody>
      </p:sp>
      <p:sp>
        <p:nvSpPr>
          <p:cNvPr id="6" name="TextBox 5"/>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2743200"/>
            <a:ext cx="10058400" cy="457200"/>
          </a:xfrm>
          <a:prstGeom prst="rect">
            <a:avLst/>
          </a:prstGeom>
          <a:noFill/>
        </p:spPr>
        <p:txBody>
          <a:bodyPr wrap="square" lIns="0" rIns="0" tIns="0" bIns="0">
            <a:spAutoFit/>
          </a:bodyPr>
          <a:lstStyle/>
          <a:p>
            <a:r>
              <a:rPr sz="1400" b="1" i="0">
                <a:solidFill>
                  <a:srgbClr val="0F766E"/>
                </a:solidFill>
                <a:latin typeface="Calibri"/>
              </a:rPr>
              <a:t>PART 3</a:t>
            </a:r>
          </a:p>
        </p:txBody>
      </p:sp>
      <p:sp>
        <p:nvSpPr>
          <p:cNvPr id="4" name="TextBox 3"/>
          <p:cNvSpPr txBox="1"/>
          <p:nvPr/>
        </p:nvSpPr>
        <p:spPr>
          <a:xfrm>
            <a:off x="1280160" y="3200400"/>
            <a:ext cx="10058400" cy="1097280"/>
          </a:xfrm>
          <a:prstGeom prst="rect">
            <a:avLst/>
          </a:prstGeom>
          <a:noFill/>
        </p:spPr>
        <p:txBody>
          <a:bodyPr wrap="square" lIns="0" rIns="0" tIns="0" bIns="0">
            <a:spAutoFit/>
          </a:bodyPr>
          <a:lstStyle/>
          <a:p>
            <a:r>
              <a:rPr sz="3400" b="1" i="0">
                <a:solidFill>
                  <a:srgbClr val="1F2937"/>
                </a:solidFill>
                <a:latin typeface="Calibri Light"/>
              </a:rPr>
              <a:t>Build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365760"/>
          </a:xfrm>
          <a:prstGeom prst="rect">
            <a:avLst/>
          </a:prstGeom>
          <a:noFill/>
        </p:spPr>
        <p:txBody>
          <a:bodyPr wrap="square" lIns="0" rIns="0" tIns="0" bIns="0">
            <a:spAutoFit/>
          </a:bodyPr>
          <a:lstStyle/>
          <a:p>
            <a:r>
              <a:rPr sz="1300" b="1" i="0">
                <a:solidFill>
                  <a:srgbClr val="B45309"/>
                </a:solidFill>
                <a:latin typeface="Calibri"/>
              </a:rPr>
              <a:t>IN-CLASS ACTIVITY  ·  20 MINUTES</a:t>
            </a:r>
          </a:p>
        </p:txBody>
      </p:sp>
      <p:sp>
        <p:nvSpPr>
          <p:cNvPr id="3" name="TextBox 2"/>
          <p:cNvSpPr txBox="1"/>
          <p:nvPr/>
        </p:nvSpPr>
        <p:spPr>
          <a:xfrm>
            <a:off x="777240" y="960120"/>
            <a:ext cx="10637215" cy="731520"/>
          </a:xfrm>
          <a:prstGeom prst="rect">
            <a:avLst/>
          </a:prstGeom>
          <a:noFill/>
        </p:spPr>
        <p:txBody>
          <a:bodyPr wrap="square" lIns="0" rIns="0" tIns="0" bIns="0">
            <a:spAutoFit/>
          </a:bodyPr>
          <a:lstStyle/>
          <a:p>
            <a:r>
              <a:rPr sz="3000" b="1" i="0">
                <a:solidFill>
                  <a:srgbClr val="1F2937"/>
                </a:solidFill>
                <a:latin typeface="Calibri Light"/>
              </a:rPr>
              <a:t>Build and Run Your Test Set</a:t>
            </a:r>
          </a:p>
        </p:txBody>
      </p:sp>
      <p:sp>
        <p:nvSpPr>
          <p:cNvPr id="4" name="Rectangle 3"/>
          <p:cNvSpPr/>
          <p:nvPr/>
        </p:nvSpPr>
        <p:spPr>
          <a:xfrm>
            <a:off x="777240" y="1783080"/>
            <a:ext cx="1051560" cy="381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148840"/>
            <a:ext cx="10637215" cy="3931920"/>
          </a:xfrm>
          <a:prstGeom prst="rect">
            <a:avLst/>
          </a:prstGeom>
          <a:noFill/>
        </p:spPr>
        <p:txBody>
          <a:bodyPr wrap="square" lIns="0" rIns="0" tIns="0" bIns="0">
            <a:spAutoFit/>
          </a:bodyPr>
          <a:lstStyle/>
          <a:p>
            <a:pPr>
              <a:lnSpc>
                <a:spcPct val="115000"/>
              </a:lnSpc>
              <a:spcAft>
                <a:spcPts val="1000"/>
              </a:spcAft>
            </a:pPr>
            <a:r>
              <a:rPr sz="1900" b="1" i="0">
                <a:solidFill>
                  <a:srgbClr val="1F2937"/>
                </a:solidFill>
                <a:latin typeface="Calibri"/>
              </a:rPr>
              <a:t>•  1.  Write seven questions your sources answer — two easy, three medium, two hard.</a:t>
            </a:r>
          </a:p>
          <a:p>
            <a:pPr lvl="1">
              <a:lnSpc>
                <a:spcPct val="115000"/>
              </a:lnSpc>
              <a:spcAft>
                <a:spcPts val="500"/>
              </a:spcAft>
            </a:pPr>
            <a:r>
              <a:rPr sz="1600" b="0" i="0">
                <a:solidFill>
                  <a:srgbClr val="333D4B"/>
                </a:solidFill>
                <a:latin typeface="Calibri"/>
              </a:rPr>
              <a:t>—  Write the expected answer next to each one BEFORE you run anything.</a:t>
            </a:r>
          </a:p>
          <a:p>
            <a:pPr>
              <a:lnSpc>
                <a:spcPct val="115000"/>
              </a:lnSpc>
              <a:spcAft>
                <a:spcPts val="1000"/>
              </a:spcAft>
            </a:pPr>
            <a:r>
              <a:rPr sz="1900" b="1" i="0">
                <a:solidFill>
                  <a:srgbClr val="1F2937"/>
                </a:solidFill>
                <a:latin typeface="Calibri"/>
              </a:rPr>
              <a:t>•  2.  Write three plausible questions your sources cannot answer.</a:t>
            </a:r>
          </a:p>
          <a:p>
            <a:pPr lvl="1">
              <a:lnSpc>
                <a:spcPct val="115000"/>
              </a:lnSpc>
              <a:spcAft>
                <a:spcPts val="500"/>
              </a:spcAft>
            </a:pPr>
            <a:r>
              <a:rPr sz="1600" b="0" i="0">
                <a:solidFill>
                  <a:srgbClr val="333D4B"/>
                </a:solidFill>
                <a:latin typeface="Calibri"/>
              </a:rPr>
              <a:t>—  Adjacent topic, different jurisdiction, a later year. Realistic, not absurd.</a:t>
            </a:r>
          </a:p>
          <a:p>
            <a:pPr>
              <a:lnSpc>
                <a:spcPct val="115000"/>
              </a:lnSpc>
              <a:spcAft>
                <a:spcPts val="1000"/>
              </a:spcAft>
            </a:pPr>
            <a:r>
              <a:rPr sz="1900" b="1" i="0">
                <a:solidFill>
                  <a:srgbClr val="1F2937"/>
                </a:solidFill>
                <a:latin typeface="Calibri"/>
              </a:rPr>
              <a:t>•  3.  Run all ten against your Week 7 assistant — or against mine.</a:t>
            </a:r>
          </a:p>
          <a:p>
            <a:pPr>
              <a:lnSpc>
                <a:spcPct val="115000"/>
              </a:lnSpc>
              <a:spcAft>
                <a:spcPts val="1000"/>
              </a:spcAft>
            </a:pPr>
            <a:r>
              <a:rPr sz="1900" b="1" i="0">
                <a:solidFill>
                  <a:srgbClr val="1F2937"/>
                </a:solidFill>
                <a:latin typeface="Calibri"/>
              </a:rPr>
              <a:t>•  4.  Grade each: CORRECT · UNSUPPORTED · WRONG · REFUSED.</a:t>
            </a:r>
          </a:p>
          <a:p>
            <a:pPr lvl="1">
              <a:lnSpc>
                <a:spcPct val="115000"/>
              </a:lnSpc>
              <a:spcAft>
                <a:spcPts val="500"/>
              </a:spcAft>
            </a:pPr>
            <a:r>
              <a:rPr sz="1600" b="0" i="0">
                <a:solidFill>
                  <a:srgbClr val="333D4B"/>
                </a:solidFill>
                <a:latin typeface="Calibri"/>
              </a:rPr>
              <a:t>—  Then write one sentence describing how this system behaves when it does not know.</a:t>
            </a:r>
          </a:p>
        </p:txBody>
      </p:sp>
      <p:sp>
        <p:nvSpPr>
          <p:cNvPr id="6" name="TextBox 5"/>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8  ·  Prompt Engineering and Large Language Models</a:t>
            </a:r>
          </a:p>
        </p:txBody>
      </p:sp>
      <p:sp>
        <p:nvSpPr>
          <p:cNvPr id="7" name="TextBox 6"/>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What Almost Always Happens</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2057400"/>
            <a:ext cx="3301898" cy="3200400"/>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78408" y="2331720"/>
            <a:ext cx="64008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560320"/>
            <a:ext cx="2899562" cy="640080"/>
          </a:xfrm>
          <a:prstGeom prst="rect">
            <a:avLst/>
          </a:prstGeom>
          <a:noFill/>
        </p:spPr>
        <p:txBody>
          <a:bodyPr wrap="square" lIns="0" rIns="0" tIns="0" bIns="0" anchor="t">
            <a:spAutoFit/>
          </a:bodyPr>
          <a:lstStyle/>
          <a:p>
            <a:pPr algn="l">
              <a:lnSpc>
                <a:spcPct val="105000"/>
              </a:lnSpc>
              <a:spcAft>
                <a:spcPts val="200"/>
              </a:spcAft>
            </a:pPr>
            <a:r>
              <a:rPr sz="1800" b="1" i="0">
                <a:solidFill>
                  <a:srgbClr val="1F2937"/>
                </a:solidFill>
                <a:latin typeface="Calibri"/>
              </a:rPr>
              <a:t>It answers at least one unanswerable question</a:t>
            </a:r>
          </a:p>
        </p:txBody>
      </p:sp>
      <p:sp>
        <p:nvSpPr>
          <p:cNvPr id="7" name="TextBox 6"/>
          <p:cNvSpPr txBox="1"/>
          <p:nvPr/>
        </p:nvSpPr>
        <p:spPr>
          <a:xfrm>
            <a:off x="978408" y="3246120"/>
            <a:ext cx="2899562" cy="1737360"/>
          </a:xfrm>
          <a:prstGeom prst="rect">
            <a:avLst/>
          </a:prstGeom>
          <a:noFill/>
        </p:spPr>
        <p:txBody>
          <a:bodyPr wrap="square" lIns="0" rIns="0" tIns="0" bIns="0" anchor="t">
            <a:spAutoFit/>
          </a:bodyPr>
          <a:lstStyle/>
          <a:p>
            <a:pPr algn="l">
              <a:lnSpc>
                <a:spcPct val="105000"/>
              </a:lnSpc>
              <a:spcAft>
                <a:spcPts val="200"/>
              </a:spcAft>
            </a:pPr>
            <a:r>
              <a:rPr sz="1350" b="0" i="0">
                <a:solidFill>
                  <a:srgbClr val="333D4B"/>
                </a:solidFill>
                <a:latin typeface="Calibri"/>
              </a:rPr>
              <a:t>Usually with something reasonable-sounding drawn from general knowledge, sometimes with a hedge attached. This is the mechanism from Week 3, on your own system, in front of you.</a:t>
            </a:r>
          </a:p>
        </p:txBody>
      </p:sp>
      <p:sp>
        <p:nvSpPr>
          <p:cNvPr id="8" name="Rounded Rectangle 7"/>
          <p:cNvSpPr/>
          <p:nvPr/>
        </p:nvSpPr>
        <p:spPr>
          <a:xfrm>
            <a:off x="4444898" y="2057400"/>
            <a:ext cx="3301898" cy="3200400"/>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646066" y="2331720"/>
            <a:ext cx="64008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6066" y="2560320"/>
            <a:ext cx="2899562" cy="640080"/>
          </a:xfrm>
          <a:prstGeom prst="rect">
            <a:avLst/>
          </a:prstGeom>
          <a:noFill/>
        </p:spPr>
        <p:txBody>
          <a:bodyPr wrap="square" lIns="0" rIns="0" tIns="0" bIns="0" anchor="t">
            <a:spAutoFit/>
          </a:bodyPr>
          <a:lstStyle/>
          <a:p>
            <a:pPr algn="l">
              <a:lnSpc>
                <a:spcPct val="105000"/>
              </a:lnSpc>
              <a:spcAft>
                <a:spcPts val="200"/>
              </a:spcAft>
            </a:pPr>
            <a:r>
              <a:rPr sz="1800" b="1" i="0">
                <a:solidFill>
                  <a:srgbClr val="1F2937"/>
                </a:solidFill>
                <a:latin typeface="Calibri"/>
              </a:rPr>
              <a:t>The hard questions expose retrieval, not reasoning</a:t>
            </a:r>
          </a:p>
        </p:txBody>
      </p:sp>
      <p:sp>
        <p:nvSpPr>
          <p:cNvPr id="11" name="TextBox 10"/>
          <p:cNvSpPr txBox="1"/>
          <p:nvPr/>
        </p:nvSpPr>
        <p:spPr>
          <a:xfrm>
            <a:off x="4646066" y="3246120"/>
            <a:ext cx="2899562" cy="1737360"/>
          </a:xfrm>
          <a:prstGeom prst="rect">
            <a:avLst/>
          </a:prstGeom>
          <a:noFill/>
        </p:spPr>
        <p:txBody>
          <a:bodyPr wrap="square" lIns="0" rIns="0" tIns="0" bIns="0" anchor="t">
            <a:spAutoFit/>
          </a:bodyPr>
          <a:lstStyle/>
          <a:p>
            <a:pPr algn="l">
              <a:lnSpc>
                <a:spcPct val="105000"/>
              </a:lnSpc>
              <a:spcAft>
                <a:spcPts val="200"/>
              </a:spcAft>
            </a:pPr>
            <a:r>
              <a:rPr sz="1350" b="0" i="0">
                <a:solidFill>
                  <a:srgbClr val="333D4B"/>
                </a:solidFill>
                <a:latin typeface="Calibri"/>
              </a:rPr>
              <a:t>Failures cluster on answers spread across sections, stated as exceptions, or held in tables. It did not reason badly — it never saw the right passage.</a:t>
            </a:r>
          </a:p>
        </p:txBody>
      </p:sp>
      <p:sp>
        <p:nvSpPr>
          <p:cNvPr id="12" name="Rounded Rectangle 11"/>
          <p:cNvSpPr/>
          <p:nvPr/>
        </p:nvSpPr>
        <p:spPr>
          <a:xfrm>
            <a:off x="8112556" y="2057400"/>
            <a:ext cx="3301898" cy="3200400"/>
          </a:xfrm>
          <a:prstGeom prst="roundRect">
            <a:avLst>
              <a:gd name="adj" fmla="val 10000"/>
            </a:avLst>
          </a:prstGeom>
          <a:solidFill>
            <a:srgbClr val="F1F5F9"/>
          </a:solidFill>
          <a:ln w="15875">
            <a:solidFill>
              <a:srgbClr val="D3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13724" y="2331720"/>
            <a:ext cx="64008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3724" y="2560320"/>
            <a:ext cx="2899562" cy="640080"/>
          </a:xfrm>
          <a:prstGeom prst="rect">
            <a:avLst/>
          </a:prstGeom>
          <a:noFill/>
        </p:spPr>
        <p:txBody>
          <a:bodyPr wrap="square" lIns="0" rIns="0" tIns="0" bIns="0" anchor="t">
            <a:spAutoFit/>
          </a:bodyPr>
          <a:lstStyle/>
          <a:p>
            <a:pPr algn="l">
              <a:lnSpc>
                <a:spcPct val="105000"/>
              </a:lnSpc>
              <a:spcAft>
                <a:spcPts val="200"/>
              </a:spcAft>
            </a:pPr>
            <a:r>
              <a:rPr sz="1800" b="1" i="0">
                <a:solidFill>
                  <a:srgbClr val="1F2937"/>
                </a:solidFill>
                <a:latin typeface="Calibri"/>
              </a:rPr>
              <a:t>Over-reading is the most common wrong answer</a:t>
            </a:r>
          </a:p>
        </p:txBody>
      </p:sp>
      <p:sp>
        <p:nvSpPr>
          <p:cNvPr id="15" name="TextBox 14"/>
          <p:cNvSpPr txBox="1"/>
          <p:nvPr/>
        </p:nvSpPr>
        <p:spPr>
          <a:xfrm>
            <a:off x="8313724" y="3246120"/>
            <a:ext cx="2899562" cy="1737360"/>
          </a:xfrm>
          <a:prstGeom prst="rect">
            <a:avLst/>
          </a:prstGeom>
          <a:noFill/>
        </p:spPr>
        <p:txBody>
          <a:bodyPr wrap="square" lIns="0" rIns="0" tIns="0" bIns="0" anchor="t">
            <a:spAutoFit/>
          </a:bodyPr>
          <a:lstStyle/>
          <a:p>
            <a:pPr algn="l">
              <a:lnSpc>
                <a:spcPct val="105000"/>
              </a:lnSpc>
              <a:spcAft>
                <a:spcPts val="200"/>
              </a:spcAft>
            </a:pPr>
            <a:r>
              <a:rPr sz="1350" b="0" i="0">
                <a:solidFill>
                  <a:srgbClr val="333D4B"/>
                </a:solidFill>
                <a:latin typeface="Calibri"/>
              </a:rPr>
              <a:t>The claim is stronger than the quoted sentence supports. "May" becomes "must"; a specific case becomes a general rule.</a:t>
            </a:r>
          </a:p>
        </p:txBody>
      </p:sp>
      <p:sp>
        <p:nvSpPr>
          <p:cNvPr id="16" name="TextBox 15"/>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8  ·  Prompt Engineering and Large Language Models</a:t>
            </a:r>
          </a:p>
        </p:txBody>
      </p:sp>
      <p:sp>
        <p:nvSpPr>
          <p:cNvPr id="17" name="TextBox 16"/>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Concepts You Must Be Able to Define and Diagnose</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1783080"/>
            <a:ext cx="10637215" cy="42519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103120"/>
            <a:ext cx="9814255" cy="3611880"/>
          </a:xfrm>
          <a:prstGeom prst="rect">
            <a:avLst/>
          </a:prstGeom>
          <a:noFill/>
        </p:spPr>
        <p:txBody>
          <a:bodyPr wrap="square" lIns="0" rIns="0" tIns="0" bIns="0">
            <a:spAutoFit/>
          </a:bodyPr>
          <a:lstStyle/>
          <a:p>
            <a:pPr>
              <a:lnSpc>
                <a:spcPct val="115000"/>
              </a:lnSpc>
              <a:spcAft>
                <a:spcPts val="1000"/>
              </a:spcAft>
            </a:pPr>
            <a:r>
              <a:rPr sz="1900" b="1" i="0">
                <a:solidFill>
                  <a:srgbClr val="1F2937"/>
                </a:solidFill>
                <a:latin typeface="Calibri"/>
              </a:rPr>
              <a:t>•  The verification gap</a:t>
            </a:r>
          </a:p>
          <a:p>
            <a:pPr lvl="1">
              <a:lnSpc>
                <a:spcPct val="115000"/>
              </a:lnSpc>
              <a:spcAft>
                <a:spcPts val="500"/>
              </a:spcAft>
            </a:pPr>
            <a:r>
              <a:rPr sz="1600" b="0" i="0">
                <a:solidFill>
                  <a:srgbClr val="333D4B"/>
                </a:solidFill>
                <a:latin typeface="Calibri"/>
              </a:rPr>
              <a:t>—  Generating is fast, checking is slow, and the gap widens as output quality rises.</a:t>
            </a:r>
          </a:p>
          <a:p>
            <a:pPr>
              <a:lnSpc>
                <a:spcPct val="115000"/>
              </a:lnSpc>
              <a:spcAft>
                <a:spcPts val="1000"/>
              </a:spcAft>
            </a:pPr>
            <a:r>
              <a:rPr sz="1900" b="1" i="0">
                <a:solidFill>
                  <a:srgbClr val="1F2937"/>
                </a:solidFill>
                <a:latin typeface="Calibri"/>
              </a:rPr>
              <a:t>•  Test set structure</a:t>
            </a:r>
          </a:p>
          <a:p>
            <a:pPr lvl="1">
              <a:lnSpc>
                <a:spcPct val="115000"/>
              </a:lnSpc>
              <a:spcAft>
                <a:spcPts val="500"/>
              </a:spcAft>
            </a:pPr>
            <a:r>
              <a:rPr sz="1600" b="0" i="0">
                <a:solidFill>
                  <a:srgbClr val="333D4B"/>
                </a:solidFill>
                <a:latin typeface="Calibri"/>
              </a:rPr>
              <a:t>—  Seven answerable, graded easy/medium/hard, plus three plausible unanswerable ones. Expected answers written before running.</a:t>
            </a:r>
          </a:p>
          <a:p>
            <a:pPr>
              <a:lnSpc>
                <a:spcPct val="115000"/>
              </a:lnSpc>
              <a:spcAft>
                <a:spcPts val="1000"/>
              </a:spcAft>
            </a:pPr>
            <a:r>
              <a:rPr sz="1900" b="1" i="0">
                <a:solidFill>
                  <a:srgbClr val="1F2937"/>
                </a:solidFill>
                <a:latin typeface="Calibri"/>
              </a:rPr>
              <a:t>•  Why the unanswerable questions matter most</a:t>
            </a:r>
          </a:p>
          <a:p>
            <a:pPr lvl="1">
              <a:lnSpc>
                <a:spcPct val="115000"/>
              </a:lnSpc>
              <a:spcAft>
                <a:spcPts val="500"/>
              </a:spcAft>
            </a:pPr>
            <a:r>
              <a:rPr sz="1600" b="0" i="0">
                <a:solidFill>
                  <a:srgbClr val="333D4B"/>
                </a:solidFill>
                <a:latin typeface="Calibri"/>
              </a:rPr>
              <a:t>—  They test behaviour when the system does not know — the situation you cannot detect in normal use.</a:t>
            </a:r>
          </a:p>
          <a:p>
            <a:pPr>
              <a:lnSpc>
                <a:spcPct val="115000"/>
              </a:lnSpc>
              <a:spcAft>
                <a:spcPts val="1000"/>
              </a:spcAft>
            </a:pPr>
            <a:r>
              <a:rPr sz="1900" b="1" i="0">
                <a:solidFill>
                  <a:srgbClr val="1F2937"/>
                </a:solidFill>
                <a:latin typeface="Calibri"/>
              </a:rPr>
              <a:t>•  Grading</a:t>
            </a:r>
          </a:p>
          <a:p>
            <a:pPr lvl="1">
              <a:lnSpc>
                <a:spcPct val="115000"/>
              </a:lnSpc>
              <a:spcAft>
                <a:spcPts val="500"/>
              </a:spcAft>
            </a:pPr>
            <a:r>
              <a:rPr sz="1600" b="0" i="0">
                <a:solidFill>
                  <a:srgbClr val="333D4B"/>
                </a:solidFill>
                <a:latin typeface="Calibri"/>
              </a:rPr>
              <a:t>—  CORRECT · UNSUPPORTED · WRONG · REFUSED. Read the pattern, not the score.</a:t>
            </a:r>
          </a:p>
          <a:p>
            <a:pPr>
              <a:lnSpc>
                <a:spcPct val="115000"/>
              </a:lnSpc>
              <a:spcAft>
                <a:spcPts val="1000"/>
              </a:spcAft>
            </a:pPr>
            <a:r>
              <a:rPr sz="1900" b="1" i="0">
                <a:solidFill>
                  <a:srgbClr val="1F2937"/>
                </a:solidFill>
                <a:latin typeface="Calibri"/>
              </a:rPr>
              <a:t>•  Consistency is not correctness</a:t>
            </a:r>
          </a:p>
          <a:p>
            <a:pPr lvl="1">
              <a:lnSpc>
                <a:spcPct val="115000"/>
              </a:lnSpc>
              <a:spcAft>
                <a:spcPts val="500"/>
              </a:spcAft>
            </a:pPr>
            <a:r>
              <a:rPr sz="1600" b="0" i="0">
                <a:solidFill>
                  <a:srgbClr val="333D4B"/>
                </a:solidFill>
                <a:latin typeface="Calibri"/>
              </a:rPr>
              <a:t>—  Repeating a question measures how common the pattern is, not whether it is true. Verification needs something outside the system.</a:t>
            </a:r>
          </a:p>
        </p:txBody>
      </p:sp>
      <p:sp>
        <p:nvSpPr>
          <p:cNvPr id="6" name="TextBox 5"/>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8  ·  Prompt Engineering and Large Language Models</a:t>
            </a:r>
          </a:p>
        </p:txBody>
      </p:sp>
      <p:sp>
        <p:nvSpPr>
          <p:cNvPr id="7" name="TextBox 6"/>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lIns="0" rIns="0" tIns="0" bIns="0">
            <a:spAutoFit/>
          </a:bodyPr>
          <a:lstStyle/>
          <a:p>
            <a:r>
              <a:rPr sz="3000" b="1" i="0">
                <a:solidFill>
                  <a:srgbClr val="1F2937"/>
                </a:solidFill>
                <a:latin typeface="Calibri Light"/>
              </a:rPr>
              <a:t>Wrap-Up</a:t>
            </a:r>
          </a:p>
        </p:txBody>
      </p:sp>
      <p:sp>
        <p:nvSpPr>
          <p:cNvPr id="3" name="Rectangle 2"/>
          <p:cNvSpPr/>
          <p:nvPr/>
        </p:nvSpPr>
        <p:spPr>
          <a:xfrm>
            <a:off x="777240" y="1417320"/>
            <a:ext cx="105156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10637215" cy="4343400"/>
          </a:xfrm>
          <a:prstGeom prst="rect">
            <a:avLst/>
          </a:prstGeom>
          <a:noFill/>
        </p:spPr>
        <p:txBody>
          <a:bodyPr wrap="square" lIns="0" rIns="0" tIns="0" bIns="0">
            <a:spAutoFit/>
          </a:bodyPr>
          <a:lstStyle/>
          <a:p>
            <a:pPr>
              <a:lnSpc>
                <a:spcPct val="115000"/>
              </a:lnSpc>
              <a:spcAft>
                <a:spcPts val="1000"/>
              </a:spcAft>
            </a:pPr>
            <a:r>
              <a:rPr sz="1900" b="0" i="0">
                <a:solidFill>
                  <a:srgbClr val="1F2937"/>
                </a:solidFill>
                <a:latin typeface="Calibri"/>
              </a:rPr>
              <a:t>•  Generating is fast; checking is slow; the gap grows as quality rises</a:t>
            </a:r>
          </a:p>
          <a:p>
            <a:pPr>
              <a:lnSpc>
                <a:spcPct val="115000"/>
              </a:lnSpc>
              <a:spcAft>
                <a:spcPts val="1000"/>
              </a:spcAft>
            </a:pPr>
            <a:r>
              <a:rPr sz="1900" b="0" i="0">
                <a:solidFill>
                  <a:srgbClr val="1F2937"/>
                </a:solidFill>
                <a:latin typeface="Calibri"/>
              </a:rPr>
              <a:t>•  Test the system once, deliberately, instead of hoping to catch errors forever</a:t>
            </a:r>
          </a:p>
          <a:p>
            <a:pPr>
              <a:lnSpc>
                <a:spcPct val="115000"/>
              </a:lnSpc>
              <a:spcAft>
                <a:spcPts val="1000"/>
              </a:spcAft>
            </a:pPr>
            <a:r>
              <a:rPr sz="1900" b="1" i="0">
                <a:solidFill>
                  <a:srgbClr val="1F2937"/>
                </a:solidFill>
                <a:latin typeface="Calibri"/>
              </a:rPr>
              <a:t>•  Three unanswerable questions tell you more than seven answerable ones</a:t>
            </a:r>
          </a:p>
          <a:p>
            <a:pPr>
              <a:lnSpc>
                <a:spcPct val="115000"/>
              </a:lnSpc>
              <a:spcAft>
                <a:spcPts val="1000"/>
              </a:spcAft>
            </a:pPr>
            <a:r>
              <a:rPr sz="1900" b="0" i="0">
                <a:solidFill>
                  <a:srgbClr val="1F2937"/>
                </a:solidFill>
                <a:latin typeface="Calibri"/>
              </a:rPr>
              <a:t>•  Grade the pattern, not the score</a:t>
            </a:r>
          </a:p>
          <a:p>
            <a:pPr>
              <a:lnSpc>
                <a:spcPct val="115000"/>
              </a:lnSpc>
              <a:spcAft>
                <a:spcPts val="1000"/>
              </a:spcAft>
            </a:pPr>
            <a:r>
              <a:rPr sz="1900" b="0" i="0">
                <a:solidFill>
                  <a:srgbClr val="1F2937"/>
                </a:solidFill>
                <a:latin typeface="Calibri"/>
              </a:rPr>
              <a:t>•  Asking twice is not checking — verification needs something outside the system</a:t>
            </a:r>
          </a:p>
          <a:p>
            <a:pPr>
              <a:lnSpc>
                <a:spcPct val="115000"/>
              </a:lnSpc>
              <a:spcAft>
                <a:spcPts val="1000"/>
              </a:spcAft>
            </a:pPr>
          </a:p>
          <a:p>
            <a:pPr>
              <a:lnSpc>
                <a:spcPct val="115000"/>
              </a:lnSpc>
              <a:spcAft>
                <a:spcPts val="1000"/>
              </a:spcAft>
            </a:pPr>
            <a:r>
              <a:rPr sz="1900" b="1" i="0">
                <a:solidFill>
                  <a:srgbClr val="1F2937"/>
                </a:solidFill>
                <a:latin typeface="Calibri"/>
              </a:rPr>
              <a:t>•  Next week:</a:t>
            </a:r>
          </a:p>
          <a:p>
            <a:pPr lvl="1">
              <a:lnSpc>
                <a:spcPct val="115000"/>
              </a:lnSpc>
              <a:spcAft>
                <a:spcPts val="500"/>
              </a:spcAft>
            </a:pPr>
            <a:r>
              <a:rPr sz="1600" b="0" i="0">
                <a:solidFill>
                  <a:srgbClr val="333D4B"/>
                </a:solidFill>
                <a:latin typeface="Calibri"/>
              </a:rPr>
              <a:t>—  AI Agents and Workflow Automation — what happens when it acts without you watching</a:t>
            </a:r>
          </a:p>
        </p:txBody>
      </p:sp>
      <p:sp>
        <p:nvSpPr>
          <p:cNvPr id="5" name="TextBox 4"/>
          <p:cNvSpPr txBox="1"/>
          <p:nvPr/>
        </p:nvSpPr>
        <p:spPr>
          <a:xfrm>
            <a:off x="777240" y="6355080"/>
            <a:ext cx="10637215" cy="274320"/>
          </a:xfrm>
          <a:prstGeom prst="rect">
            <a:avLst/>
          </a:prstGeom>
          <a:noFill/>
        </p:spPr>
        <p:txBody>
          <a:bodyPr wrap="square" lIns="0" rIns="0" tIns="0" bIns="0">
            <a:spAutoFit/>
          </a:bodyPr>
          <a:lstStyle/>
          <a:p>
            <a:r>
              <a:rPr sz="1000" b="0" i="0">
                <a:solidFill>
                  <a:srgbClr val="6B7787"/>
                </a:solidFill>
                <a:latin typeface="Calibri"/>
              </a:rPr>
              <a:t>Week 8  ·  Prompt Engineering and Large Language Models</a:t>
            </a:r>
          </a:p>
        </p:txBody>
      </p:sp>
      <p:sp>
        <p:nvSpPr>
          <p:cNvPr id="6" name="TextBox 5"/>
          <p:cNvSpPr txBox="1"/>
          <p:nvPr/>
        </p:nvSpPr>
        <p:spPr>
          <a:xfrm>
            <a:off x="10500055" y="6355080"/>
            <a:ext cx="914400" cy="274320"/>
          </a:xfrm>
          <a:prstGeom prst="rect">
            <a:avLst/>
          </a:prstGeom>
          <a:noFill/>
        </p:spPr>
        <p:txBody>
          <a:bodyPr wrap="square" lIns="0" rIns="0" tIns="0" bIns="0">
            <a:spAutoFit/>
          </a:bodyPr>
          <a:lstStyle/>
          <a:p>
            <a:pPr algn="r"/>
            <a:r>
              <a:rPr sz="1000" b="0" i="0">
                <a:solidFill>
                  <a:srgbClr val="6B7787"/>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468880"/>
            <a:ext cx="10241280" cy="914400"/>
          </a:xfrm>
          <a:prstGeom prst="rect">
            <a:avLst/>
          </a:prstGeom>
          <a:noFill/>
        </p:spPr>
        <p:txBody>
          <a:bodyPr wrap="square" lIns="0" rIns="0" tIns="0" bIns="0">
            <a:spAutoFit/>
          </a:bodyPr>
          <a:lstStyle/>
          <a:p>
            <a:r>
              <a:rPr sz="4400" b="1" i="0">
                <a:solidFill>
                  <a:srgbClr val="FFFFFF"/>
                </a:solidFill>
                <a:latin typeface="Calibri Light"/>
              </a:rPr>
              <a:t>Questions?</a:t>
            </a:r>
          </a:p>
        </p:txBody>
      </p:sp>
      <p:sp>
        <p:nvSpPr>
          <p:cNvPr id="4" name="Rectangle 3"/>
          <p:cNvSpPr/>
          <p:nvPr/>
        </p:nvSpPr>
        <p:spPr>
          <a:xfrm>
            <a:off x="777240" y="3566160"/>
            <a:ext cx="1051560" cy="50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931920"/>
            <a:ext cx="10241280" cy="914400"/>
          </a:xfrm>
          <a:prstGeom prst="rect">
            <a:avLst/>
          </a:prstGeom>
          <a:noFill/>
        </p:spPr>
        <p:txBody>
          <a:bodyPr wrap="square" lIns="0" rIns="0" tIns="0" bIns="0">
            <a:spAutoFit/>
          </a:bodyPr>
          <a:lstStyle/>
          <a:p>
            <a:pPr>
              <a:spcAft>
                <a:spcPts val="500"/>
              </a:spcAft>
            </a:pPr>
            <a:r>
              <a:rPr sz="1700" b="0" i="0">
                <a:solidFill>
                  <a:srgbClr val="FFFFFF"/>
                </a:solidFill>
                <a:latin typeface="Calibri"/>
              </a:rPr>
              <a:t>Mehmet Ali Akyol, PhD</a:t>
            </a:r>
          </a:p>
          <a:p>
            <a:pPr>
              <a:spcAft>
                <a:spcPts val="500"/>
              </a:spcAft>
            </a:pPr>
            <a:r>
              <a:rPr sz="1700" b="0" i="0">
                <a:solidFill>
                  <a:srgbClr val="C3D0DB"/>
                </a:solidFill>
                <a:latin typeface="Calibri"/>
              </a:rPr>
              <a:t>mehmetali.akyol@gmail.com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