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back. This is the centre of the course.</a:t>
            </a:r>
          </a:p>
          <a:p/>
          <a:p>
            <a:r>
              <a:t>Over the last four weeks you have built a tool, grounded an assistant in documents, tested it</a:t>
            </a:r>
          </a:p>
          <a:p>
            <a:r>
              <a:t>until it broke, and chained three steps together. Four separate techniques, four separate</a:t>
            </a:r>
          </a:p>
          <a:p>
            <a:r>
              <a:t>sessions.</a:t>
            </a:r>
          </a:p>
          <a:p/>
          <a:p>
            <a:r>
              <a:t>Today they become one thing, applied to a problem you actually have.</a:t>
            </a:r>
          </a:p>
          <a:p/>
          <a:p>
            <a:r>
              <a:t>And I want to be clear about what the deliverable is, because it isn't what you might expect.</a:t>
            </a:r>
          </a:p>
          <a:p>
            <a:r>
              <a:t>The deliverable today is a one-page design — not a working system. If you get something running</a:t>
            </a:r>
          </a:p>
          <a:p>
            <a:r>
              <a:t>as well, excellent. But the design is the assessed skill, it's what I'll examine you on, and</a:t>
            </a:r>
          </a:p>
          <a:p>
            <a:r>
              <a:t>it's honestly the harder part.</a:t>
            </a:r>
          </a:p>
          <a:p/>
          <a:p>
            <a:r>
              <a:t>Here's why. Building something is now easy — you've seen that. Deciding what to build, what to</a:t>
            </a:r>
          </a:p>
          <a:p>
            <a:r>
              <a:t>ground it in, where to put the human, and how you'd know it was working: that's the part that</a:t>
            </a:r>
          </a:p>
          <a:p>
            <a:r>
              <a:t>takes judgment, and it's the part that transfers to whatever tools exist in five years.</a:t>
            </a:r>
          </a:p>
          <a:p/>
          <a:p>
            <a:r>
              <a:t>So today is mostly thinking, with building as the reward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we're going.</a:t>
            </a:r>
          </a:p>
          <a:p/>
          <a:p>
            <a:r>
              <a:t>First, a complete worked example, end to end. I'll walk you through a finished Field Build in</a:t>
            </a:r>
          </a:p>
          <a:p>
            <a:r>
              <a:t>one discipline, and — more usefully — the reasoning behind each decision. Not just what I</a:t>
            </a:r>
          </a:p>
          <a:p>
            <a:r>
              <a:t>built, but what I rejected.</a:t>
            </a:r>
          </a:p>
          <a:p/>
          <a:p>
            <a:r>
              <a:t>Then the design worksheet. Six questions that define any AI workflow. This is the artifact,</a:t>
            </a:r>
          </a:p>
          <a:p>
            <a:r>
              <a:t>and it's deliberately short enough to fill in twenty minutes.</a:t>
            </a:r>
          </a:p>
          <a:p/>
          <a:p>
            <a:r>
              <a:t>Then scoping — what makes a good candidate and what makes a bad one. Most failed projects fail</a:t>
            </a:r>
          </a:p>
          <a:p>
            <a:r>
              <a:t>here, before anyone builds anything.</a:t>
            </a:r>
          </a:p>
          <a:p/>
          <a:p>
            <a:r>
              <a:t>Then where the human goes, and why that's the first decision rather than the last.</a:t>
            </a:r>
          </a:p>
          <a:p/>
          <a:p>
            <a:r>
              <a:t>Then you build. Worksheet first, then as far into the building as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one. Let me show you a finished one and the thinking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problem. I've chosen education because it's the one everybody in this room can</a:t>
            </a:r>
          </a:p>
          <a:p>
            <a:r>
              <a:t>follow regardless of discipline, and because the same shape appears in all five of your fields.</a:t>
            </a:r>
          </a:p>
          <a:p/>
          <a:p>
            <a:r>
              <a:t>A university department answers the same forty student questions every semester. Deadlines,</a:t>
            </a:r>
          </a:p>
          <a:p>
            <a:r>
              <a:t>resit rules, transfer credit, attendance requirements. The answers are all in the regulations.</a:t>
            </a:r>
          </a:p>
          <a:p>
            <a:r>
              <a:t>Nobody reads the regulations — not the students, and often not the staff. So staff answer by</a:t>
            </a:r>
          </a:p>
          <a:p>
            <a:r>
              <a:t>email, inconsistently, and occasionally wrongly, and the wrong answers propagate because</a:t>
            </a:r>
          </a:p>
          <a:p>
            <a:r>
              <a:t>students tell each other.</a:t>
            </a:r>
          </a:p>
          <a:p/>
          <a:p>
            <a:r>
              <a:t>Now, why is this a good candidate? Four reasons, and I want you to check your own idea against</a:t>
            </a:r>
          </a:p>
          <a:p>
            <a:r>
              <a:t>these later.</a:t>
            </a:r>
          </a:p>
          <a:p/>
          <a:p>
            <a:r>
              <a:t>It's genuinely repetitive — forty questions, every semester, for years.</a:t>
            </a:r>
          </a:p>
          <a:p/>
          <a:p>
            <a:r>
              <a:t>The answers exist in a fixed document. That's what makes grounding possible.</a:t>
            </a:r>
          </a:p>
          <a:p/>
          <a:p>
            <a:r>
              <a:t>A wrong answer is recoverable. Someone gets told the wrong deadline, they find out, it gets</a:t>
            </a:r>
          </a:p>
          <a:p>
            <a:r>
              <a:t>corrected. Compare that with a wrong drug dose.</a:t>
            </a:r>
          </a:p>
          <a:p/>
          <a:p>
            <a:r>
              <a:t>And nobody is harmed by a delay. There's no urgency that would tempt anyone to skip the human</a:t>
            </a:r>
          </a:p>
          <a:p>
            <a:r>
              <a:t>check.</a:t>
            </a:r>
          </a:p>
          <a:p/>
          <a:p>
            <a:r>
              <a:t>Those four conditions define the safe zone. Stay inside it for your first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design. Four boxes.</a:t>
            </a:r>
          </a:p>
          <a:p/>
          <a:p>
            <a:r>
              <a:t>A grounded assistant with the regulations, exam rules and academic calendar as sources,</a:t>
            </a:r>
          </a:p>
          <a:p>
            <a:r>
              <a:t>answering only from them. That's week seven.</a:t>
            </a:r>
          </a:p>
          <a:p/>
          <a:p>
            <a:r>
              <a:t>Every answer carries the regulation clause it came from, quoted. Week seven again — and it does</a:t>
            </a:r>
          </a:p>
          <a:p>
            <a:r>
              <a:t>double duty here, because a student who receives a clause number can check it themselves, which</a:t>
            </a:r>
          </a:p>
          <a:p>
            <a:r>
              <a:t>builds trust in a way a bare answer never does.</a:t>
            </a:r>
          </a:p>
          <a:p/>
          <a:p>
            <a:r>
              <a:t>Anything not covered returns NOT IN SOURCES and routes to a person. Week seven's fallback</a:t>
            </a:r>
          </a:p>
          <a:p>
            <a:r>
              <a:t>principle.</a:t>
            </a:r>
          </a:p>
          <a:p/>
          <a:p>
            <a:r>
              <a:t>And staff review the drafted answers and send them. The student never talks to it directly.</a:t>
            </a:r>
          </a:p>
          <a:p>
            <a:r>
              <a:t>That's week nine's rule: the human goes before the irreversible action.</a:t>
            </a:r>
          </a:p>
          <a:p/>
          <a:p>
            <a:r>
              <a:t>Now read the caption, because it's the thing I most want you to take from this slide. Four</a:t>
            </a:r>
          </a:p>
          <a:p>
            <a:r>
              <a:t>decisions, and three of them are about what it must *not* do. Not answer from memory. Not answer</a:t>
            </a:r>
          </a:p>
          <a:p>
            <a:r>
              <a:t>without a source. Not talk to a student directly.</a:t>
            </a:r>
          </a:p>
          <a:p/>
          <a:p>
            <a:r>
              <a:t>That ratio is normal for a good design. Most of the work in designing these systems is</a:t>
            </a:r>
          </a:p>
          <a:p>
            <a:r>
              <a:t>constraining them, not empowering them. The capability is free. The constraints are the</a:t>
            </a:r>
          </a:p>
          <a:p>
            <a:r>
              <a:t>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I rejected, because this is where the real thinking is.</a:t>
            </a:r>
          </a:p>
          <a:p/>
          <a:p>
            <a:r>
              <a:t>Letting students query it directly. Tempting — it would remove the staff workload entirely,</a:t>
            </a:r>
          </a:p>
          <a:p>
            <a:r>
              <a:t>which is supposedly the point. Rejected: it removes the human before an irreversible action. A</a:t>
            </a:r>
          </a:p>
          <a:p>
            <a:r>
              <a:t>student acts on a wrong deadline and misses a resit. That's not recoverable, even though the</a:t>
            </a:r>
          </a:p>
          <a:p>
            <a:r>
              <a:t>information error was.</a:t>
            </a:r>
          </a:p>
          <a:p/>
          <a:p>
            <a:r>
              <a:t>Adding "and check the student's individual record." Very tempting, because it would make</a:t>
            </a:r>
          </a:p>
          <a:p>
            <a:r>
              <a:t>answers personal and much more useful. Rejected for two reasons: personal data, which we'll</a:t>
            </a:r>
          </a:p>
          <a:p>
            <a:r>
              <a:t>deal with properly in week twelve, and it adds a fourth step, which the arithmetic from last</a:t>
            </a:r>
          </a:p>
          <a:p>
            <a:r>
              <a:t>week says costs more than it gives.</a:t>
            </a:r>
          </a:p>
          <a:p/>
          <a:p>
            <a:r>
              <a:t>And the third one is the genuinely tempting one, so I want to dwell on it. Letting it answer</a:t>
            </a:r>
          </a:p>
          <a:p>
            <a:r>
              <a:t>from general knowledge when the regulations are silent. It would be more useful — fewer</a:t>
            </a:r>
          </a:p>
          <a:p>
            <a:r>
              <a:t>refusals, fewer questions bounced to a human, better user experience.</a:t>
            </a:r>
          </a:p>
          <a:p/>
          <a:p>
            <a:r>
              <a:t>And it would be far more dangerous, because what it would actually do is state other</a:t>
            </a:r>
          </a:p>
          <a:p>
            <a:r>
              <a:t>universities' rules as ours, confidently. That's displacement from week one, and it's precisely</a:t>
            </a:r>
          </a:p>
          <a:p>
            <a:r>
              <a:t>the failure that produces a student who followed the rules of an institution they don't attend.</a:t>
            </a:r>
          </a:p>
          <a:p/>
          <a:p>
            <a:r>
              <a:t>The bold line: every rejection made it less impressive and more usable. That trade is the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two. Six questions. This is what you'll fill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questions. This is the worksheet, and it's the artifact for today.</a:t>
            </a:r>
          </a:p>
          <a:p/>
          <a:p>
            <a:r>
              <a:t>One: what is the repetitive task? One sentence. If it takes three sentences, your scope is too</a:t>
            </a:r>
          </a:p>
          <a:p>
            <a:r>
              <a:t>big and you should cut it now rather than discovering it in twenty minutes.</a:t>
            </a:r>
          </a:p>
          <a:p/>
          <a:p>
            <a:r>
              <a:t>Two: what sources hold the answers? Name the actual documents. And note the sub-point — if no</a:t>
            </a:r>
          </a:p>
          <a:p>
            <a:r>
              <a:t>documents exist, this isn't a grounding problem, and you need a different design. That</a:t>
            </a:r>
          </a:p>
          <a:p>
            <a:r>
              <a:t>realisation alone saves people weeks.</a:t>
            </a:r>
          </a:p>
          <a:p/>
          <a:p>
            <a:r>
              <a:t>Three: what are the steps? One, two, or three. Not more. You know why.</a:t>
            </a:r>
          </a:p>
          <a:p/>
          <a:p>
            <a:r>
              <a:t>Four: where does the human sit? Before which action specifically? Name the irreversible step.</a:t>
            </a:r>
          </a:p>
          <a:p/>
          <a:p>
            <a:r>
              <a:t>Five: how would you know it was working? Three test questions, including one it cannot answer.</a:t>
            </a:r>
          </a:p>
          <a:p>
            <a:r>
              <a:t>That's week eight, compressed to its minimum viable version.</a:t>
            </a:r>
          </a:p>
          <a:p/>
          <a:p>
            <a:r>
              <a:t>Six: what could go wrong, and who would be harmed? Wrong answer, leaked data, over-trust. And</a:t>
            </a:r>
          </a:p>
          <a:p>
            <a:r>
              <a:t>name a person, not a category — "a student who misses a resit deadline," not "users." That</a:t>
            </a:r>
          </a:p>
          <a:p>
            <a:r>
              <a:t>specificity changes the design, every time. It's very easy to accept risk to "users" and very</a:t>
            </a:r>
          </a:p>
          <a:p>
            <a:r>
              <a:t>hard to accept it for a named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six questions in a clinical setting, so you can see the pattern rather than one</a:t>
            </a:r>
          </a:p>
          <a:p>
            <a:r>
              <a:t>instance.</a:t>
            </a:r>
          </a:p>
          <a:p/>
          <a:p>
            <a:r>
              <a:t>Task: turn a consultation transcript into a structured note in our standard format. One</a:t>
            </a:r>
          </a:p>
          <a:p>
            <a:r>
              <a:t>sentence.</a:t>
            </a:r>
          </a:p>
          <a:p/>
          <a:p>
            <a:r>
              <a:t>Sources: the department's note template and completed examples. Note what is *not* a source —</a:t>
            </a:r>
          </a:p>
          <a:p>
            <a:r>
              <a:t>the patient record. That's a deliberate exclusion and it's driven by question six.</a:t>
            </a:r>
          </a:p>
          <a:p/>
          <a:p>
            <a:r>
              <a:t>Steps: one. Transcript in, structured draft out. And I want to point out that "one step" is a</a:t>
            </a:r>
          </a:p>
          <a:p>
            <a:r>
              <a:t>legitimate and often correct answer. There's no second step worth adding here, and adding one</a:t>
            </a:r>
          </a:p>
          <a:p>
            <a:r>
              <a:t>would cost reliability for nothing.</a:t>
            </a:r>
          </a:p>
          <a:p/>
          <a:p>
            <a:r>
              <a:t>Human: before the note enters the record. The clinician edits and signs. The system never writes</a:t>
            </a:r>
          </a:p>
          <a:p>
            <a:r>
              <a:t>to anything — it produces text on a screen.</a:t>
            </a:r>
          </a:p>
          <a:p/>
          <a:p>
            <a:r>
              <a:t>How I'd know: three transcripts where I already wrote the note by hand, compared. Plus — and</a:t>
            </a:r>
          </a:p>
          <a:p>
            <a:r>
              <a:t>this is the good one — one transcript where a key symptom is mentioned only in passing, because</a:t>
            </a:r>
          </a:p>
          <a:p>
            <a:r>
              <a:t>that's the failure I actually fear.</a:t>
            </a:r>
          </a:p>
          <a:p/>
          <a:p>
            <a:r>
              <a:t>Who is harmed: a patient whose reported symptom is dropped because it was mentioned once,</a:t>
            </a:r>
          </a:p>
          <a:p>
            <a:r>
              <a:t>quietly, in the middle of a long transcript.</a:t>
            </a:r>
          </a:p>
          <a:p/>
          <a:p>
            <a:r>
              <a:t>Notice how question six generated question five. Once you name the harm, the test writes itself.</a:t>
            </a:r>
          </a:p>
          <a:p>
            <a:r>
              <a:t>That's the mechanism I want you to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scoping mistakes. Check your worksheet against these before you build.</a:t>
            </a:r>
          </a:p>
          <a:p/>
          <a:p>
            <a:r>
              <a:t>Building a system rather than a task. "A tool for managing referrals" is a project — it has</a:t>
            </a:r>
          </a:p>
          <a:p>
            <a:r>
              <a:t>sub-parts, state, edge cases, and it will produce something that demos well and works badly.</a:t>
            </a:r>
          </a:p>
          <a:p>
            <a:r>
              <a:t>"Draft the referral letter from these notes" is a task. And note the distinction that matters:</a:t>
            </a:r>
          </a:p>
          <a:p>
            <a:r>
              <a:t>systems fail slowly and invisibly, tasks either work or don't. You want failures that announce</a:t>
            </a:r>
          </a:p>
          <a:p>
            <a:r>
              <a:t>themselves.</a:t>
            </a:r>
          </a:p>
          <a:p/>
          <a:p>
            <a:r>
              <a:t>Automating the interesting part. This is the seductive one. The temptation is to hand over the</a:t>
            </a:r>
          </a:p>
          <a:p>
            <a:r>
              <a:t>judgment — let it decide the diagnosis, the grade, the recommendation — and keep the typing for</a:t>
            </a:r>
          </a:p>
          <a:p>
            <a:r>
              <a:t>yourself. Do exactly the opposite. Automate the tedium, keep the judgment. That's not only more</a:t>
            </a:r>
          </a:p>
          <a:p>
            <a:r>
              <a:t>useful, it's the only version that's safe, and it's also the version that doesn't erode your own</a:t>
            </a:r>
          </a:p>
          <a:p>
            <a:r>
              <a:t>skill.</a:t>
            </a:r>
          </a:p>
          <a:p/>
          <a:p>
            <a:r>
              <a:t>And designing for a task you cannot grade. If you can't tell whether the output is right, you</a:t>
            </a:r>
          </a:p>
          <a:p>
            <a:r>
              <a:t>cannot build this responsibly, no matter how capable the tool is. You'd be deploying something</a:t>
            </a:r>
          </a:p>
          <a:p>
            <a:r>
              <a:t>whose failures are invisible to the one person meant to be checking. Pick something where you</a:t>
            </a:r>
          </a:p>
          <a:p>
            <a:r>
              <a:t>are the expert.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common finding at question two, and one worth taking seriously rather than treating as a dead</a:t>
            </a:r>
          </a:p>
          <a:p>
            <a:r>
              <a:t>end.</a:t>
            </a:r>
          </a:p>
          <a:p/>
          <a:p>
            <a:r>
              <a:t>You get to "what sources hold the answers?" and the answer is: none. Nothing is written down. The</a:t>
            </a:r>
          </a:p>
          <a:p>
            <a:r>
              <a:t>knowledge lives in three experienced people and in habit.</a:t>
            </a:r>
          </a:p>
          <a:p/>
          <a:p>
            <a:r>
              <a:t>If that's true, grounding has nothing to work with, and no amount of tooling changes it.</a:t>
            </a:r>
          </a:p>
          <a:p/>
          <a:p>
            <a:r>
              <a:t>Two honest options. Write the knowledge down first — which is a real project with real value.</a:t>
            </a:r>
          </a:p>
          <a:p>
            <a:r>
              <a:t>Or design something that doesn't need it.</a:t>
            </a:r>
          </a:p>
          <a:p/>
          <a:p>
            <a:r>
              <a:t>And here's the bold part, which I've watched happen several times. Often the most valuable</a:t>
            </a:r>
          </a:p>
          <a:p>
            <a:r>
              <a:t>outcome of filling in this worksheet is discovering that your institution has never written down</a:t>
            </a:r>
          </a:p>
          <a:p>
            <a:r>
              <a:t>how something is actually done.</a:t>
            </a:r>
          </a:p>
          <a:p/>
          <a:p>
            <a:r>
              <a:t>That document — the one that doesn't exist yet — is usually worth more than the assistant would</a:t>
            </a:r>
          </a:p>
          <a:p>
            <a:r>
              <a:t>have been. It survives staff turnover. It makes training possible. It can be checked and</a:t>
            </a:r>
          </a:p>
          <a:p>
            <a:r>
              <a:t>corrected.</a:t>
            </a:r>
          </a:p>
          <a:p/>
          <a:p>
            <a:r>
              <a:t>And once it exists, the assistant becomes possible. So it isn't even a detour.</a:t>
            </a:r>
          </a:p>
          <a:p/>
          <a:p>
            <a:r>
              <a:t>If you reach question two and find nothing, you haven't failed the exercise. You've found the</a:t>
            </a:r>
          </a:p>
          <a:p>
            <a:r>
              <a:t>actual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candidates and bad ones. Check your idea against this before you spend twenty minutes.</a:t>
            </a:r>
          </a:p>
          <a:p/>
          <a:p>
            <a:r>
              <a:t>Good: repetitive; the answer exists in a document you can point at; a wrong answer is</a:t>
            </a:r>
          </a:p>
          <a:p>
            <a:r>
              <a:t>recoverable; delay harms nobody; and you personally understand the task well enough to grade</a:t>
            </a:r>
          </a:p>
          <a:p>
            <a:r>
              <a:t>the output. That last one is easy to forget — if you can't tell whether the output is right,</a:t>
            </a:r>
          </a:p>
          <a:p>
            <a:r>
              <a:t>you cannot build this responsibly, no matter how good the tool is.</a:t>
            </a:r>
          </a:p>
          <a:p/>
          <a:p>
            <a:r>
              <a:t>Bad: requires judgment you can't specify — if you can't write down the rule, the system can't</a:t>
            </a:r>
          </a:p>
          <a:p>
            <a:r>
              <a:t>follow it. The answer isn't written down anywhere, so there's nothing to ground on. A wrong</a:t>
            </a:r>
          </a:p>
          <a:p>
            <a:r>
              <a:t>answer reaches a patient, client or grade directly. Or it needs personal data to be useful at</a:t>
            </a:r>
          </a:p>
          <a:p>
            <a:r>
              <a:t>all, which means the privacy problem isn't a detail you can solve later, it's the whole design.</a:t>
            </a:r>
          </a:p>
          <a:p/>
          <a:p>
            <a:r>
              <a:t>And the honest test, which I'd like you to apply for the rest of your career: would you be</a:t>
            </a:r>
          </a:p>
          <a:p>
            <a:r>
              <a:t>comfortable showing this to the person most affected by it, and explaining exactly how it</a:t>
            </a:r>
          </a:p>
          <a:p>
            <a:r>
              <a:t>works?</a:t>
            </a:r>
          </a:p>
          <a:p/>
          <a:p>
            <a:r>
              <a:t>If the answer is no — if the design only survives because the affected person doesn't know</a:t>
            </a:r>
          </a:p>
          <a:p>
            <a:r>
              <a:t>about it — then redesign it. Don't hide it. That instinct will keep you out of more trouble</a:t>
            </a:r>
          </a:p>
          <a:p>
            <a:r>
              <a:t>than any rule I could give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three. Twenty minutes. Worksheet first — the worksheet is the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Twenty minutes.</a:t>
            </a:r>
          </a:p>
          <a:p/>
          <a:p>
            <a:r>
              <a:t>One. Fill the worksheet. All six questions. Ten minutes. Write it down — on paper is fine.</a:t>
            </a:r>
          </a:p>
          <a:p>
            <a:r>
              <a:t>Everyone finishes this part, because it needs no tool, no account, and no internet. If your</a:t>
            </a:r>
          </a:p>
          <a:p>
            <a:r>
              <a:t>laptop won't connect today, you can still complete the assessed work.</a:t>
            </a:r>
          </a:p>
          <a:p/>
          <a:p>
            <a:r>
              <a:t>Two. Check it against the good-candidate list. If it fails on scope — and about half of them do</a:t>
            </a:r>
          </a:p>
          <a:p>
            <a:r>
              <a:t>— cut it in half and fill the worksheet again. Cutting scope is the most common correction and</a:t>
            </a:r>
          </a:p>
          <a:p>
            <a:r>
              <a:t>it's not a failure, it's the exercise working.</a:t>
            </a:r>
          </a:p>
          <a:p/>
          <a:p>
            <a:r>
              <a:t>Three. Then build as far as you get in the remaining ten minutes. Ground it, or make the tool,</a:t>
            </a:r>
          </a:p>
          <a:p>
            <a:r>
              <a:t>or just write the three steps out properly. Any progress is fine. You will not finish, and</a:t>
            </a:r>
          </a:p>
          <a:p>
            <a:r>
              <a:t>you're not meant to.</a:t>
            </a:r>
          </a:p>
          <a:p/>
          <a:p>
            <a:r>
              <a:t>And the bold line, one more time: the worksheet is the deliverable. The working system is a</a:t>
            </a:r>
          </a:p>
          <a:p>
            <a:r>
              <a:t>bonus.</a:t>
            </a:r>
          </a:p>
          <a:p/>
          <a:p>
            <a:r>
              <a:t>[Circulate during the worksheet phase — that's where you add value. The two most common</a:t>
            </a:r>
          </a:p>
          <a:p>
            <a:r>
              <a:t>problems: scope too large, and question six answered with a category rather than a person. Push</a:t>
            </a:r>
          </a:p>
          <a:p>
            <a:r>
              <a:t>on both. If the room is quiet, fill the worksheet on screen for a problem from each discipline</a:t>
            </a:r>
          </a:p>
          <a:p>
            <a:r>
              <a:t>present.]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questions people consistently get wrong, whether or not you filled it in yourself.</a:t>
            </a:r>
          </a:p>
          <a:p/>
          <a:p>
            <a:r>
              <a:t>Question three, the steps. Most first drafts have five or six. Almost all of them collapse to</a:t>
            </a:r>
          </a:p>
          <a:p>
            <a:r>
              <a:t>two or three when you look properly, because people list *sub-tasks* rather than steps. "Read</a:t>
            </a:r>
          </a:p>
          <a:p>
            <a:r>
              <a:t>the document" and "find the relevant part" are not two steps — that's one retrieval. Count</a:t>
            </a:r>
          </a:p>
          <a:p>
            <a:r>
              <a:t>actual handoffs, where output from one stage becomes input to another.</a:t>
            </a:r>
          </a:p>
          <a:p/>
          <a:p>
            <a:r>
              <a:t>Question six, who is harmed. And this is the one that matters most.</a:t>
            </a:r>
          </a:p>
          <a:p/>
          <a:p>
            <a:r>
              <a:t>"Users could get wrong information" is not an answer. It's a way of not answering — a sentence</a:t>
            </a:r>
          </a:p>
          <a:p>
            <a:r>
              <a:t>shaped like a risk assessment that commits to nothing and changes no decision.</a:t>
            </a:r>
          </a:p>
          <a:p/>
          <a:p>
            <a:r>
              <a:t>"A student misses a resit because they were told the wrong date" is an answer. It's specific,</a:t>
            </a:r>
          </a:p>
          <a:p>
            <a:r>
              <a:t>it's plausible, and — crucially — it changes the design. The moment you write that sentence,</a:t>
            </a:r>
          </a:p>
          <a:p>
            <a:r>
              <a:t>"let students query it directly" becomes obviously wrong. You don't need a rule; the specificity</a:t>
            </a:r>
          </a:p>
          <a:p>
            <a:r>
              <a:t>does the work.</a:t>
            </a:r>
          </a:p>
          <a:p/>
          <a:p>
            <a:r>
              <a:t>Naming a specific person is the single most useful thing on this worksheet. If you fill in</a:t>
            </a:r>
          </a:p>
          <a:p>
            <a:r>
              <a:t>nothing else properly, fill in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examinable. Five items, and this week appears on the final almost certainly.</a:t>
            </a:r>
          </a:p>
          <a:p/>
          <a:p>
            <a:r>
              <a:t>The six design questions. Be able to list them. A likely exam question gives you a proposed</a:t>
            </a:r>
          </a:p>
          <a:p>
            <a:r>
              <a:t>workflow and asks which of the six was not answered.</a:t>
            </a:r>
          </a:p>
          <a:p/>
          <a:p>
            <a:r>
              <a:t>Good candidate criteria — including the one people forget, that you must understand the task</a:t>
            </a:r>
          </a:p>
          <a:p>
            <a:r>
              <a:t>well enough to grade the output.</a:t>
            </a:r>
          </a:p>
          <a:p/>
          <a:p>
            <a:r>
              <a:t>Constraint over capability. In a good design, most decisions are about what the system must not</a:t>
            </a:r>
          </a:p>
          <a:p>
            <a:r>
              <a:t>do. Learn that sentence; it's a short-answer question waiting to happen.</a:t>
            </a:r>
          </a:p>
          <a:p/>
          <a:p>
            <a:r>
              <a:t>Human placement: before the irreversible action, not at the end. And you identify the</a:t>
            </a:r>
          </a:p>
          <a:p>
            <a:r>
              <a:t>irreversible step first, then place the human. That ordering is the examinable part.</a:t>
            </a:r>
          </a:p>
          <a:p/>
          <a:p>
            <a:r>
              <a:t>And naming the harmed person specifically rather than as a category, with the reason:</a:t>
            </a:r>
          </a:p>
          <a:p>
            <a:r>
              <a:t>specificity changes the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things.</a:t>
            </a:r>
          </a:p>
          <a:p/>
          <a:p>
            <a:r>
              <a:t>Design is the skill. Building is now the easy part, and that's a genuine shift — five years ago</a:t>
            </a:r>
          </a:p>
          <a:p>
            <a:r>
              <a:t>the ratio was the other way round.</a:t>
            </a:r>
          </a:p>
          <a:p/>
          <a:p>
            <a:r>
              <a:t>Six questions: task, sources, steps, human, how you'd know it works, who is harmed.</a:t>
            </a:r>
          </a:p>
          <a:p/>
          <a:p>
            <a:r>
              <a:t>In a good design, most decisions are about what the system must not do.</a:t>
            </a:r>
          </a:p>
          <a:p/>
          <a:p>
            <a:r>
              <a:t>The human goes before the irreversible action.</a:t>
            </a:r>
          </a:p>
          <a:p/>
          <a:p>
            <a:r>
              <a:t>And name the person who would be harmed. A category is not an answer.</a:t>
            </a:r>
          </a:p>
          <a:p/>
          <a:p>
            <a:r>
              <a:t>Keep your worksheet. Next week we make the output look like real work from your profession —</a:t>
            </a:r>
          </a:p>
          <a:p>
            <a:r>
              <a:t>SOAP notes, IRAC, lesson plans, briefs — and the week after, we attack something built exactly</a:t>
            </a:r>
          </a:p>
          <a:p>
            <a:r>
              <a:t>like the thing you designed today. So the worksheet gets used twice more.</a:t>
            </a:r>
          </a:p>
          <a:p/>
          <a:p>
            <a:r>
              <a:t>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questions here.</a:t>
            </a:r>
          </a:p>
          <a:p/>
          <a:p>
            <a:r>
              <a:t>Common ones:</a:t>
            </a:r>
          </a:p>
          <a:p/>
          <a:p>
            <a:r>
              <a:t>"What if my field doesn't have good documents?" — Then grounding isn't your design, and that's</a:t>
            </a:r>
          </a:p>
          <a:p>
            <a:r>
              <a:t>a real finding rather than a failure. A well-specified single prompt with good context may be</a:t>
            </a:r>
          </a:p>
          <a:p>
            <a:r>
              <a:t>the whole answer.</a:t>
            </a:r>
          </a:p>
          <a:p/>
          <a:p>
            <a:r>
              <a:t>"Can I build this for real at work?" — With the worksheet, and with someone senior who knows</a:t>
            </a:r>
          </a:p>
          <a:p>
            <a:r>
              <a:t>you're doing it. Never quietly. Question six is what you show them.</a:t>
            </a:r>
          </a:p>
          <a:p/>
          <a:p>
            <a:r>
              <a:t>"Is the worksheet enough for the exam?" — The reasoning behind it is. I'll give you scenarios</a:t>
            </a:r>
          </a:p>
          <a:p>
            <a:r>
              <a:t>and ask which design decision is wrong and why.</a:t>
            </a:r>
          </a:p>
          <a:p/>
          <a:p>
            <a:r>
              <a:t>"My idea needs personal data to be useful." — Then it's a week twelve conversation before it's</a:t>
            </a:r>
          </a:p>
          <a:p>
            <a:r>
              <a:t>a build. Come and talk to me — that's not a no, it's a different design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 spc="220">
                <a:solidFill>
                  <a:srgbClr val="0F766E"/>
                </a:solidFill>
                <a:latin typeface="Calibri"/>
              </a:rPr>
              <a:t>WEEK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 Light"/>
              </a:rPr>
              <a:t>Building for Your Own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i="0">
                <a:solidFill>
                  <a:srgbClr val="C3D0DB"/>
                </a:solidFill>
                <a:latin typeface="Calibri"/>
              </a:rPr>
              <a:t>Artifact: the Field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0916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Prompt Engineering and Large Language Models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Mehmet Ali Akyol, PhD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Ankara Medipol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Today: What We'll Explore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 complete worked example, end to end, with the reasoning behind each decision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The design worksheet — six questions that define any AI workflow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Scoping: what makes a good candidate, and what makes a bad one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Where the human goes, and why that decision comes first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Build: your own Field Build, starting with the worksheet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10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A Complete Worked Example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situation: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university department answers the same forty student questions every semester — deadlines, resit rules, transfer credit, attendance requirements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answers are all in the regulations. Nobody reads the regulations.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Staff answer by email, inconsistently, and sometimes wrongly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Why this is a good candidate: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Genuinely repetitive · answers exist in a fixed document · a wrong answer is recoverable · nobody is harmed by a delay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10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Grounded assistant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Regulations, exam rules and the academic calendar loaded as sources. Answers only from them.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21659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32555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97147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Quote required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Every answer carries the regulation clause it came from, quoted.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76975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87871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3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Refuses cleanly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Anything not covered returns NOT IN SOURCES and routes to a person.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32291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43187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7779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Staff review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Answers are drafted for staff, who send them. The student never talks to it directly.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39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Four decisions. Notice that three of the four are about what it must not 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10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I Rejected, and Why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Letting students query it directly.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Removes the human before an irreversible action — a student acts on a wrong answer about a deadline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Adding "and check the student's record".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Personal data, and a fourth step. Compounding error, plus a privacy problem — Week 12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Letting it answer from general knowledge when the regulations were silent.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This is the tempting one. It would be more useful and far more dangerous — other universities' rules stated confidently as ours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Every rejection made it less impressive and more usable.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10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The Design Worksheet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Six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1.  What is the repetitive task?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One sentence. If it takes three, the scope is too big.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2.  What sources hold the answers?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Name the actual documents. If none exist, this is not a grounding problem.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3.  What are the steps?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One, two, or three. Not more.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4.  Where does the human sit?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Before which action? Name the irreversible step.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5.  How would you know it was working?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Three test questions — including one it cannot answer.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6.  What could go wrong, and who would be harmed?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Wrong answer, leaked data, over-trust. Name a person, not a category.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10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The Same Six Questions, Clinical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1.  Task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Turn a consultation transcript into a structured note in our standard format.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2.  Sources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department's note template and its completed examples. Not the patient record.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3.  Steps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One. Transcript in, structured draft out. There is no second step worth adding.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4.  Human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Before the note enters the record. The clinician edits and signs; the system never writes to anything.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5.  How I would know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Three transcripts where I already wrote the note by hand. Compare. Plus one where a key symptom is mentioned only in passing.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6.  Who is harmed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patient whose reported symptom is dropped from the note because it was mentioned once, quietly, in the middle.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10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Three Scoping Mistakes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Building a system, not a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"A tool for managing referrals" is a project. "Draft the referral letter from these notes" is a task. Systems fail slowly and invisibly; tasks either work or do not.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Automating the interesting part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The temptation is to hand over the judgment and keep the typing. Do the opposite — automate the tedium, keep the judgment. It is also the only version that is safe.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Designing for a task you cannot grade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If you cannot tell whether the output is right, you cannot build this responsibly, however good the tool is. Pick something where you are the expert.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10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When There Are No Documents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A common finding at question 2 — and it is a finding, not a failure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If the knowledge lives only in people's heads, grounding has nothing to work with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honest options: write the knowledge down first, or design something that does not need it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Often the most valuable outcome of this worksheet: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Discovering that your institution has never written down how something is actually done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That document is worth more than the assistant would have been — and the assistant becomes possible afterwards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10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Good Candidates and Bad 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Good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Repetitive. The answer exists in a document you can point at. A wrong answer is recoverable. Delay harms nobody. You personally understand the task well enough to grade the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Bad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Requires judgment you cannot specify. The answer is not written down anywhere. A wrong answer reaches a patient, client or grade directly. Needs personal data to be useful at 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The honest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Would you be comfortable showing this to the person most affected by it, and explaining exactly how it works? If not, redesign it rather than hiding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10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Build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Calibri"/>
              </a:rPr>
              <a:t>IN-CLASS ACTIVITY  ·  20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Your Field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105156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3721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1.  Fill the worksheet. All six questions. Ten minutes.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Write it down. Everyone finishes this part — it needs no tool and no account.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2.  Check it against the good-candidate list.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If it fails on scope, cut it in half and fill the worksheet again.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3.  Then build as far as you get in the remaining ten minutes.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Ground it, or make the tool, or write the three steps out. Any progress is fine.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worksheet is the deliverable. The working system is a bonus.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10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The Two Questions People Get Wrong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Question 3 — the steps.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Most first drafts have five or six steps. Almost all of them collapse to two or three.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"Read the document" and "find the relevant part" are not two steps. They are one.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Question 6 — who is harmed.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"Users could get wrong information" is not an answer. It is a way of not answering.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"A student misses a resit because they were told the wrong date" is an answer — and it changes the design.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Naming a specific person is the single most useful thing on the worksheet.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10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Concepts You Must Be Able to Define and Diagnose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10637215" cy="4251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9814255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six design questions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Task · sources · steps · human placement · how you would know it works · what could go wrong and to whom.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Good candidate criteria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Repetitive · answers exist in documents · wrong answers recoverable · delay harmless · you can grade the output.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Constraint over capability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In a good design most decisions are about what the system must not do. Capability is free; constraints are the engineering.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Human placement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human goes before the irreversible action, not at the end of the process. Identify the irreversible step first.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Naming the harmed person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specific person, not a category. Specificity changes the design; abstraction does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10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Wrap-Up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Design is the skill. Building is now the easy part.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Six questions: task · sources · steps · human · how you'd know · who is harmed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In a good design, most decisions are about what the system must not do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The human goes before the irreversible action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Name the person who would be harmed — a category is not an answer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Next week: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Domain-Specific Applications — making the output look like work from your profession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10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6888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 Light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56616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93192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Mehmet Ali Akyol, PhD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C3D0DB"/>
                </a:solidFill>
                <a:latin typeface="Calibri"/>
              </a:rPr>
              <a:t>mehmetali.akyol@gmail.com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