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</a:t>
            </a:r>
          </a:p>
          <a:p/>
          <a:p>
            <a:r>
              <a:t>Last week we agreed on a sentence: this is a course about working with a system that is</a:t>
            </a:r>
          </a:p>
          <a:p>
            <a:r>
              <a:t>capable, confident, and sometimes wrong. And we agreed on four words — generative AI,</a:t>
            </a:r>
          </a:p>
          <a:p>
            <a:r>
              <a:t>prompt, model, context — and four failure signatures: fabrication, displacement,</a:t>
            </a:r>
          </a:p>
          <a:p>
            <a:r>
              <a:t>omission, overconfidence.</a:t>
            </a:r>
          </a:p>
          <a:p/>
          <a:p>
            <a:r>
              <a:t>Today is the history. And I know how "history week" sounds. Let me tell you why it's</a:t>
            </a:r>
          </a:p>
          <a:p>
            <a:r>
              <a:t>here.</a:t>
            </a:r>
          </a:p>
          <a:p/>
          <a:p>
            <a:r>
              <a:t>Almost everything people get badly wrong about where this technology is going comes from</a:t>
            </a:r>
          </a:p>
          <a:p>
            <a:r>
              <a:t>thinking it started in 2022. It didn't. This field is older than most of your parents.</a:t>
            </a:r>
          </a:p>
          <a:p>
            <a:r>
              <a:t>It has been confidently declared solved at least three times, and it has collapsed at</a:t>
            </a:r>
          </a:p>
          <a:p>
            <a:r>
              <a:t>least twice. There is a chatbot from 1966 that fooled people just as thoroughly as</a:t>
            </a:r>
          </a:p>
          <a:p>
            <a:r>
              <a:t>today's systems fool people, for reasons that are worth understanding precisely.</a:t>
            </a:r>
          </a:p>
          <a:p/>
          <a:p>
            <a:r>
              <a:t>If you know the shape of the last seventy years, you will be much harder to impress and</a:t>
            </a:r>
          </a:p>
          <a:p>
            <a:r>
              <a:t>much harder to alarm. Both of those are useful professionally.</a:t>
            </a:r>
          </a:p>
          <a:p/>
          <a:p>
            <a:r>
              <a:t>So: seventy years in about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First, the long arc — the whole seventy years in one picture, so you have somewhere to</a:t>
            </a:r>
          </a:p>
          <a:p>
            <a:r>
              <a:t>hang everything else.</a:t>
            </a:r>
          </a:p>
          <a:p/>
          <a:p>
            <a:r>
              <a:t>Then the age of rules. For roughly thirty years, the plan was to write intelligence down</a:t>
            </a:r>
          </a:p>
          <a:p>
            <a:r>
              <a:t>by hand. That approach produced real, useful systems, and then it hit a wall, and the</a:t>
            </a:r>
          </a:p>
          <a:p>
            <a:r>
              <a:t>reasons it hit the wall are still relevant to you.</a:t>
            </a:r>
          </a:p>
          <a:p/>
          <a:p>
            <a:r>
              <a:t>Then ELIZA, 1966. A program of a few hundred lines that convinced people it understood</a:t>
            </a:r>
          </a:p>
          <a:p>
            <a:r>
              <a:t>them. I want to spend proper time on this one, because the mechanism by which it fooled</a:t>
            </a:r>
          </a:p>
          <a:p>
            <a:r>
              <a:t>people is the same mechanism that fools people now.</a:t>
            </a:r>
          </a:p>
          <a:p/>
          <a:p>
            <a:r>
              <a:t>Then the turn to data — the shift from writing rules to counting patterns, which is the</a:t>
            </a:r>
          </a:p>
          <a:p>
            <a:r>
              <a:t>single most important conceptual move in the whole story.</a:t>
            </a:r>
          </a:p>
          <a:p/>
          <a:p>
            <a:r>
              <a:t>Then 2017 and the transformer, the idea underneath every tool you'll use this semester.</a:t>
            </a:r>
          </a:p>
          <a:p/>
          <a:p>
            <a:r>
              <a:t>Then an activity — no devices needed for this one — and finally three patterns that keep</a:t>
            </a:r>
          </a:p>
          <a:p>
            <a:r>
              <a:t>repeating, which are what I actually want you to leave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Let's put the whole thing on one slide before we go anywhere near the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whole story. Six points. Take a moment to look at it.</a:t>
            </a:r>
          </a:p>
          <a:p/>
          <a:p>
            <a:r>
              <a:t>1950 — Alan Turing asks whether machines can think, before there is a field to ask it in.</a:t>
            </a:r>
          </a:p>
          <a:p>
            <a:r>
              <a:t>1956 — a summer workshop at Dartmouth College gives the field its name. 1966 — ELIZA.</a:t>
            </a:r>
          </a:p>
          <a:p>
            <a:r>
              <a:t>1997 — Deep Blue beats Garry Kasparov at chess. 2017 — the transformer architecture is</a:t>
            </a:r>
          </a:p>
          <a:p>
            <a:r>
              <a:t>published. 2022 — generative AI reaches ordinary people at scale.</a:t>
            </a:r>
          </a:p>
          <a:p/>
          <a:p>
            <a:r>
              <a:t>Two things I want you to notice immediately.</a:t>
            </a:r>
          </a:p>
          <a:p/>
          <a:p>
            <a:r>
              <a:t>First, look at the gaps. Forty-seven years between Turing's question and the chess</a:t>
            </a:r>
          </a:p>
          <a:p>
            <a:r>
              <a:t>victory. Twenty years between the chess victory and the transformer. This is not a field</a:t>
            </a:r>
          </a:p>
          <a:p>
            <a:r>
              <a:t>that has been moving fast for seventy years. It's a field that has been mostly slow, with</a:t>
            </a:r>
          </a:p>
          <a:p>
            <a:r>
              <a:t>a few sharp jumps.</a:t>
            </a:r>
          </a:p>
          <a:p/>
          <a:p>
            <a:r>
              <a:t>Second, look at where 2022 sits. Right at the end. Everything you have personally</a:t>
            </a:r>
          </a:p>
          <a:p>
            <a:r>
              <a:t>experienced of this technology is the last sliver of a very long story. When someone</a:t>
            </a:r>
          </a:p>
          <a:p>
            <a:r>
              <a:t>tells you that AI is brand new, or that nobody could have predicted any of this — they</a:t>
            </a:r>
          </a:p>
          <a:p>
            <a:r>
              <a:t>are describing the last three years of a seventy-year project.</a:t>
            </a:r>
          </a:p>
          <a:p/>
          <a:p>
            <a:r>
              <a:t>Let's walk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1950. Alan Turing publishes a paper called "Computing Machinery and Intelligence."</a:t>
            </a:r>
          </a:p>
          <a:p/>
          <a:p>
            <a:r>
              <a:t>He opens by asking "Can machines think?" — and then does something clever. He argues that</a:t>
            </a:r>
          </a:p>
          <a:p>
            <a:r>
              <a:t>the question is too vague to be answerable, because we can't agree on what "think" means.</a:t>
            </a:r>
          </a:p>
          <a:p>
            <a:r>
              <a:t>So he replaces it with something testable: can a machine's written replies be reliably</a:t>
            </a:r>
          </a:p>
          <a:p>
            <a:r>
              <a:t>told apart from a person's?</a:t>
            </a:r>
          </a:p>
          <a:p/>
          <a:p>
            <a:r>
              <a:t>That's usually called the Turing test, though he called it the imitation game.</a:t>
            </a:r>
          </a:p>
          <a:p/>
          <a:p>
            <a:r>
              <a:t>Why does a paper from 1950 still matter to you? Three reasons.</a:t>
            </a:r>
          </a:p>
          <a:p/>
          <a:p>
            <a:r>
              <a:t>Turing moved the question from what a machine *is* to what a machine can *do*. That move</a:t>
            </a:r>
          </a:p>
          <a:p>
            <a:r>
              <a:t>is still with us. Every benchmark, every evaluation, every "the model scored X percent"</a:t>
            </a:r>
          </a:p>
          <a:p>
            <a:r>
              <a:t>claim you'll ever read inherits that decision. We do not test whether these systems</a:t>
            </a:r>
          </a:p>
          <a:p>
            <a:r>
              <a:t>understand. We test what they produce.</a:t>
            </a:r>
          </a:p>
          <a:p/>
          <a:p>
            <a:r>
              <a:t>And the third point is the sharp one, and it's the reason this is in week two rather than</a:t>
            </a:r>
          </a:p>
          <a:p>
            <a:r>
              <a:t>week thirteen. If your test is "can it produce output indistinguishable from a person's,"</a:t>
            </a:r>
          </a:p>
          <a:p>
            <a:r>
              <a:t>then a system can pass without understanding anything at all.</a:t>
            </a:r>
          </a:p>
          <a:p/>
          <a:p>
            <a:r>
              <a:t>Turing knew that. Sixteen years later, somebody demonstrated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1956. A summer workshop at Dartmouth College. This is the founding moment — it's where</a:t>
            </a:r>
          </a:p>
          <a:p>
            <a:r>
              <a:t>the field gets organised, and where John McCarthy coins the actual phrase "artificial</a:t>
            </a:r>
          </a:p>
          <a:p>
            <a:r>
              <a:t>intelligence" for the funding proposal.</a:t>
            </a:r>
          </a:p>
          <a:p/>
          <a:p>
            <a:r>
              <a:t>Read what the proposal claimed. Two things. First, that every aspect of learning and</a:t>
            </a:r>
          </a:p>
          <a:p>
            <a:r>
              <a:t>intelligence could in principle be described precisely enough that a machine could</a:t>
            </a:r>
          </a:p>
          <a:p>
            <a:r>
              <a:t>simulate it. That's a genuine philosophical position and it is still an open question —</a:t>
            </a:r>
          </a:p>
          <a:p>
            <a:r>
              <a:t>serious people still disagree about it.</a:t>
            </a:r>
          </a:p>
          <a:p/>
          <a:p>
            <a:r>
              <a:t>Second, that significant progress could be made by a small group of researchers working</a:t>
            </a:r>
          </a:p>
          <a:p>
            <a:r>
              <a:t>together over a single summer.</a:t>
            </a:r>
          </a:p>
          <a:p/>
          <a:p>
            <a:r>
              <a:t>One summer.</a:t>
            </a:r>
          </a:p>
          <a:p/>
          <a:p>
            <a:r>
              <a:t>That second claim was wrong by roughly seventy years, and we're arguably not done.</a:t>
            </a:r>
          </a:p>
          <a:p/>
          <a:p>
            <a:r>
              <a:t>I'm not telling you this to mock them. These were serious, brilliant people. I'm telling</a:t>
            </a:r>
          </a:p>
          <a:p>
            <a:r>
              <a:t>you because it's the first instance of a pattern you'll see three more times today: the</a:t>
            </a:r>
          </a:p>
          <a:p>
            <a:r>
              <a:t>core insight is often right, and the timeline is almost always catastrophically</a:t>
            </a:r>
          </a:p>
          <a:p>
            <a:r>
              <a:t>optimistic. Hold onto that. It's the single most useful thing history gives you when</a:t>
            </a:r>
          </a:p>
          <a:p>
            <a:r>
              <a:t>somebody tells you what AI will do by next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The age of rules — roughly the 1950s through the 1980s. Thirty years of trying</a:t>
            </a:r>
          </a:p>
          <a:p>
            <a:r>
              <a:t>to write intelligence down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idea was reasonable. If a human expert can explain what they do, then we can write</a:t>
            </a:r>
          </a:p>
          <a:p>
            <a:r>
              <a:t>down what they explained, and the machine can follow it.</a:t>
            </a:r>
          </a:p>
          <a:p/>
          <a:p>
            <a:r>
              <a:t>So you build rules. IF the patient has this symptom AND that test result, THEN consider</a:t>
            </a:r>
          </a:p>
          <a:p>
            <a:r>
              <a:t>this diagnosis. Thousands of them.</a:t>
            </a:r>
          </a:p>
          <a:p/>
          <a:p>
            <a:r>
              <a:t>And it genuinely worked, for a while. MYCIN, developed at Stanford in the 1970s,</a:t>
            </a:r>
          </a:p>
          <a:p>
            <a:r>
              <a:t>recommended antibiotic treatments for blood infections, and in evaluations it performed</a:t>
            </a:r>
          </a:p>
          <a:p>
            <a:r>
              <a:t>comparably to specialists. That's a real result. By the 1980s "expert systems" were an</a:t>
            </a:r>
          </a:p>
          <a:p>
            <a:r>
              <a:t>actual commercial industry with actual revenue.</a:t>
            </a:r>
          </a:p>
          <a:p/>
          <a:p>
            <a:r>
              <a:t>But look at the last line, because it's where the whole approach dies.</a:t>
            </a:r>
          </a:p>
          <a:p/>
          <a:p>
            <a:r>
              <a:t>This required an expert who could articulate every rule — every single one, explicitly,</a:t>
            </a:r>
          </a:p>
          <a:p>
            <a:r>
              <a:t>in words. And it required a person to sit with that expert and write them all down.</a:t>
            </a:r>
          </a:p>
          <a:p/>
          <a:p>
            <a:r>
              <a:t>Now think about your own field for a second. Think about something you know how to do</a:t>
            </a:r>
          </a:p>
          <a:p>
            <a:r>
              <a:t>well. Could you write down every rule you follow? Completely? Including the exceptions,</a:t>
            </a:r>
          </a:p>
          <a:p>
            <a:r>
              <a:t>and the exceptions to the exceptions, and the things you do because something feels</a:t>
            </a:r>
          </a:p>
          <a:p>
            <a:r>
              <a:t>wrong?</a:t>
            </a:r>
          </a:p>
          <a:p/>
          <a:p>
            <a:r>
              <a:t>Almost nobody can. Most expertise isn't available to the expert as a list of rules. And</a:t>
            </a:r>
          </a:p>
          <a:p>
            <a:r>
              <a:t>that turned out to be the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1966. Joseph Weizenbaum, at MIT, writes a program called ELIZA. A few hundred lines of</a:t>
            </a:r>
          </a:p>
          <a:p>
            <a:r>
              <a:t>pattern matching.</a:t>
            </a:r>
          </a:p>
          <a:p/>
          <a:p>
            <a:r>
              <a:t>Its most famous script imitated a Rogerian psychotherapist — and that choice was tactical,</a:t>
            </a:r>
          </a:p>
          <a:p>
            <a:r>
              <a:t>because a therapist who mostly reflects your statements back at you can deflect almost</a:t>
            </a:r>
          </a:p>
          <a:p>
            <a:r>
              <a:t>anything without needing to know what you're talking about.</a:t>
            </a:r>
          </a:p>
          <a:p/>
          <a:p>
            <a:r>
              <a:t>Look at the example. You type "I am unhappy." It replies "Do you think coming here will</a:t>
            </a:r>
          </a:p>
          <a:p>
            <a:r>
              <a:t>help you not to be unhappy?" It has taken your words, applied a template, and handed them</a:t>
            </a:r>
          </a:p>
          <a:p>
            <a:r>
              <a:t>back as a question.</a:t>
            </a:r>
          </a:p>
          <a:p/>
          <a:p>
            <a:r>
              <a:t>Here is what ELIZA contained: no knowledge. No memory of the conversation. No model of</a:t>
            </a:r>
          </a:p>
          <a:p>
            <a:r>
              <a:t>you, no model of itself, no representation of what unhappiness is. It matched keywords</a:t>
            </a:r>
          </a:p>
          <a:p>
            <a:r>
              <a:t>and reflected sentences. That is the entire mechanism.</a:t>
            </a:r>
          </a:p>
          <a:p/>
          <a:p>
            <a:r>
              <a:t>And people confided in it. Genuinely. People disclosed personal problems to it. There are</a:t>
            </a:r>
          </a:p>
          <a:p>
            <a:r>
              <a:t>accounts of people asking to be left alone with it. And crucially, when told how simple it</a:t>
            </a:r>
          </a:p>
          <a:p>
            <a:r>
              <a:t>was, many of them did not believe it — or believed it and kept talking to it anyway.</a:t>
            </a:r>
          </a:p>
          <a:p/>
          <a:p>
            <a:r>
              <a:t>Weizenbaum was so disturbed by his own program that he spent much of his later career</a:t>
            </a:r>
          </a:p>
          <a:p>
            <a:r>
              <a:t>arguing against the direction of the field. He built the thing, and the reaction to it</a:t>
            </a:r>
          </a:p>
          <a:p>
            <a:r>
              <a:t>frightened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reasons this matters to you in 2026.</a:t>
            </a:r>
          </a:p>
          <a:p/>
          <a:p>
            <a:r>
              <a:t>First: the illusion was ours, not the program's. ELIZA was not trying to deceive anybody —</a:t>
            </a:r>
          </a:p>
          <a:p>
            <a:r>
              <a:t>it had no capacity to try anything. The sense of being understood was manufactured</a:t>
            </a:r>
          </a:p>
          <a:p>
            <a:r>
              <a:t>entirely by the human reading the output. That tells you something uncomfortable: fluent,</a:t>
            </a:r>
          </a:p>
          <a:p>
            <a:r>
              <a:t>relevant-sounding language is by itself sufficient to produce the feeling of being</a:t>
            </a:r>
          </a:p>
          <a:p>
            <a:r>
              <a:t>understood. Nothing needs to be behind it.</a:t>
            </a:r>
          </a:p>
          <a:p/>
          <a:p>
            <a:r>
              <a:t>Second: this has a name. The ELIZA effect — the tendency to attribute understanding,</a:t>
            </a:r>
          </a:p>
          <a:p>
            <a:r>
              <a:t>intention, and knowledge to a system that is producing plausible language. Named in 1966.</a:t>
            </a:r>
          </a:p>
          <a:p>
            <a:r>
              <a:t>It is still, sixty years later, the single most common error people make with these tools.</a:t>
            </a:r>
          </a:p>
          <a:p/>
          <a:p>
            <a:r>
              <a:t>Third, and this is the one to write down. The systems got enormously better. We did not.</a:t>
            </a:r>
          </a:p>
          <a:p>
            <a:r>
              <a:t>The psychological mechanism that made people trust ELIZA is exactly the mechanism</a:t>
            </a:r>
          </a:p>
          <a:p>
            <a:r>
              <a:t>operating on you when a modern system gives you a confident, well-structured answer.</a:t>
            </a:r>
          </a:p>
          <a:p>
            <a:r>
              <a:t>Your sense that it knows what it's talking about is not evidence that it does.</a:t>
            </a:r>
          </a:p>
          <a:p/>
          <a:p>
            <a:r>
              <a:t>That is a direct line from 1966 to last week's failure signatures. Overconfidence works</a:t>
            </a:r>
          </a:p>
          <a:p>
            <a:r>
              <a:t>on us because fluency works on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why did it end? Three walls.</a:t>
            </a:r>
          </a:p>
          <a:p/>
          <a:p>
            <a:r>
              <a:t>Brittleness. The rules covered the cases somebody had thought of. Reality kept producing</a:t>
            </a:r>
          </a:p>
          <a:p>
            <a:r>
              <a:t>cases nobody thought of. And a rule-based system has no way to fail gracefully — it</a:t>
            </a:r>
          </a:p>
          <a:p>
            <a:r>
              <a:t>doesn't produce a slightly worse answer at the edges, it just stops working or produces</a:t>
            </a:r>
          </a:p>
          <a:p>
            <a:r>
              <a:t>nonsense. There's no "roughly right."</a:t>
            </a:r>
          </a:p>
          <a:p/>
          <a:p>
            <a:r>
              <a:t>The knowledge bottleneck. Every rule had to be extracted from a human expert, by hand,</a:t>
            </a:r>
          </a:p>
          <a:p>
            <a:r>
              <a:t>through interviews. And as we said — experts cannot articulate most of what they know. So</a:t>
            </a:r>
          </a:p>
          <a:p>
            <a:r>
              <a:t>extraction was slow, incomplete, and expensive. Slower, in fact, than the domains</a:t>
            </a:r>
          </a:p>
          <a:p>
            <a:r>
              <a:t>themselves changed. You'd finish encoding the medical guidelines and the guidelines would</a:t>
            </a:r>
          </a:p>
          <a:p>
            <a:r>
              <a:t>have been updated.</a:t>
            </a:r>
          </a:p>
          <a:p/>
          <a:p>
            <a:r>
              <a:t>And ambiguity. Ordinary language simply resists rules. The classic example: "He saw the</a:t>
            </a:r>
          </a:p>
          <a:p>
            <a:r>
              <a:t>man with the telescope." Did he use a telescope to see the man, or did he see a man who</a:t>
            </a:r>
          </a:p>
          <a:p>
            <a:r>
              <a:t>had a telescope? You resolved that instantly, using context, and no reasonable set of</a:t>
            </a:r>
          </a:p>
          <a:p>
            <a:r>
              <a:t>hand-written rules settles it.</a:t>
            </a:r>
          </a:p>
          <a:p/>
          <a:p>
            <a:r>
              <a:t>Language is full of this. Every sentence. And that's fatal for an approach built on</a:t>
            </a:r>
          </a:p>
          <a:p>
            <a:r>
              <a:t>writing down explicit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Twice, the field collapsed. These are called the AI winters.</a:t>
            </a:r>
          </a:p>
          <a:p/>
          <a:p>
            <a:r>
              <a:t>The first, roughly 1974 to 1980. Government funding was cut sharply on both sides of the</a:t>
            </a:r>
          </a:p>
          <a:p>
            <a:r>
              <a:t>Atlantic after critical reviews concluded the field had not delivered what it promised.</a:t>
            </a:r>
          </a:p>
          <a:p/>
          <a:p>
            <a:r>
              <a:t>The second, roughly 1987 to 1993, when the market for specialised AI hardware collapsed</a:t>
            </a:r>
          </a:p>
          <a:p>
            <a:r>
              <a:t>and the expert systems industry went with it.</a:t>
            </a:r>
          </a:p>
          <a:p/>
          <a:p>
            <a:r>
              <a:t>Now read the bold line, because this is the part people get wrong. What caused the winters</a:t>
            </a:r>
          </a:p>
          <a:p>
            <a:r>
              <a:t>was not that the technology failed. Real systems existed and did real work. What caused</a:t>
            </a:r>
          </a:p>
          <a:p>
            <a:r>
              <a:t>them was the gap between what had been promised and what was delivered.</a:t>
            </a:r>
          </a:p>
          <a:p/>
          <a:p>
            <a:r>
              <a:t>And look at the promises. Herbert Simon, 1965 — a Nobel laureate, one of the most serious</a:t>
            </a:r>
          </a:p>
          <a:p>
            <a:r>
              <a:t>thinkers of the century — machines will be capable, within twenty years, of doing any work</a:t>
            </a:r>
          </a:p>
          <a:p>
            <a:r>
              <a:t>a man can do. Marvin Minsky, 1970, in a magazine interview — in from three to eight years</a:t>
            </a:r>
          </a:p>
          <a:p>
            <a:r>
              <a:t>we will have a machine with the general intelligence of an average human being.</a:t>
            </a:r>
          </a:p>
          <a:p/>
          <a:p>
            <a:r>
              <a:t>Three to eight years. From 1970.</a:t>
            </a:r>
          </a:p>
          <a:p/>
          <a:p>
            <a:r>
              <a:t>These were not cranks. These were the leading figures in the field, and they were</a:t>
            </a:r>
          </a:p>
          <a:p>
            <a:r>
              <a:t>spectacularly wrong about timing while being at least partly right about direction.</a:t>
            </a:r>
          </a:p>
          <a:p/>
          <a:p>
            <a:r>
              <a:t>I want you to remember these two quotes the next time you read a confident prediction</a:t>
            </a:r>
          </a:p>
          <a:p>
            <a:r>
              <a:t>about what AI will do by 2028. Not because the prediction is necessarily wrong — but</a:t>
            </a:r>
          </a:p>
          <a:p>
            <a:r>
              <a:t>because you now know the base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The single most important conceptual shift in the whole story — and the one</a:t>
            </a:r>
          </a:p>
          <a:p>
            <a:r>
              <a:t>that actually explains the tools you'll use in week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whole intellectual arc in four boxes. I'd like you to be able to reproduce</a:t>
            </a:r>
          </a:p>
          <a:p>
            <a:r>
              <a:t>this diagram from memory — it will show up on an exam and it's genuinely the map of the</a:t>
            </a:r>
          </a:p>
          <a:p>
            <a:r>
              <a:t>field.</a:t>
            </a:r>
          </a:p>
          <a:p/>
          <a:p>
            <a:r>
              <a:t>Rules. Humans write down what to do. Brittle, and limited by what experts can put into</a:t>
            </a:r>
          </a:p>
          <a:p>
            <a:r>
              <a:t>words. That's where we've just been.</a:t>
            </a:r>
          </a:p>
          <a:p/>
          <a:p>
            <a:r>
              <a:t>Statistics. Instead of writing rules, count patterns across enormous collections of text.</a:t>
            </a:r>
          </a:p>
          <a:p>
            <a:r>
              <a:t>Don't try to encode what is correct — learn what is likely. This is the big move, and I'll</a:t>
            </a:r>
          </a:p>
          <a:p>
            <a:r>
              <a:t>come back to it.</a:t>
            </a:r>
          </a:p>
          <a:p/>
          <a:p>
            <a:r>
              <a:t>Neural networks. Rather than a human deciding which features of the data matter, the</a:t>
            </a:r>
          </a:p>
          <a:p>
            <a:r>
              <a:t>system learns layered representations directly from the data.</a:t>
            </a:r>
          </a:p>
          <a:p/>
          <a:p>
            <a:r>
              <a:t>Transformers. Weigh every word against every other word simultaneously. This is the</a:t>
            </a:r>
          </a:p>
          <a:p>
            <a:r>
              <a:t>architecture underneath everything you'll touch this semester.</a:t>
            </a:r>
          </a:p>
          <a:p/>
          <a:p>
            <a:r>
              <a:t>And read the caption, because it's the thing to actually understand: each era didn't so</a:t>
            </a:r>
          </a:p>
          <a:p>
            <a:r>
              <a:t>much replace the last as absorb it. The direction is constant across seventy years. Less</a:t>
            </a:r>
          </a:p>
          <a:p>
            <a:r>
              <a:t>hand-written. More learned from data. Every single shift goes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turn, and it happened first in machine translation.</a:t>
            </a:r>
          </a:p>
          <a:p/>
          <a:p>
            <a:r>
              <a:t>Through the late 1980s and 1990s, researchers at IBM and elsewhere moved from encoding</a:t>
            </a:r>
          </a:p>
          <a:p>
            <a:r>
              <a:t>grammar rules to doing statistics. Instead of writing down how French works and how</a:t>
            </a:r>
          </a:p>
          <a:p>
            <a:r>
              <a:t>English works and how to map between them, you take large collections of the same</a:t>
            </a:r>
          </a:p>
          <a:p>
            <a:r>
              <a:t>documents in both languages, and you count how often things co-occur.</a:t>
            </a:r>
          </a:p>
          <a:p/>
          <a:p>
            <a:r>
              <a:t>The resulting system has no theory of grammar. None. It has counts.</a:t>
            </a:r>
          </a:p>
          <a:p/>
          <a:p>
            <a:r>
              <a:t>And here's the uncomfortable result, which is the bold line: the systems that knew less</a:t>
            </a:r>
          </a:p>
          <a:p>
            <a:r>
              <a:t>about language performed better than the systems that had been carefully taught how</a:t>
            </a:r>
          </a:p>
          <a:p>
            <a:r>
              <a:t>language works.</a:t>
            </a:r>
          </a:p>
          <a:p/>
          <a:p>
            <a:r>
              <a:t>That was genuinely humiliating for a lot of very good linguists, and it produced a famous</a:t>
            </a:r>
          </a:p>
          <a:p>
            <a:r>
              <a:t>line attributed to Frederick Jelinek at IBM: "Every time I fire a linguist, the</a:t>
            </a:r>
          </a:p>
          <a:p>
            <a:r>
              <a:t>performance of the speech recogniser goes up."</a:t>
            </a:r>
          </a:p>
          <a:p/>
          <a:p>
            <a:r>
              <a:t>I'll note honestly that Jelinek later said he couldn't remember saying it in those words.</a:t>
            </a:r>
          </a:p>
          <a:p>
            <a:r>
              <a:t>But the field remembered it and repeated it for thirty years, and that tells you how the</a:t>
            </a:r>
          </a:p>
          <a:p>
            <a:r>
              <a:t>shift felt to the people living through it.</a:t>
            </a:r>
          </a:p>
          <a:p/>
          <a:p>
            <a:r>
              <a:t>Why does this matter to you? Because it's the origin of the thing we said in week one:</a:t>
            </a:r>
          </a:p>
          <a:p>
            <a:r>
              <a:t>these systems predict what is likely, not what is true. That property isn't a bug someone</a:t>
            </a:r>
          </a:p>
          <a:p>
            <a:r>
              <a:t>introduced recently. It is the foundational design decision of the entire modern field,</a:t>
            </a:r>
          </a:p>
          <a:p>
            <a:r>
              <a:t>made deliberately, in the 1990s, because it worked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Around 2013, a set of practical techniques arrives for representing words as positions in</a:t>
            </a:r>
          </a:p>
          <a:p>
            <a:r>
              <a:t>a mathematical space. You'll hear these called embeddings.</a:t>
            </a:r>
          </a:p>
          <a:p/>
          <a:p>
            <a:r>
              <a:t>The idea: words that appear in similar contexts end up near each other. "Doctor" ends up</a:t>
            </a:r>
          </a:p>
          <a:p>
            <a:r>
              <a:t>near "nurse" and "hospital." "Bank" ends up sitting awkwardly between money words and</a:t>
            </a:r>
          </a:p>
          <a:p>
            <a:r>
              <a:t>river words, because it genuinely is used both ways.</a:t>
            </a:r>
          </a:p>
          <a:p/>
          <a:p>
            <a:r>
              <a:t>And the key point, in bold: nobody defined any of those relationships. No one told it that</a:t>
            </a:r>
          </a:p>
          <a:p>
            <a:r>
              <a:t>doctors and nurses are related. It fell out of counting which words appear near which</a:t>
            </a:r>
          </a:p>
          <a:p>
            <a:r>
              <a:t>other words, across an enormous amount of text.</a:t>
            </a:r>
          </a:p>
          <a:p/>
          <a:p>
            <a:r>
              <a:t>Now the part that matters ethically, and we'll return to it properly in week thirteen.</a:t>
            </a:r>
          </a:p>
          <a:p>
            <a:r>
              <a:t>This is where bias stops being an abstract worry and becomes measurable. If the text a</a:t>
            </a:r>
          </a:p>
          <a:p>
            <a:r>
              <a:t>system reads consistently associates certain occupations with certain genders, then the</a:t>
            </a:r>
          </a:p>
          <a:p>
            <a:r>
              <a:t>positions record that association. You can measure it. You can point at it.</a:t>
            </a:r>
          </a:p>
          <a:p/>
          <a:p>
            <a:r>
              <a:t>And I want to be precise about what's happening, because students often get this wrong.</a:t>
            </a:r>
          </a:p>
          <a:p>
            <a:r>
              <a:t>The model is not being unfair. It has no capacity to be fair or unfair. It is reporting</a:t>
            </a:r>
          </a:p>
          <a:p>
            <a:r>
              <a:t>the shape of what it read. If the shape of what it read is unjust, the system will</a:t>
            </a:r>
          </a:p>
          <a:p>
            <a:r>
              <a:t>faithfully reproduce that injustice — and it will do so fluently and confidently, which is</a:t>
            </a:r>
          </a:p>
          <a:p>
            <a:r>
              <a:t>exactly what makes it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The paper that produced the tools you'll use in week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2017. A Google research paper with a memorable title: "Attention Is All You Need." This</a:t>
            </a:r>
          </a:p>
          <a:p>
            <a:r>
              <a:t>is the origin of the architecture underneath essentially every system you will use in this</a:t>
            </a:r>
          </a:p>
          <a:p>
            <a:r>
              <a:t>course.</a:t>
            </a:r>
          </a:p>
          <a:p/>
          <a:p>
            <a:r>
              <a:t>What problem did it solve? Earlier neural approaches read text roughly in order, one piece</a:t>
            </a:r>
          </a:p>
          <a:p>
            <a:r>
              <a:t>at a time, and they struggled to carry information across long distances. By the end of a</a:t>
            </a:r>
          </a:p>
          <a:p>
            <a:r>
              <a:t>long paragraph, the beginning had faded.</a:t>
            </a:r>
          </a:p>
          <a:p/>
          <a:p>
            <a:r>
              <a:t>The transformer's move is to weigh every word against every other word in the passage,</a:t>
            </a:r>
          </a:p>
          <a:p>
            <a:r>
              <a:t>simultaneously. That's what "attention" means here — for each word, how much should each</a:t>
            </a:r>
          </a:p>
          <a:p>
            <a:r>
              <a:t>other word matter to understanding it?</a:t>
            </a:r>
          </a:p>
          <a:p/>
          <a:p>
            <a:r>
              <a:t>Here's the example that makes it concrete, and it's worth doing slowly.</a:t>
            </a:r>
          </a:p>
          <a:p/>
          <a:p>
            <a:r>
              <a:t>"The trophy would not fit in the suitcase because it was too large."</a:t>
            </a:r>
          </a:p>
          <a:p/>
          <a:p>
            <a:r>
              <a:t>What does "it" refer to? The trophy. Obviously — you didn't even notice yourself deciding.</a:t>
            </a:r>
          </a:p>
          <a:p/>
          <a:p>
            <a:r>
              <a:t>Now change one word. "The trophy would not fit in the suitcase because it was too small."</a:t>
            </a:r>
          </a:p>
          <a:p/>
          <a:p>
            <a:r>
              <a:t>Now "it" is the suitcase. One adjective, at the end of the sentence, flipped what a pronoun</a:t>
            </a:r>
          </a:p>
          <a:p>
            <a:r>
              <a:t>in the middle refers to.</a:t>
            </a:r>
          </a:p>
          <a:p/>
          <a:p>
            <a:r>
              <a:t>To resolve that, you have to weigh words against each other across the whole sentence. You</a:t>
            </a:r>
          </a:p>
          <a:p>
            <a:r>
              <a:t>cannot do it by reading left to right and forgetting as you go. That is precisely what</a:t>
            </a:r>
          </a:p>
          <a:p>
            <a:r>
              <a:t>attention does, and that is why this architecture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something happened that was not guaranteed.</a:t>
            </a:r>
          </a:p>
          <a:p/>
          <a:p>
            <a:r>
              <a:t>The architecture turned out to keep improving as you gave it more data and more</a:t>
            </a:r>
          </a:p>
          <a:p>
            <a:r>
              <a:t>computation. I want to stress that this was not obviously going to be true. Plenty of</a:t>
            </a:r>
          </a:p>
          <a:p>
            <a:r>
              <a:t>approaches in the history of this field improve for a while and then flatten out. This one</a:t>
            </a:r>
          </a:p>
          <a:p>
            <a:r>
              <a:t>kept going, for longer than most people expected.</a:t>
            </a:r>
          </a:p>
          <a:p/>
          <a:p>
            <a:r>
              <a:t>And at larger scales, capabilities showed up that nobody had specifically trained for.</a:t>
            </a:r>
          </a:p>
          <a:p>
            <a:r>
              <a:t>Following instructions written in ordinary language. Learning a task from one or two</a:t>
            </a:r>
          </a:p>
          <a:p>
            <a:r>
              <a:t>examples given in the prompt itself. Producing usable translation, summary, and code</a:t>
            </a:r>
          </a:p>
          <a:p>
            <a:r>
              <a:t>without being trained for those tasks individually.</a:t>
            </a:r>
          </a:p>
          <a:p/>
          <a:p>
            <a:r>
              <a:t>That's the thing that made this different from previous eras. Not that it was better at a</a:t>
            </a:r>
          </a:p>
          <a:p>
            <a:r>
              <a:t>task — that it could do tasks it wasn't built for, described to it in words.</a:t>
            </a:r>
          </a:p>
          <a:p/>
          <a:p>
            <a:r>
              <a:t>Last line, and I'm being deliberately careful here: whether these are genuinely new</a:t>
            </a:r>
          </a:p>
          <a:p>
            <a:r>
              <a:t>abilities that appear at a threshold, or whether they're artefacts of how we choose to</a:t>
            </a:r>
          </a:p>
          <a:p>
            <a:r>
              <a:t>measure performance, is still argued about by serious researchers. I'm not going to tell</a:t>
            </a:r>
          </a:p>
          <a:p>
            <a:r>
              <a:t>you it's settled. It isn't.</a:t>
            </a:r>
          </a:p>
          <a:p/>
          <a:p>
            <a:r>
              <a:t>Which is itself a useful lesson for this course: a lot of what you'll read stated</a:t>
            </a:r>
          </a:p>
          <a:p>
            <a:r>
              <a:t>confidently online is, in the actual literature, contested.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2022. And here's the thing to understand: the technology was not new in 2022. The</a:t>
            </a:r>
          </a:p>
          <a:p>
            <a:r>
              <a:t>architecture was five years old. Large models had existed for years and researchers had</a:t>
            </a:r>
          </a:p>
          <a:p>
            <a:r>
              <a:t>been using them.</a:t>
            </a:r>
          </a:p>
          <a:p/>
          <a:p>
            <a:r>
              <a:t>What changed was access. A conversational interface, free, requiring no technical</a:t>
            </a:r>
          </a:p>
          <a:p>
            <a:r>
              <a:t>knowledge — you type, it answers. Adoption was extraordinarily fast, faster than almost</a:t>
            </a:r>
          </a:p>
          <a:p>
            <a:r>
              <a:t>any consumer technology before it.</a:t>
            </a:r>
          </a:p>
          <a:p/>
          <a:p>
            <a:r>
              <a:t>Now the consequence, and this is why the whole history lesson has been pointing here.</a:t>
            </a:r>
          </a:p>
          <a:p/>
          <a:p>
            <a:r>
              <a:t>Hundreds of millions of people began relying, daily, on a system that nobody had taught</a:t>
            </a:r>
          </a:p>
          <a:p>
            <a:r>
              <a:t>them how to evaluate. There was no course. There was no professional training. The</a:t>
            </a:r>
          </a:p>
          <a:p>
            <a:r>
              <a:t>capability arrived everywhere, at once, and the judgment required to use it well did not</a:t>
            </a:r>
          </a:p>
          <a:p>
            <a:r>
              <a:t>arrive with it.</a:t>
            </a:r>
          </a:p>
          <a:p/>
          <a:p>
            <a:r>
              <a:t>That gap is the reason this course exists. And closing it, for the thirty or so of you in</a:t>
            </a:r>
          </a:p>
          <a:p>
            <a:r>
              <a:t>this room, is what the remaining twelve weeks are for.</a:t>
            </a:r>
          </a:p>
          <a:p/>
          <a:p>
            <a:r>
              <a:t>That's the history. Let's do something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five. This activity needs no devices at all — just your judgment. If you'd rather sit</a:t>
            </a:r>
          </a:p>
          <a:p>
            <a:r>
              <a:t>and think quietly, that works too; I'll give the answers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minutes, no devices needed. I'll read four descriptions. For each one, write down the</a:t>
            </a:r>
          </a:p>
          <a:p>
            <a:r>
              <a:t>year you think it happened. Just a number. Don't discuss yet.</a:t>
            </a:r>
          </a:p>
          <a:p/>
          <a:p>
            <a:r>
              <a:t>A. A conversational program that people confide personal problems to, and who refuse to</a:t>
            </a:r>
          </a:p>
          <a:p>
            <a:r>
              <a:t>believe it doesn't really understand them.</a:t>
            </a:r>
          </a:p>
          <a:p/>
          <a:p>
            <a:r>
              <a:t>B. A senior researcher predicts that machines will be capable of doing any work a human</a:t>
            </a:r>
          </a:p>
          <a:p>
            <a:r>
              <a:t>can do, within twenty years.</a:t>
            </a:r>
          </a:p>
          <a:p/>
          <a:p>
            <a:r>
              <a:t>C. A machine defeats the reigning world champion at chess.</a:t>
            </a:r>
          </a:p>
          <a:p/>
          <a:p>
            <a:r>
              <a:t>D. Software identifies objects in ordinary photographs far more accurately than anything</a:t>
            </a:r>
          </a:p>
          <a:p>
            <a:r>
              <a:t>before it.</a:t>
            </a:r>
          </a:p>
          <a:p/>
          <a:p>
            <a:r>
              <a:t>Write four years. Take two minutes.</a:t>
            </a:r>
          </a:p>
          <a:p/>
          <a:p>
            <a:r>
              <a:t>[Then, if the room is willing, take a show of hands for each: "who said after 2015 for A?"</a:t>
            </a:r>
          </a:p>
          <a:p>
            <a:r>
              <a:t>The hands are the lesson. If nobody engages, just move to the answers — they work fine</a:t>
            </a:r>
          </a:p>
          <a:p>
            <a:r>
              <a:t>read aloud.]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answers, and I'd guess most of you were late on at least two.</a:t>
            </a:r>
          </a:p>
          <a:p/>
          <a:p>
            <a:r>
              <a:t>A — 1966. ELIZA. Sixty years ago.</a:t>
            </a:r>
          </a:p>
          <a:p/>
          <a:p>
            <a:r>
              <a:t>B — 1965. Herbert Simon. Which means the twenty-year deadline expired in 1985.</a:t>
            </a:r>
          </a:p>
          <a:p/>
          <a:p>
            <a:r>
              <a:t>C — 1997. Deep Blue and Kasparov. And here's the detail that matters: Deep Blue won by</a:t>
            </a:r>
          </a:p>
          <a:p>
            <a:r>
              <a:t>searching enormous numbers of positions very fast. It did not learn chess the way modern</a:t>
            </a:r>
          </a:p>
          <a:p>
            <a:r>
              <a:t>systems learn. It's a triumph of engineering and search, not of learning — and at the</a:t>
            </a:r>
          </a:p>
          <a:p>
            <a:r>
              <a:t>time, a great many people said it proved machines could think. It proved nothing of the</a:t>
            </a:r>
          </a:p>
          <a:p>
            <a:r>
              <a:t>kind. It proved that chess is more amenable to search than we assumed.</a:t>
            </a:r>
          </a:p>
          <a:p/>
          <a:p>
            <a:r>
              <a:t>D — 2012. The image recognition result that convinced the research community neural</a:t>
            </a:r>
          </a:p>
          <a:p>
            <a:r>
              <a:t>networks had genuinely arrived. Note that this is ten years before ChatGPT — the</a:t>
            </a:r>
          </a:p>
          <a:p>
            <a:r>
              <a:t>revolution was well underway before any of us noticed it.</a:t>
            </a:r>
          </a:p>
          <a:p/>
          <a:p>
            <a:r>
              <a:t>Now the point of the exercise. Most people place these far too recently, because our sense</a:t>
            </a:r>
          </a:p>
          <a:p>
            <a:r>
              <a:t>of this field's history is compressed into the last three years. If you thought ELIZA was</a:t>
            </a:r>
          </a:p>
          <a:p>
            <a:r>
              <a:t>from the 2010s, you're in very good company, and you've just learned something about how</a:t>
            </a:r>
          </a:p>
          <a:p>
            <a:r>
              <a:t>badly your intuition tracks this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patterns. If you leave today with only one slide, make it this one.</a:t>
            </a:r>
          </a:p>
          <a:p/>
          <a:p>
            <a:r>
              <a:t>Right idea, wrong decade. The direction of predictions in this field has often been</a:t>
            </a:r>
          </a:p>
          <a:p>
            <a:r>
              <a:t>reasonable. The timing has been wrong nearly every time, usually by decades, and usually</a:t>
            </a:r>
          </a:p>
          <a:p>
            <a:r>
              <a:t>in the optimistic direction. So when you read that something will happen by 2028, the</a:t>
            </a:r>
          </a:p>
          <a:p>
            <a:r>
              <a:t>useful response is not "that's wrong" — it's "that's the kind of claim that has been</a:t>
            </a:r>
          </a:p>
          <a:p>
            <a:r>
              <a:t>wrong before, so what would I need to see to believe it?" And note that this applies to</a:t>
            </a:r>
          </a:p>
          <a:p>
            <a:r>
              <a:t>today's predictions too. Including mine.</a:t>
            </a:r>
          </a:p>
          <a:p/>
          <a:p>
            <a:r>
              <a:t>Fluency reads as understanding. From 1966 to right now, humans reliably attribute</a:t>
            </a:r>
          </a:p>
          <a:p>
            <a:r>
              <a:t>comprehension to systems producing plausible language. The systems changed beyond</a:t>
            </a:r>
          </a:p>
          <a:p>
            <a:r>
              <a:t>recognition. Our response to them did not change at all. That's why last week's</a:t>
            </a:r>
          </a:p>
          <a:p>
            <a:r>
              <a:t>overconfidence failure works on smart people — it isn't a knowledge problem, it's a</a:t>
            </a:r>
          </a:p>
          <a:p>
            <a:r>
              <a:t>perceptual one.</a:t>
            </a:r>
          </a:p>
          <a:p/>
          <a:p>
            <a:r>
              <a:t>And the winner is whatever hand-writes less. Rules lost to statistics. Hand-designed</a:t>
            </a:r>
          </a:p>
          <a:p>
            <a:r>
              <a:t>features lost to learned ones. Every major shift in seventy years moved work away from</a:t>
            </a:r>
          </a:p>
          <a:p>
            <a:r>
              <a:t>human specification and towards learning from data. That's the most reliable trend line in</a:t>
            </a:r>
          </a:p>
          <a:p>
            <a:r>
              <a:t>the whole story, and it's a decent guide to which claims about the future are plausible.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has today actually given you? Four things.</a:t>
            </a:r>
          </a:p>
          <a:p/>
          <a:p>
            <a:r>
              <a:t>A base rate. You now know how often confident predictions in this field have been wrong,</a:t>
            </a:r>
          </a:p>
          <a:p>
            <a:r>
              <a:t>and by how much. That is genuinely useful, and most people commenting publicly on AI do</a:t>
            </a:r>
          </a:p>
          <a:p>
            <a:r>
              <a:t>not have it.</a:t>
            </a:r>
          </a:p>
          <a:p/>
          <a:p>
            <a:r>
              <a:t>A name for the central risk. The ELIZA effect. Described in 1966, still operating on</a:t>
            </a:r>
          </a:p>
          <a:p>
            <a:r>
              <a:t>every one of us, every day.</a:t>
            </a:r>
          </a:p>
          <a:p/>
          <a:p>
            <a:r>
              <a:t>And an explanation for something we asserted last week without justifying. These systems</a:t>
            </a:r>
          </a:p>
          <a:p>
            <a:r>
              <a:t>predict what is likely rather than what is true. Now you know why: it was a deliberate</a:t>
            </a:r>
          </a:p>
          <a:p>
            <a:r>
              <a:t>design decision, taken in the 1990s, because it produced better results than the</a:t>
            </a:r>
          </a:p>
          <a:p>
            <a:r>
              <a:t>alternative. It is not a recent flaw that somebody will patch. It is the foundation.</a:t>
            </a:r>
          </a:p>
          <a:p/>
          <a:p>
            <a:r>
              <a:t>Next week we go inside the model. Tokens, context windows, and precisely why hallucination</a:t>
            </a:r>
          </a:p>
          <a:p>
            <a:r>
              <a:t>happens — which, after today, should feel less like a mystery and more like an obvious</a:t>
            </a:r>
          </a:p>
          <a:p>
            <a:r>
              <a:t>consequence of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close. Four things.</a:t>
            </a:r>
          </a:p>
          <a:p/>
          <a:p>
            <a:r>
              <a:t>Seventy years, not three. And two collapses along the way, both caused by the gap between</a:t>
            </a:r>
          </a:p>
          <a:p>
            <a:r>
              <a:t>promise and delivery rather than by technical failure.</a:t>
            </a:r>
          </a:p>
          <a:p/>
          <a:p>
            <a:r>
              <a:t>ELIZA, 1966. Fluency alone was enough to convince people that something understood them.</a:t>
            </a:r>
          </a:p>
          <a:p>
            <a:r>
              <a:t>It still is. That's the thread running from the oldest thing we discussed today straight</a:t>
            </a:r>
          </a:p>
          <a:p>
            <a:r>
              <a:t>into your professional life.</a:t>
            </a:r>
          </a:p>
          <a:p/>
          <a:p>
            <a:r>
              <a:t>The constant direction: away from hand-written rules, towards learning from data. Every</a:t>
            </a:r>
          </a:p>
          <a:p>
            <a:r>
              <a:t>shift, for seventy years, the same way.</a:t>
            </a:r>
          </a:p>
          <a:p/>
          <a:p>
            <a:r>
              <a:t>And right idea, wrong decade — the base rate you should apply to any confident prediction,</a:t>
            </a:r>
          </a:p>
          <a:p>
            <a:r>
              <a:t>including the ones you'll read this week.</a:t>
            </a:r>
          </a:p>
          <a:p/>
          <a:p>
            <a:r>
              <a:t>Next week, inside the model. Tokens, context windows, why hallucination happens.</a:t>
            </a:r>
          </a:p>
          <a:p/>
          <a:p>
            <a:r>
              <a:t>Nothing to prepare.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 for this week:</a:t>
            </a:r>
          </a:p>
          <a:p/>
          <a:p>
            <a:r>
              <a:t>"Are we in another AI winter / will there be one?" — Honest answer: nobody knows, and the</a:t>
            </a:r>
          </a:p>
          <a:p>
            <a:r>
              <a:t>people who say they know have been wrong before. What I'd point at is the pattern: winters</a:t>
            </a:r>
          </a:p>
          <a:p>
            <a:r>
              <a:t>followed gaps between promise and delivery, not technical failure. So the thing to watch</a:t>
            </a:r>
          </a:p>
          <a:p>
            <a:r>
              <a:t>is the size of that gap.</a:t>
            </a:r>
          </a:p>
          <a:p/>
          <a:p>
            <a:r>
              <a:t>"Did Deep Blue really not learn?" — Correct, not in the modern sense. It searched enormous</a:t>
            </a:r>
          </a:p>
          <a:p>
            <a:r>
              <a:t>numbers of positions using hand-crafted evaluation. Systems that learn chess by playing</a:t>
            </a:r>
          </a:p>
          <a:p>
            <a:r>
              <a:t>came much later, and they're a different achievement.</a:t>
            </a:r>
          </a:p>
          <a:p/>
          <a:p>
            <a:r>
              <a:t>"If it's all just statistics, how can it write code?" — Fair question, and week three is</a:t>
            </a:r>
          </a:p>
          <a:p>
            <a:r>
              <a:t>partly an answer. Short version: at sufficient scale, predicting the next piece of text</a:t>
            </a:r>
          </a:p>
          <a:p>
            <a:r>
              <a:t>well requires internal structure that behaves a lot like knowing things. Whether that</a:t>
            </a:r>
          </a:p>
          <a:p>
            <a:r>
              <a:t>counts as understanding is a genuinely open argument.</a:t>
            </a:r>
          </a:p>
          <a:p/>
          <a:p>
            <a:r>
              <a:t>"Is the ELIZA effect avoidable?" — Not really, not by willpower. That's why this course</a:t>
            </a:r>
          </a:p>
          <a:p>
            <a:r>
              <a:t>teaches procedures for checking rather than telling you to be sceptical. Procedures work</a:t>
            </a:r>
          </a:p>
          <a:p>
            <a:r>
              <a:t>when intuition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A Brief History of AI, NLP and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How we got here — and why several of the surprises are 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long arc — seventy years in one picture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age of rules: writing intelligence by hand, and why it stalled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ELIZA, 1966 — the first time people trusted a machine that understood nothing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turn to data: from writing rules to counting patterns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2017 and the transformer — the idea underneath everything you use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Activity: Date the Technology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Three patterns that keep repeating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Long Arc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Seventy Years in One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91640" y="3429000"/>
            <a:ext cx="8808415" cy="31750"/>
          </a:xfrm>
          <a:prstGeom prst="rect">
            <a:avLst/>
          </a:prstGeom>
          <a:solidFill>
            <a:srgbClr val="C9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13916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1950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Turing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"Can machines think?" — the question, before the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5599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8923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1956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The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923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Dartmouth workshop; "artificial intelligence" coined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7282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0606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1966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ELIZA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0606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A chatbot that understood nothing, and convinced people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98965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289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1997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Deep 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289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Beats the world chess champion — by searching, not learning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60648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3972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2017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3972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"Attention Is All You Need" — the modern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2331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5655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2022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Public 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Generative AI reaches ordinary users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1950 — The Question Before the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Alan Turing, "Computing Machinery and Intelligence"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Opens by asking "Can machines think?" — then argues the question is too vague to answer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Replaces it with a test: can a machine's replies be told apart from a person's?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this still matters to you: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Turing moved the question from what a machine *is* to what it can *do*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Every benchmark since has inherited that move — including the ones used today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also means a system can pass the test without understanding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1956 — The Field Gets a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summer workshop at Dartmouth College brings the founding researchers together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John McCarthy coins the term "artificial intelligence" for the proposal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founding proposal claimed: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that every aspect of learning and intelligence could be described precisely enough for a machine to simulate it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and that significant progress could be made by a small group over a single summer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first prediction is still open. The second was wrong by about seventy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Age of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Writing Intelligence by Hand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approach: if a human expert can explain what they do, we can encode it as rules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the patient has this symptom AND that test result, THEN consider this diagnosis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It genuinely worked — for a while: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MYCIN (1970s, Stanford) recommended antibiotic treatments and reportedly matched specialists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By the 1980s, "expert systems" were a real commercial industry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Note what this required: an expert who could articulate every rule, and someone to write them all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1966 — ELIZA, and the Illusion of Understanding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Joseph Weizenbaum, MIT. A few hundred lines of pattern-matching.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Its best-known script imitated a psychotherapist, which let it deflect almost anything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"I am unhappy."  →  "Do you think coming here will help you not to be unhappy?"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It contained no knowledge, no memory, no model of the conversation.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matched keywords and reflected sentences back as questions. That is all.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People confided in it anyway — and did not believe it was that simple.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Weizenbaum was so disturbed by this that he spent much of his later career arguing against the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Why ELIZA Matters in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The illusion is 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sense of being understood was produced entirely by the reader, not the program. Fluent, relevant-sounding language is enough to trigger it. Nothing behind the language is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It has a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tendency to attribute understanding to a system producing plausible language is called the ELIZA effect — named in 1966, and still the most common error people make with these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The systems got better; we did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Today's systems have vastly more behind the language. But the mechanism that makes you trust them is the same one that worked on a few hundred lines in 1966.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Why the Age of Rules Ended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Brittleness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Rules covered the cases someone thought of. Reality kept producing cases nobody thought of, and the system had no way to degrade gracefully — it simply failed.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The knowledge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Every rule had to be extracted from an expert by hand. Experts could not articulate most of what they knew. The extraction was slower than the world changed.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Ambiguity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Ordinary language resists rules. "He saw the man with the telescope" has two readings, and no reasonable set of hand-written rules settles which is meant.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AI Winters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Twice, the field promised far more than it delivered — and funding collapsed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First winter, roughly 1974–1980: government funding cut sharply after critical reviews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Second winter, roughly 1987–1993: the specialised AI hardware market collapsed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What actually caused them was not failure. It was the gap between promise and delivery.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1965: "Machines will be capable, within twenty years, of doing any work a man can do." — Herbert Simon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1970: "In from three to eight years we will have a machine with the general intelligence of an average human being." — Marvin Minsky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Turn to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Four Eras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Rules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Humans write down what to do. Brittle, and limited by what experts can articulate.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Statistics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Count patterns in large text collections. Learn what is likely, not what is correct.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Neural networks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Learn layered representations from data, rather than being given features.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Transformers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Weigh every word against every other word at once. The current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Each era did not replace the last so much as absorb it. The direction is constant: less hand-written, more learned.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From Writing Rules to Counting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In the late 1980s and 1990s, machine translation research moved from grammar rules to statistics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Instead of encoding how a language works, count how often things co-occur in translated texts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system has no theory of grammar at all. It has counts.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uncomfortable result: the systems that knew less about language performed better.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line attributed to IBM's Frederick Jelinek captures the mood of the shift: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"Every time I fire a linguist, the performance of the speech recogniser goes up."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(Jelinek later said he could not recall saying it in those words — but the field remembered it, which tells you something.)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Meaning as Position: Word Embeddings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From around 2013, a practical way to represent words as positions in a space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Words that appear in similar contexts end up near each other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"Doctor" sits near "nurse" and "hospital"; "bank" sits awkwardly between money and rivers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Nobody defined any of these relationships. They fell out of counting context.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This is also where bias becomes measurable: if the text associates certain jobs with certain genders, the positions record it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model is not being unfair. It is reporting the shape of what it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2017 and the Transformer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"Attention Is All You Need"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2017. A Google research paper introduces the transformer architecture.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Earlier systems read text roughly in order, one piece at a time, and struggled to carry information far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transformer weighs every word against every other word in the passage at once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example that makes it concrete: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"The trophy would not fit in the suitcase because it was too large."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What does "it" refer to? Change "large" to "small" and the answer flips.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Resolving that requires weighing distant words against each other — which is what attention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Happened When These Got Bigger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architecture turned out to improve substantially with more data and more computation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This was not obviously going to be true — many approaches stop improving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At larger scales, capabilities appeared that were not specifically trained for: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Following instructions given in ordinary language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Learning a task from one or two examples in the prompt itself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Producing usable translation, summary and code without task-specific training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Whether these are genuinely new abilities or artefacts of how we measure them is still argued about.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2022 — It Reaches Everyone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technology had existed for years. What changed was access.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conversational interface, free to use, requiring no technical knowledge at all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Adoption was extraordinarily fast — faster than almost any consumer technology before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important consequence for this course: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Hundreds of millions of people began relying on a system nobody had taught them to evaluate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capability arrived everywhere at once. The judgment did not.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Closing that gap, for you, is what the remaining twelve weeks are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Activity: Date the Technology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Date the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I'll read four descriptions. For each one, write down the year you think it happened.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conversational program that people confide personal problems to — and who refuse to believe it doesn't understand them.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B.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senior researcher predicts machines will do any work a human can do, within twenty years.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machine defeats the reigning world champion at chess.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Software identifies objects in ordinary photographs far more accurately than anything before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91640" y="3429000"/>
            <a:ext cx="8808415" cy="31750"/>
          </a:xfrm>
          <a:prstGeom prst="rect">
            <a:avLst/>
          </a:prstGeom>
          <a:solidFill>
            <a:srgbClr val="C9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13916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1966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A — ELIZA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People confided in a few hundred lines of pattern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0054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3378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1965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B — Simon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3378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"...within twenty years, of doing any work a man can do"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86192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9516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1997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C — Deep 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9516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Beat Kasparov by searching millions of positions, not by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22331" y="3363976"/>
            <a:ext cx="155448" cy="155448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5655" y="196596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 b="1" i="0">
                <a:solidFill>
                  <a:srgbClr val="0F766E"/>
                </a:solidFill>
                <a:latin typeface="Calibri"/>
              </a:rPr>
              <a:t>2012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D — Image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3703320"/>
            <a:ext cx="1828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333D4B"/>
                </a:solidFill>
                <a:latin typeface="Calibri"/>
              </a:rPr>
              <a:t>The result that convinced the field neural networks had arrived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Three Patterns That Keep Repeating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Right idea, wrong decade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direction of predictions has often been reasonable. The timing has been wrong almost every time, usually by decades and usually too optimistic. Treat any specific date with suspicion — including today's.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Fluency reads as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From ELIZA to now, humans reliably attribute comprehension to systems that produce plausible language. The systems changed enormously. This response did not change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The winner is whatever hand-writes 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Rules lost to statistics; hand-picked features lost to learned ones. Every major shift moved work from human specification to learning 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This History Gives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base rate — you now know how often confident predictions in this field have been wrong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name for the central risk — the ELIZA effect, described sixty years ago and still operating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An explanation for why these systems predict likelihood rather than truth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That was a deliberate design decision in the 1990s, because it worked better. It is not a recent flaw.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 we go inside the model itself: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tokens, context windows, and precisely why hallucination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Seventy years, not three — and two collapses along the way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ELIZA, 1966: fluency alone was enough to convince people. It still 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constant direction: from hand-written rules towards learning from data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Right idea, wrong decade — the base rate for confident predictions in this field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How LLMs Work — tokens, context windows, and why hallucination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2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