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welcome. This is Prompt Engineering and Large Language Models.</a:t>
            </a:r>
          </a:p>
          <a:p>
            <a:r>
              <a:t>I'm Mehmet Ali Akyol.</a:t>
            </a:r>
          </a:p>
          <a:p/>
          <a:p>
            <a:r>
              <a:t>Before anything else, let me say who this course is for, because I know some of you</a:t>
            </a:r>
          </a:p>
          <a:p>
            <a:r>
              <a:t>are checking whether you're in the right room. This is a university-wide elective.</a:t>
            </a:r>
          </a:p>
          <a:p>
            <a:r>
              <a:t>There is no prerequisite. You do not need to know how to program. You will not write</a:t>
            </a:r>
          </a:p>
          <a:p>
            <a:r>
              <a:t>a single line of code that I require you to understand. I have students here from</a:t>
            </a:r>
          </a:p>
          <a:p>
            <a:r>
              <a:t>medicine, from law, from education, from business, from engineering — and that mix</a:t>
            </a:r>
          </a:p>
          <a:p>
            <a:r>
              <a:t>is not a problem I'm working around. It's the point. The most interesting thing that</a:t>
            </a:r>
          </a:p>
          <a:p>
            <a:r>
              <a:t>will happen in this room this semester is a law student and an engineering student</a:t>
            </a:r>
          </a:p>
          <a:p>
            <a:r>
              <a:t>discovering they have the same problem with these systems.</a:t>
            </a:r>
          </a:p>
          <a:p/>
          <a:p>
            <a:r>
              <a:t>Second thing. The title of this course changed this year. It used to be called</a:t>
            </a:r>
          </a:p>
          <a:p>
            <a:r>
              <a:t>Prompt Engineering. It is now Prompt Engineering and Large Language Models. That is</a:t>
            </a:r>
          </a:p>
          <a:p>
            <a:r>
              <a:t>not cosmetic. The course changed underneath the title, and in the next twenty minutes</a:t>
            </a:r>
          </a:p>
          <a:p>
            <a:r>
              <a:t>I'm going to tell you exactly why, because the reason is genuinely interesting and it</a:t>
            </a:r>
          </a:p>
          <a:p>
            <a:r>
              <a:t>tells you something true about the field you're walking into.</a:t>
            </a:r>
          </a:p>
          <a:p/>
          <a:p>
            <a:r>
              <a:t>Let's begin.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where we're going today.</a:t>
            </a:r>
          </a:p>
          <a:p/>
          <a:p>
            <a:r>
              <a:t>We start with why this course exists in 2026, and I'm going to be honest with you</a:t>
            </a:r>
          </a:p>
          <a:p>
            <a:r>
              <a:t>about what has and hasn't survived in this field. Some of what was taught in this</a:t>
            </a:r>
          </a:p>
          <a:p>
            <a:r>
              <a:t>course last year I have deliberately removed, and I'll tell you why.</a:t>
            </a:r>
          </a:p>
          <a:p/>
          <a:p>
            <a:r>
              <a:t>Then we build the vocabulary. Four words: generative AI, prompt, model, context. By</a:t>
            </a:r>
          </a:p>
          <a:p>
            <a:r>
              <a:t>the end of that section you should be able to use all four precisely. Most people</a:t>
            </a:r>
          </a:p>
          <a:p>
            <a:r>
              <a:t>use them interchangeably and they are not interchangeable.</a:t>
            </a:r>
          </a:p>
          <a:p/>
          <a:p>
            <a:r>
              <a:t>Then we look at why this matters in your field specifically — I'll do healthcare,</a:t>
            </a:r>
          </a:p>
          <a:p>
            <a:r>
              <a:t>law, education, business and engineering, and I want you thinking about yours while</a:t>
            </a:r>
          </a:p>
          <a:p>
            <a:r>
              <a:t>I do it.</a:t>
            </a:r>
          </a:p>
          <a:p/>
          <a:p>
            <a:r>
              <a:t>Then we stop talking and you do something. About twenty minutes of activity today,</a:t>
            </a:r>
          </a:p>
          <a:p>
            <a:r>
              <a:t>and there will be an activity every single week. This is not a course you can pass</a:t>
            </a:r>
          </a:p>
          <a:p>
            <a:r>
              <a:t>by watching.</a:t>
            </a:r>
          </a:p>
          <a:p/>
          <a:p>
            <a:r>
              <a:t>Then the course map — what you'll actually build — and the practical business of</a:t>
            </a:r>
          </a:p>
          <a:p>
            <a:r>
              <a:t>grading and rules.</a:t>
            </a:r>
          </a:p>
          <a:p/>
          <a:p>
            <a:r>
              <a:t>One housekeeping note before we start: everything we use this semester runs in a</a:t>
            </a:r>
          </a:p>
          <a:p>
            <a:r>
              <a:t>browser and is free. You will not be asked to pay for anything or install anything.</a:t>
            </a:r>
          </a:p>
          <a:p>
            <a:r>
              <a:t>If that ever appears to be untrue, tell me immediately, because it means I've made</a:t>
            </a:r>
          </a:p>
          <a:p>
            <a:r>
              <a:t>a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What this course is actually for.</a:t>
            </a:r>
          </a:p>
          <a:p/>
          <a:p>
            <a:r>
              <a:t>I want to start somewhere uncomfortable, because I think you'll trust the rest of</a:t>
            </a:r>
          </a:p>
          <a:p>
            <a:r>
              <a:t>the semester more if I'm straight with you in the first thirty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put this on the screen and let it sit for a second.</a:t>
            </a:r>
          </a:p>
          <a:p/>
          <a:p>
            <a:r>
              <a:t>You will not be hired to write prompts.</a:t>
            </a:r>
          </a:p>
          <a:p/>
          <a:p>
            <a:r>
              <a:t>If you came into this room expecting me to teach you a set of magic phrases that</a:t>
            </a:r>
          </a:p>
          <a:p>
            <a:r>
              <a:t>make the AI behave — the secret words, the special formula — I want to disappoint</a:t>
            </a:r>
          </a:p>
          <a:p>
            <a:r>
              <a:t>you now rather than in week nine. That course existed. It was a reasonable course</a:t>
            </a:r>
          </a:p>
          <a:p>
            <a:r>
              <a:t>to teach in 2023. It is not a reasonable course to teach today, and I'll show you</a:t>
            </a:r>
          </a:p>
          <a:p>
            <a:r>
              <a:t>the evidence for that on the next slide.</a:t>
            </a:r>
          </a:p>
          <a:p/>
          <a:p>
            <a:r>
              <a:t>So the honest question is: why are we here? Why fourteen weeks?</a:t>
            </a:r>
          </a:p>
          <a:p/>
          <a:p>
            <a:r>
              <a:t>The answer is that something more durable took its place, and it's actually harder</a:t>
            </a:r>
          </a:p>
          <a:p>
            <a:r>
              <a:t>and more interesting than memorising prompt formulas. Hold that thought — I'll</a:t>
            </a:r>
          </a:p>
          <a:p>
            <a:r>
              <a:t>answer it properly in about ten minutes. First,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changed, and they changed quickly.</a:t>
            </a:r>
          </a:p>
          <a:p/>
          <a:p>
            <a:r>
              <a:t>First. Reasoning moved inside the model. In 2022 there was a famous result: if you</a:t>
            </a:r>
          </a:p>
          <a:p>
            <a:r>
              <a:t>added the words "let's think step by step" to your question, accuracy on maths and</a:t>
            </a:r>
          </a:p>
          <a:p>
            <a:r>
              <a:t>logic problems went up substantially. That was real. It was one of the genuine</a:t>
            </a:r>
          </a:p>
          <a:p>
            <a:r>
              <a:t>discoveries of early prompt engineering. Today, the current generation of reasoning</a:t>
            </a:r>
          </a:p>
          <a:p>
            <a:r>
              <a:t>models already does that internally before it answers you. And here's the part that</a:t>
            </a:r>
          </a:p>
          <a:p>
            <a:r>
              <a:t>matters — adding the instruction yourself can now be redundant or can even conflict</a:t>
            </a:r>
          </a:p>
          <a:p>
            <a:r>
              <a:t>with the model's own reasoning process. So a technique that was the crown jewel of</a:t>
            </a:r>
          </a:p>
          <a:p>
            <a:r>
              <a:t>this field four years ago is now, at best, neutral. That should tell you something</a:t>
            </a:r>
          </a:p>
          <a:p>
            <a:r>
              <a:t>about how fast the technique layer decays.</a:t>
            </a:r>
          </a:p>
          <a:p/>
          <a:p>
            <a:r>
              <a:t>Second. The specialist job mostly evaporated. Job postings for "prompt engineer"</a:t>
            </a:r>
          </a:p>
          <a:p>
            <a:r>
              <a:t>fell roughly forty percent between 2024 and 2025. Meanwhile the roles that grew were</a:t>
            </a:r>
          </a:p>
          <a:p>
            <a:r>
              <a:t>about designing workflows and thinking about AI systems. Not phrasing. Design.</a:t>
            </a:r>
          </a:p>
          <a:p/>
          <a:p>
            <a:r>
              <a:t>Third, and this is the important one. Prompting didn't become worthless. It became</a:t>
            </a:r>
          </a:p>
          <a:p>
            <a:r>
              <a:t>literacy. It's now like being able to use a search engine, or a spreadsheet.</a:t>
            </a:r>
          </a:p>
          <a:p>
            <a:r>
              <a:t>Everybody is expected to do it competently. Almost nobody is paid to do only that.</a:t>
            </a:r>
          </a:p>
          <a:p/>
          <a:p>
            <a:r>
              <a:t>Now — if I stopped here, this would be a strange course to be enrolled in. So let</a:t>
            </a:r>
          </a:p>
          <a:p>
            <a:r>
              <a:t>me tell you what replaced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list that survey after survey now produces when employers are asked what</a:t>
            </a:r>
          </a:p>
          <a:p>
            <a:r>
              <a:t>they actually want.</a:t>
            </a:r>
          </a:p>
          <a:p/>
          <a:p>
            <a:r>
              <a:t>Understanding how the system produces an answer. Recognising when an output is</a:t>
            </a:r>
          </a:p>
          <a:p>
            <a:r>
              <a:t>wrong — and I've put that one in bold because it is the spine of this entire course.</a:t>
            </a:r>
          </a:p>
          <a:p>
            <a:r>
              <a:t>Spotting a hallucination before it reaches a patient, a client, or a student's grade.</a:t>
            </a:r>
          </a:p>
          <a:p>
            <a:r>
              <a:t>Knowing when human judgment is required and simply cannot be handed over. And</a:t>
            </a:r>
          </a:p>
          <a:p>
            <a:r>
              <a:t>designing a workflow rather than writing a clever sentence.</a:t>
            </a:r>
          </a:p>
          <a:p/>
          <a:p>
            <a:r>
              <a:t>Look at that list carefully. Every single item is a judgment skill. Not one of them</a:t>
            </a:r>
          </a:p>
          <a:p>
            <a:r>
              <a:t>is about phrasing.</a:t>
            </a:r>
          </a:p>
          <a:p/>
          <a:p>
            <a:r>
              <a:t>And notice something else: every item on that list gets harder as the models get</a:t>
            </a:r>
          </a:p>
          <a:p>
            <a:r>
              <a:t>better, not easier. When a system is wrong in an obvious way, anyone can catch it.</a:t>
            </a:r>
          </a:p>
          <a:p>
            <a:r>
              <a:t>When a system is wrong in a fluent, confident, well-structured, professionally</a:t>
            </a:r>
          </a:p>
          <a:p>
            <a:r>
              <a:t>formatted way — that is when you need someone trained. That is what I'm training</a:t>
            </a:r>
          </a:p>
          <a:p>
            <a:r>
              <a:t>you to be.</a:t>
            </a:r>
          </a:p>
          <a:p/>
          <a:p>
            <a:r>
              <a:t>I've put my sources at the bottom. I'll do that all semester. If I give you a number</a:t>
            </a:r>
          </a:p>
          <a:p>
            <a:r>
              <a:t>in this course, I will tell you where it came from, and if I can't source something</a:t>
            </a:r>
          </a:p>
          <a:p>
            <a:r>
              <a:t>I will say so out loud. I'd ask you to hold me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here is the course in one sentence.</a:t>
            </a:r>
          </a:p>
          <a:p/>
          <a:p>
            <a:r>
              <a:t>This is a course about working with a system that is capable, confident, and</a:t>
            </a:r>
          </a:p>
          <a:p>
            <a:r>
              <a:t>sometimes wrong.</a:t>
            </a:r>
          </a:p>
          <a:p/>
          <a:p>
            <a:r>
              <a:t>Capable — genuinely, remarkably capable, and I am not going to spend the semester</a:t>
            </a:r>
          </a:p>
          <a:p>
            <a:r>
              <a:t>being cynical about that. These tools are useful and you should use them.</a:t>
            </a:r>
          </a:p>
          <a:p/>
          <a:p>
            <a:r>
              <a:t>Confident — it will never hedge unless you make it. It has no facial expression. It</a:t>
            </a:r>
          </a:p>
          <a:p>
            <a:r>
              <a:t>does not sound less certain when it's guessing. A human expert who doesn't know</a:t>
            </a:r>
          </a:p>
          <a:p>
            <a:r>
              <a:t>something usually signals it. These systems do not, by default.</a:t>
            </a:r>
          </a:p>
          <a:p/>
          <a:p>
            <a:r>
              <a:t>And sometimes wrong. Not usually. Not always. Sometimes — which is much more</a:t>
            </a:r>
          </a:p>
          <a:p>
            <a:r>
              <a:t>dangerous than usually, because usually-wrong tools get abandoned and</a:t>
            </a:r>
          </a:p>
          <a:p>
            <a:r>
              <a:t>sometimes-wrong tools get trusted.</a:t>
            </a:r>
          </a:p>
          <a:p/>
          <a:p>
            <a:r>
              <a:t>Everything we do this semester serves that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vocabulary.</a:t>
            </a:r>
          </a:p>
          <a:p/>
          <a:p>
            <a:r>
              <a:t>Four words. We're going to use them precisely for fourteen weeks, so let's agree on</a:t>
            </a:r>
          </a:p>
          <a:p>
            <a:r>
              <a:t>what they mean now. I promise this is the driest ten minutes of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Generative AI. AI that produces new content — text, images, audio, video, code.</a:t>
            </a:r>
          </a:p>
          <a:p/>
          <a:p>
            <a:r>
              <a:t>The word "generative" is doing real work here, because it distinguishes this from</a:t>
            </a:r>
          </a:p>
          <a:p>
            <a:r>
              <a:t>the AI that has been running quietly in the background of your life for a decade.</a:t>
            </a:r>
          </a:p>
          <a:p/>
          <a:p>
            <a:r>
              <a:t>Two examples of AI that is not generative. Your bank's fraud detection: it looks at</a:t>
            </a:r>
          </a:p>
          <a:p>
            <a:r>
              <a:t>a transaction and decides suspicious or not suspicious. That's classification. It</a:t>
            </a:r>
          </a:p>
          <a:p>
            <a:r>
              <a:t>picks from options that already exist. Or a hospital system that looks at a queue of</a:t>
            </a:r>
          </a:p>
          <a:p>
            <a:r>
              <a:t>scans and decides which order a radiologist should read them in. That's ranking.</a:t>
            </a:r>
          </a:p>
          <a:p>
            <a:r>
              <a:t>Also not generative.</a:t>
            </a:r>
          </a:p>
          <a:p/>
          <a:p>
            <a:r>
              <a:t>Generative is when it drafts the letter. Writes the summary. Produces the image.</a:t>
            </a:r>
          </a:p>
          <a:p>
            <a:r>
              <a:t>Something exists afterwards that did not exist before, and that thing came out of</a:t>
            </a:r>
          </a:p>
          <a:p>
            <a:r>
              <a:t>the model rather than being selected from a list.</a:t>
            </a:r>
          </a:p>
          <a:p/>
          <a:p>
            <a:r>
              <a:t>Why does the distinction matter for us? Because classification systems are wrong in</a:t>
            </a:r>
          </a:p>
          <a:p>
            <a:r>
              <a:t>ways you can measure — you count how often the fraud detector was right. Generative</a:t>
            </a:r>
          </a:p>
          <a:p>
            <a:r>
              <a:t>systems are wrong in ways that require a human being to read the output and judge</a:t>
            </a:r>
          </a:p>
          <a:p>
            <a:r>
              <a:t>it. There's no accuracy percentage for "was this letter good."</a:t>
            </a:r>
          </a:p>
          <a:p/>
          <a:p>
            <a:r>
              <a:t>That's the whole reason this course has to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prompt is what you give the system in order to get a response.</a:t>
            </a:r>
          </a:p>
          <a:p/>
          <a:p>
            <a:r>
              <a:t>Most people hear "prompt" and think "the question I typed." That's too narrow, and</a:t>
            </a:r>
          </a:p>
          <a:p>
            <a:r>
              <a:t>the narrowness will cause you real problems later in the semester. A prompt is an</a:t>
            </a:r>
          </a:p>
          <a:p>
            <a:r>
              <a:t>instruction, or an example, or a document, or an image — or all four at once.</a:t>
            </a:r>
          </a:p>
          <a:p/>
          <a:p>
            <a:r>
              <a:t>Three examples. "Summarise this discharge note for the patient's family" — that's an</a:t>
            </a:r>
          </a:p>
          <a:p>
            <a:r>
              <a:t>instruction, not a question. A photo of a damaged component with "what failed here?"</a:t>
            </a:r>
          </a:p>
          <a:p>
            <a:r>
              <a:t>— that's an image plus a question, and the image is part of the prompt. A contract</a:t>
            </a:r>
          </a:p>
          <a:p>
            <a:r>
              <a:t>attached with "flag anything that differs from our standard terms" — the entire</a:t>
            </a:r>
          </a:p>
          <a:p>
            <a:r>
              <a:t>contract is part of the prompt.</a:t>
            </a:r>
          </a:p>
          <a:p/>
          <a:p>
            <a:r>
              <a:t>That last line is the one I want you to remember, and I want you to remember it in</a:t>
            </a:r>
          </a:p>
          <a:p>
            <a:r>
              <a:t>week twelve especially: everything you put in is the prompt, including the file you</a:t>
            </a:r>
          </a:p>
          <a:p>
            <a:r>
              <a:t>attached.</a:t>
            </a:r>
          </a:p>
          <a:p/>
          <a:p>
            <a:r>
              <a:t>Why does that matter? Because in week twelve we're going to look at what happens</a:t>
            </a:r>
          </a:p>
          <a:p>
            <a:r>
              <a:t>when someone hides an instruction inside a document you upload. If you think the</a:t>
            </a:r>
          </a:p>
          <a:p>
            <a:r>
              <a:t>prompt is only what you typed, you will not see that attack coming. If you understand</a:t>
            </a:r>
          </a:p>
          <a:p>
            <a:r>
              <a:t>that the document is also the prompt, you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system itself. The thing that was trained on an enormous amount of</a:t>
            </a:r>
          </a:p>
          <a:p>
            <a:r>
              <a:t>material, and the thing you're sending your prompt to.</a:t>
            </a:r>
          </a:p>
          <a:p/>
          <a:p>
            <a:r>
              <a:t>Large language model — LLM — is the family that most of this course is about. Week</a:t>
            </a:r>
          </a:p>
          <a:p>
            <a:r>
              <a:t>three is entirely about what's going on inside one, so I'm keeping this brief.</a:t>
            </a:r>
          </a:p>
          <a:p/>
          <a:p>
            <a:r>
              <a:t>Two properties to note now. Different models have genuinely different strengths,</a:t>
            </a:r>
          </a:p>
          <a:p>
            <a:r>
              <a:t>different costs, and different knowledge cut-offs — meaning a point in time after</a:t>
            </a:r>
          </a:p>
          <a:p>
            <a:r>
              <a:t>which they simply don't know what happened. And this one surprises people: the same</a:t>
            </a:r>
          </a:p>
          <a:p>
            <a:r>
              <a:t>prompt can give you different answers on different models, and it can give you</a:t>
            </a:r>
          </a:p>
          <a:p>
            <a:r>
              <a:t>different answers on the same model twice. These systems are not deterministic. If</a:t>
            </a:r>
          </a:p>
          <a:p>
            <a:r>
              <a:t>you come from a background where you expect the same input to produce the same</a:t>
            </a:r>
          </a:p>
          <a:p>
            <a:r>
              <a:t>output, adjust that expectation now.</a:t>
            </a:r>
          </a:p>
          <a:p/>
          <a:p>
            <a:r>
              <a:t>And a promise about how I'll teach this. I will name specific tools constantly,</a:t>
            </a:r>
          </a:p>
          <a:p>
            <a:r>
              <a:t>because you need to actually do things and you can't do things with abstractions.</a:t>
            </a:r>
          </a:p>
          <a:p>
            <a:r>
              <a:t>But I will never build a learning outcome around one company's product. The tools we</a:t>
            </a:r>
          </a:p>
          <a:p>
            <a:r>
              <a:t>use in week seven may not be the market leaders by the time you graduate. What you</a:t>
            </a:r>
          </a:p>
          <a:p>
            <a:r>
              <a:t>learn about grounding will still be true. Concepts are the curriculum; tools are the</a:t>
            </a:r>
          </a:p>
          <a:p>
            <a:r>
              <a:t>illustration.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Context. Everything the model can see at the moment it answers you.</a:t>
            </a:r>
          </a:p>
          <a:p/>
          <a:p>
            <a:r>
              <a:t>That includes your current message, the conversation so far, any files you've</a:t>
            </a:r>
          </a:p>
          <a:p>
            <a:r>
              <a:t>attached, and any behind-the-scenes instructions the tool itself adds without showing</a:t>
            </a:r>
          </a:p>
          <a:p>
            <a:r>
              <a:t>you. That last part matters more than students expect.</a:t>
            </a:r>
          </a:p>
          <a:p/>
          <a:p>
            <a:r>
              <a:t>Two consequences, and you'll meet both repeatedly.</a:t>
            </a:r>
          </a:p>
          <a:p/>
          <a:p>
            <a:r>
              <a:t>First: it has no memory outside the context. If you open a new conversation, it</a:t>
            </a:r>
          </a:p>
          <a:p>
            <a:r>
              <a:t>knows nothing about the previous one. Nothing. Students find this genuinely</a:t>
            </a:r>
          </a:p>
          <a:p>
            <a:r>
              <a:t>disorienting because the system talks like a colleague who remembers you, and it</a:t>
            </a:r>
          </a:p>
          <a:p>
            <a:r>
              <a:t>doesn't. Everything it appears to "know" about your situation is sitting in the</a:t>
            </a:r>
          </a:p>
          <a:p>
            <a:r>
              <a:t>current context, and when that context ends, it's gone.</a:t>
            </a:r>
          </a:p>
          <a:p/>
          <a:p>
            <a:r>
              <a:t>Second: context is finite. There's a limit. Give it a three-hundred-page document</a:t>
            </a:r>
          </a:p>
          <a:p>
            <a:r>
              <a:t>and something has to give — either it won't accept it, or it will work from part of</a:t>
            </a:r>
          </a:p>
          <a:p>
            <a:r>
              <a:t>it, and it may not tell you which part. Week three covers this properly, and week</a:t>
            </a:r>
          </a:p>
          <a:p>
            <a:r>
              <a:t>seven is largely about how to work around it well.</a:t>
            </a:r>
          </a:p>
          <a:p/>
          <a:p>
            <a:r>
              <a:t>And a preview of week twelve: this is also why sharing a chat transcript can leak</a:t>
            </a:r>
          </a:p>
          <a:p>
            <a:r>
              <a:t>more than you meant to share. The context contains things you may have forgotten are</a:t>
            </a:r>
          </a:p>
          <a:p>
            <a:r>
              <a:t>in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put them together.</a:t>
            </a:r>
          </a:p>
          <a:p/>
          <a:p>
            <a:r>
              <a:t>Generative AI is the category — systems that produce new content. The prompt is</a:t>
            </a:r>
          </a:p>
          <a:p>
            <a:r>
              <a:t>everything you give it, including files. The model is the trained system you're</a:t>
            </a:r>
          </a:p>
          <a:p>
            <a:r>
              <a:t>talking to. Context is everything it can see right now.</a:t>
            </a:r>
          </a:p>
          <a:p/>
          <a:p>
            <a:r>
              <a:t>And here's the test. Read the sentence on the right.</a:t>
            </a:r>
          </a:p>
          <a:p/>
          <a:p>
            <a:r>
              <a:t>"I gave the model a prompt containing a PDF, and the context window couldn't hold</a:t>
            </a:r>
          </a:p>
          <a:p>
            <a:r>
              <a:t>all of it."</a:t>
            </a:r>
          </a:p>
          <a:p/>
          <a:p>
            <a:r>
              <a:t>If that sentence is completely clear to you, you have the vocabulary for the</a:t>
            </a:r>
          </a:p>
          <a:p>
            <a:r>
              <a:t>semester and we can move on.</a:t>
            </a:r>
          </a:p>
          <a:p/>
          <a:p>
            <a:r>
              <a:t>If it isn't clear — genuinely, stop me now. Put your hand up. Everything from here</a:t>
            </a:r>
          </a:p>
          <a:p>
            <a:r>
              <a:t>builds on these four words, and there is no advantage whatsoever to being the person</a:t>
            </a:r>
          </a:p>
          <a:p>
            <a:r>
              <a:t>who nods in week one and is lost in week seven. I would much rather spend three more</a:t>
            </a:r>
          </a:p>
          <a:p>
            <a:r>
              <a:t>minutes here.</a:t>
            </a:r>
          </a:p>
          <a:p/>
          <a:p>
            <a:r>
              <a:t>[Pause. Actually wait. Count to five in your head before moving 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Why this matters in your field.</a:t>
            </a:r>
          </a:p>
          <a:p/>
          <a:p>
            <a:r>
              <a:t>I'm going to go through five disciplines. Yours is probably one of them. While I'm</a:t>
            </a:r>
          </a:p>
          <a:p>
            <a:r>
              <a:t>talking about the others, I want you doing one thing: thinking about the equivalent</a:t>
            </a:r>
          </a:p>
          <a:p>
            <a:r>
              <a:t>in your own work. Because in about ten minutes I'm going to ask you to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Healthcare first, since we're at a medical university.</a:t>
            </a:r>
          </a:p>
          <a:p/>
          <a:p>
            <a:r>
              <a:t>Genuinely useful things. Turning a discharge summary into language a family can</a:t>
            </a:r>
          </a:p>
          <a:p>
            <a:r>
              <a:t>actually follow — this is a real problem, families routinely leave hospital not</a:t>
            </a:r>
          </a:p>
          <a:p>
            <a:r>
              <a:t>understanding the instructions, and this is a task these systems are good at.</a:t>
            </a:r>
          </a:p>
          <a:p>
            <a:r>
              <a:t>Drafting patient education material at a controlled reading level. Taking a messy</a:t>
            </a:r>
          </a:p>
          <a:p>
            <a:r>
              <a:t>consultation transcript and structuring it into a standard note format.</a:t>
            </a:r>
          </a:p>
          <a:p/>
          <a:p>
            <a:r>
              <a:t>Now where it bites. A fabricated drug interaction — and here is the thing I need you</a:t>
            </a:r>
          </a:p>
          <a:p>
            <a:r>
              <a:t>to internalise — written exactly as fluently as a real one. It will not look</a:t>
            </a:r>
          </a:p>
          <a:p>
            <a:r>
              <a:t>uncertain. It will not be hedged. It will read like the true ones read. There is no</a:t>
            </a:r>
          </a:p>
          <a:p>
            <a:r>
              <a:t>visual difference between the model's knowledge and the model's invention.</a:t>
            </a:r>
          </a:p>
          <a:p/>
          <a:p>
            <a:r>
              <a:t>And the second one: patient data typed into a tool that stores it and may reuse it.</a:t>
            </a:r>
          </a:p>
          <a:p>
            <a:r>
              <a:t>Some of you will do a rotation where this is a live risk within the next two years.</a:t>
            </a:r>
          </a:p>
          <a:p/>
          <a:p>
            <a:r>
              <a:t>I want to be clear that I am not telling you not to use these tools in clinical</a:t>
            </a:r>
          </a:p>
          <a:p>
            <a:r>
              <a:t>contexts. I'm telling you that the skill of checking is the job, and we're going to</a:t>
            </a:r>
          </a:p>
          <a:p>
            <a:r>
              <a:t>practise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Law.</a:t>
            </a:r>
          </a:p>
          <a:p/>
          <a:p>
            <a:r>
              <a:t>Useful: comparing a contract against a standard template and flagging what's</a:t>
            </a:r>
          </a:p>
          <a:p>
            <a:r>
              <a:t>different. Summarising a large volume of documents to work out what actually deserves</a:t>
            </a:r>
          </a:p>
          <a:p>
            <a:r>
              <a:t>a human reading. Translating a clause into plain language for a client — lawyers</a:t>
            </a:r>
          </a:p>
          <a:p>
            <a:r>
              <a:t>spend a lot of time doing this and it's genuinely tedious.</a:t>
            </a:r>
          </a:p>
          <a:p/>
          <a:p>
            <a:r>
              <a:t>Where it bites. Invented case citations. This is the famous one. Real courts have</a:t>
            </a:r>
          </a:p>
          <a:p>
            <a:r>
              <a:t>sanctioned real lawyers for filing documents containing cases that do not exist. The</a:t>
            </a:r>
          </a:p>
          <a:p>
            <a:r>
              <a:t>citations looked perfect — correct format, plausible court, plausible year, plausible</a:t>
            </a:r>
          </a:p>
          <a:p>
            <a:r>
              <a:t>party names. They were fiction.</a:t>
            </a:r>
          </a:p>
          <a:p/>
          <a:p>
            <a:r>
              <a:t>And the quieter one, which I think is more dangerous because nobody gets famous for</a:t>
            </a:r>
          </a:p>
          <a:p>
            <a:r>
              <a:t>it: confident statements about jurisdictions the model knows very little about. It</a:t>
            </a:r>
          </a:p>
          <a:p>
            <a:r>
              <a:t>has read an enormous amount of American law. It has read much less Turkish law. It</a:t>
            </a:r>
          </a:p>
          <a:p>
            <a:r>
              <a:t>will not tell you that. Its confidence does not drop when its knowledge does.</a:t>
            </a:r>
          </a:p>
          <a:p/>
          <a:p>
            <a:r>
              <a:t>That asymmetry — confidence staying flat while knowledge drops — is worth writing</a:t>
            </a:r>
          </a:p>
          <a:p>
            <a:r>
              <a:t>down. It applies to every field in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more, more briefly.</a:t>
            </a:r>
          </a:p>
          <a:p/>
          <a:p>
            <a:r>
              <a:t>Education. Useful for differentiated materials — the same concept rewritten for</a:t>
            </a:r>
          </a:p>
          <a:p>
            <a:r>
              <a:t>different levels — question banks, and first drafts of feedback. Where it bites:</a:t>
            </a:r>
          </a:p>
          <a:p>
            <a:r>
              <a:t>plausible-sounding pedagogy that is wrong for the age group, and of course, work that</a:t>
            </a:r>
          </a:p>
          <a:p>
            <a:r>
              <a:t>students didn't do. We'll deal with that honestly in week thirteen, and I mean</a:t>
            </a:r>
          </a:p>
          <a:p>
            <a:r>
              <a:t>honestly — not with a list of prohibitions.</a:t>
            </a:r>
          </a:p>
          <a:p/>
          <a:p>
            <a:r>
              <a:t>Business. Useful for synthesising a large volume of customer feedback, first drafts</a:t>
            </a:r>
          </a:p>
          <a:p>
            <a:r>
              <a:t>of almost anything, and competitor summaries. Where it bites: invented statistics</a:t>
            </a:r>
          </a:p>
          <a:p>
            <a:r>
              <a:t>attached to invented sources. This is a specific and common failure. It will give</a:t>
            </a:r>
          </a:p>
          <a:p>
            <a:r>
              <a:t>you a number and attribute it to a real consulting firm that never published it.</a:t>
            </a:r>
          </a:p>
          <a:p/>
          <a:p>
            <a:r>
              <a:t>Engineering. Useful for explaining code you didn't write, drafting documentation</a:t>
            </a:r>
          </a:p>
          <a:p>
            <a:r>
              <a:t>that nobody wants to write, and generating test cases. Where it bites: code that runs</a:t>
            </a:r>
          </a:p>
          <a:p>
            <a:r>
              <a:t>perfectly and does the wrong thing. Which is worse than code that fails, because code</a:t>
            </a:r>
          </a:p>
          <a:p>
            <a:r>
              <a:t>that fails announces itself.</a:t>
            </a:r>
          </a:p>
          <a:p/>
          <a:p>
            <a:r>
              <a:t>Do you see the pattern across all five? The failure mode is never "it broke." The</a:t>
            </a:r>
          </a:p>
          <a:p>
            <a:r>
              <a:t>failure mode is always "it worked, beautifully, and it was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make that explicit, because it's the thesis of the course.</a:t>
            </a:r>
          </a:p>
          <a:p/>
          <a:p>
            <a:r>
              <a:t>In every field, the dangerous failure is not the obvious one. It's the fluent,</a:t>
            </a:r>
          </a:p>
          <a:p>
            <a:r>
              <a:t>well-formatted, professional-looking answer that happens to be false.</a:t>
            </a:r>
          </a:p>
          <a:p/>
          <a:p>
            <a:r>
              <a:t>If these systems produced obvious nonsense, we would not need a course. You'd look at</a:t>
            </a:r>
          </a:p>
          <a:p>
            <a:r>
              <a:t>it, you'd laugh, you'd move on. The reason we need fourteen weeks is that the output</a:t>
            </a:r>
          </a:p>
          <a:p>
            <a:r>
              <a:t>looks exactly like competent professional work. It has the right structure. It uses</a:t>
            </a:r>
          </a:p>
          <a:p>
            <a:r>
              <a:t>the right vocabulary. It's confident. It's well-organised. And a certain percentage</a:t>
            </a:r>
          </a:p>
          <a:p>
            <a:r>
              <a:t>of the time, it is simply not true.</a:t>
            </a:r>
          </a:p>
          <a:p/>
          <a:p>
            <a:r>
              <a:t>Your professional value — genuinely, in whatever field you end up in — is going to</a:t>
            </a:r>
          </a:p>
          <a:p>
            <a:r>
              <a:t>sit substantially in being the person who can tell the difference.</a:t>
            </a:r>
          </a:p>
          <a:p/>
          <a:p>
            <a:r>
              <a:t>Right. I've been talking for a while. Let's find out if any of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Our first activity.</a:t>
            </a:r>
          </a:p>
          <a:p/>
          <a:p>
            <a:r>
              <a:t>Every week has one of these. This is not a course you can pass by watching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what you're going to do. Fifteen minutes.</a:t>
            </a:r>
          </a:p>
          <a:p/>
          <a:p>
            <a:r>
              <a:t>Step one. Open any free AI assistant in your browser. ChatGPT, Claude, Gemini,</a:t>
            </a:r>
          </a:p>
          <a:p>
            <a:r>
              <a:t>Copilot — whichever you can reach from the campus network. Most of them let you ask</a:t>
            </a:r>
          </a:p>
          <a:p>
            <a:r>
              <a:t>questions without an account. If one won't load, use a different one. If nothing</a:t>
            </a:r>
          </a:p>
          <a:p>
            <a:r>
              <a:t>loads, pair up with the person next to you.</a:t>
            </a:r>
          </a:p>
          <a:p/>
          <a:p>
            <a:r>
              <a:t>Step two, and this is the important one. Ask it something you personally know well.</a:t>
            </a:r>
          </a:p>
          <a:p>
            <a:r>
              <a:t>Your degree subject. Your home town. A hobby you've had for years. Something where</a:t>
            </a:r>
          </a:p>
          <a:p>
            <a:r>
              <a:t>you — not me, not the internet — are the actual expert in this room.</a:t>
            </a:r>
          </a:p>
          <a:p/>
          <a:p>
            <a:r>
              <a:t>Step three. Ask a real question. Not a trick, not a riddle, not "how many Rs in</a:t>
            </a:r>
          </a:p>
          <a:p>
            <a:r>
              <a:t>strawberry." I want the kind of question a colleague might genuinely ask you. The</a:t>
            </a:r>
          </a:p>
          <a:p>
            <a:r>
              <a:t>whole exercise fails if you try to break it, because breaking it is easy and tells</a:t>
            </a:r>
          </a:p>
          <a:p>
            <a:r>
              <a:t>you nothing about how it will fail when you're relying on it.</a:t>
            </a:r>
          </a:p>
          <a:p/>
          <a:p>
            <a:r>
              <a:t>Step four. Grade the answer honestly. Four things: what's right? What's subtly off —</a:t>
            </a:r>
          </a:p>
          <a:p>
            <a:r>
              <a:t>not wrong exactly, but not how you'd put it? What is confidently wrong? And what did</a:t>
            </a:r>
          </a:p>
          <a:p>
            <a:r>
              <a:t>it leave out that you would have said?</a:t>
            </a:r>
          </a:p>
          <a:p/>
          <a:p>
            <a:r>
              <a:t>That last question is the one people skip and it's often the most revealing.</a:t>
            </a:r>
          </a:p>
          <a:p/>
          <a:p>
            <a:r>
              <a:t>I'll come round. Start now.</a:t>
            </a:r>
          </a:p>
          <a:p/>
          <a:p>
            <a:r>
              <a:t>[Circulate. Look for a strong "confidently wrong" example and a strong "subtly off"</a:t>
            </a:r>
          </a:p>
          <a:p>
            <a:r>
              <a:t>example to use in the debrief. Ask permission before sharing anyone's screen.]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hear it. Hands up.</a:t>
            </a:r>
          </a:p>
          <a:p/>
          <a:p>
            <a:r>
              <a:t>Who got an answer that was essentially correct? — good, and that should be most of</a:t>
            </a:r>
          </a:p>
          <a:p>
            <a:r>
              <a:t>you. These tools are genuinely good. I'm not here to convince you otherwise.</a:t>
            </a:r>
          </a:p>
          <a:p/>
          <a:p>
            <a:r>
              <a:t>Who found something subtly off? Right facts, but wrong emphasis, or right in general</a:t>
            </a:r>
          </a:p>
          <a:p>
            <a:r>
              <a:t>but wrong for the specific context you had in mind? [Take two or three.]</a:t>
            </a:r>
          </a:p>
          <a:p/>
          <a:p>
            <a:r>
              <a:t>Who found something confidently, specifically wrong? [Take these carefully. Ask them</a:t>
            </a:r>
          </a:p>
          <a:p>
            <a:r>
              <a:t>to read the sentence out. Ask: did it look uncertain? It won't have.]</a:t>
            </a:r>
          </a:p>
          <a:p/>
          <a:p>
            <a:r>
              <a:t>Who noticed something important missing — something you would definitely have said?</a:t>
            </a:r>
          </a:p>
          <a:p/>
          <a:p>
            <a:r>
              <a:t>Now here's the question I actually brought you here for, and I want you to sit with</a:t>
            </a:r>
          </a:p>
          <a:p>
            <a:r>
              <a:t>it rather than answer it quickly.</a:t>
            </a:r>
          </a:p>
          <a:p/>
          <a:p>
            <a:r>
              <a:t>Would you have caught it if it hadn't been your area of expertise?</a:t>
            </a:r>
          </a:p>
          <a:p/>
          <a:p>
            <a:r>
              <a:t>Almost always the answer is no. You caught it because you already knew. Which means</a:t>
            </a:r>
          </a:p>
          <a:p>
            <a:r>
              <a:t>every time you use one of these systems outside your expertise — which is most of</a:t>
            </a:r>
          </a:p>
          <a:p>
            <a:r>
              <a:t>the time, because that's why you're asking — you are not in a position to catch the</a:t>
            </a:r>
          </a:p>
          <a:p>
            <a:r>
              <a:t>same class of error.</a:t>
            </a:r>
          </a:p>
          <a:p/>
          <a:p>
            <a:r>
              <a:t>That is the problem this course exists to address. Not "how do I get better output."</a:t>
            </a:r>
          </a:p>
          <a:p>
            <a:r>
              <a:t>How do I know whether the output is any good, when I'm not the expert?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five. How the course works, what you'll build, and how you'll be graded.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semester has two halves and they feel quite different.</a:t>
            </a:r>
          </a:p>
          <a:p/>
          <a:p>
            <a:r>
              <a:t>Weeks one to five are the baseline. Introduction — today. Then a history of AI,</a:t>
            </a:r>
          </a:p>
          <a:p>
            <a:r>
              <a:t>natural language processing and large language models, because I think you cannot</a:t>
            </a:r>
          </a:p>
          <a:p>
            <a:r>
              <a:t>judge where this is going without knowing how it got here, and because the history</a:t>
            </a:r>
          </a:p>
          <a:p>
            <a:r>
              <a:t>is genuinely a good story. Then how these models actually work. Then principles of</a:t>
            </a:r>
          </a:p>
          <a:p>
            <a:r>
              <a:t>effective prompting. Then controlling style, tone and format.</a:t>
            </a:r>
          </a:p>
          <a:p/>
          <a:p>
            <a:r>
              <a:t>That's five weeks of foundation. The purpose of it is not scholarly completeness —</a:t>
            </a:r>
          </a:p>
          <a:p>
            <a:r>
              <a:t>it's that when things fail in the second half of the course, you'll understand why</a:t>
            </a:r>
          </a:p>
          <a:p>
            <a:r>
              <a:t>rather than just observing that they did.</a:t>
            </a:r>
          </a:p>
          <a:p/>
          <a:p>
            <a:r>
              <a:t>Weeks six to thirteen, you build. Every single week. Your first tool without writing</a:t>
            </a:r>
          </a:p>
          <a:p>
            <a:r>
              <a:t>code. Grounding a system in your own documents. Verification — how to know when it's</a:t>
            </a:r>
          </a:p>
          <a:p>
            <a:r>
              <a:t>wrong. Agents and automation. Then week ten you build something for your own field.</a:t>
            </a:r>
          </a:p>
          <a:p>
            <a:r>
              <a:t>Week eleven you make it professional. Week twelve you attack it. Week thirteen,</a:t>
            </a:r>
          </a:p>
          <a:p>
            <a:r>
              <a:t>ethics, copyright and responsible use — placed deliberately at the end, after you've</a:t>
            </a:r>
          </a:p>
          <a:p>
            <a:r>
              <a:t>built things and can see what the ethical questions actually attach to.</a:t>
            </a:r>
          </a:p>
          <a:p/>
          <a:p>
            <a:r>
              <a:t>Week fourteen we pull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things that will exist because you were in this room. They have names</a:t>
            </a:r>
          </a:p>
          <a:p>
            <a:r>
              <a:t>and we'll use the names all semester.</a:t>
            </a:r>
          </a:p>
          <a:p/>
          <a:p>
            <a:r>
              <a:t>The Micro-Tool, week six. A working, single-purpose web tool for a task in your</a:t>
            </a:r>
          </a:p>
          <a:p>
            <a:r>
              <a:t>field. You will describe what you want and get something that runs, in a browser,</a:t>
            </a:r>
          </a:p>
          <a:p>
            <a:r>
              <a:t>that you can send to someone. Without writing code. Some of you will find this week</a:t>
            </a:r>
          </a:p>
          <a:p>
            <a:r>
              <a:t>genuinely startling.</a:t>
            </a:r>
          </a:p>
          <a:p/>
          <a:p>
            <a:r>
              <a:t>The Grounded Assistant, week seven. An assistant that answers from documents you</a:t>
            </a:r>
          </a:p>
          <a:p>
            <a:r>
              <a:t>choose — a statute, a clinical guideline, a syllabus — and shows you which passage</a:t>
            </a:r>
          </a:p>
          <a:p>
            <a:r>
              <a:t>each answer came from.</a:t>
            </a:r>
          </a:p>
          <a:p/>
          <a:p>
            <a:r>
              <a:t>The Test Set, week eight. Ten questions designed to break your own week seven</a:t>
            </a:r>
          </a:p>
          <a:p>
            <a:r>
              <a:t>assistant. Seven that it should be able to answer, and three that are deliberately</a:t>
            </a:r>
          </a:p>
          <a:p>
            <a:r>
              <a:t>unanswerable from your documents. I'll tell you now what happens: it will answer the</a:t>
            </a:r>
          </a:p>
          <a:p>
            <a:r>
              <a:t>unanswerable three anyway, confidently, and you will have built the thing that does</a:t>
            </a:r>
          </a:p>
          <a:p>
            <a:r>
              <a:t>it. I'd rather you learned that from your own system than from a patient.</a:t>
            </a:r>
          </a:p>
          <a:p/>
          <a:p>
            <a:r>
              <a:t>The Automation Chain, week nine. Something that runs without you.</a:t>
            </a:r>
          </a:p>
          <a:p/>
          <a:p>
            <a:r>
              <a:t>Week ten, the Field Build — all of it combined, for your discipline. That's the</a:t>
            </a:r>
          </a:p>
          <a:p>
            <a:r>
              <a:t>centrepiece.</a:t>
            </a:r>
          </a:p>
          <a:p/>
          <a:p>
            <a:r>
              <a:t>Weeks eleven and twelve: make it professional, then break a classmate's and defend</a:t>
            </a:r>
          </a:p>
          <a:p>
            <a:r>
              <a:t>your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Grading. This is simple and I want no ambiguity about it.</a:t>
            </a:r>
          </a:p>
          <a:p/>
          <a:p>
            <a:r>
              <a:t>Midterm, forty percent, in-class written exam. Final, sixty percent, written exam.</a:t>
            </a:r>
          </a:p>
          <a:p/>
          <a:p>
            <a:r>
              <a:t>Pop quizzes — five of them across the semester, unannounced, ten multiple-choice</a:t>
            </a:r>
          </a:p>
          <a:p>
            <a:r>
              <a:t>questions, about ten minutes each. Here's the important part: they are worth up to</a:t>
            </a:r>
          </a:p>
          <a:p>
            <a:r>
              <a:t>ten bonus points added on top of your hundred. All five count. They cannot hurt you.</a:t>
            </a:r>
          </a:p>
          <a:p>
            <a:r>
              <a:t>They can only help you. I do it this way because I want you here and I want you</a:t>
            </a:r>
          </a:p>
          <a:p>
            <a:r>
              <a:t>keeping up, but I don't want a bad morning to damage your grade.</a:t>
            </a:r>
          </a:p>
          <a:p/>
          <a:p>
            <a:r>
              <a:t>And now the thing you're all thinking. If the exams are written, and the things you</a:t>
            </a:r>
          </a:p>
          <a:p>
            <a:r>
              <a:t>build aren't graded, why build them?</a:t>
            </a:r>
          </a:p>
          <a:p/>
          <a:p>
            <a:r>
              <a:t>Two answers. First, because you'll learn more, and I'd rather teach a course that's</a:t>
            </a:r>
          </a:p>
          <a:p>
            <a:r>
              <a:t>worth attending than one that's easy to grade. Second, and practically: every build</a:t>
            </a:r>
          </a:p>
          <a:p>
            <a:r>
              <a:t>week ends with a slide that tells you exactly which concepts from that week are</a:t>
            </a:r>
          </a:p>
          <a:p>
            <a:r>
              <a:t>examinable. The exams test whether you understood what you built — I'll show you a</a:t>
            </a:r>
          </a:p>
          <a:p>
            <a:r>
              <a:t>grounded assistant and an answer and ask you what's wrong with it. If you did the</a:t>
            </a:r>
          </a:p>
          <a:p>
            <a:r>
              <a:t>building, those questions will be easy. If you skipped it, they'll be very hard.</a:t>
            </a:r>
          </a:p>
          <a:p/>
          <a:p>
            <a:r>
              <a:t>So the building isn't graded directly. It's just how you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ground rules.</a:t>
            </a:r>
          </a:p>
          <a:p/>
          <a:p>
            <a:r>
              <a:t>One. Everything in this course is free and runs in a browser. No installation, no</a:t>
            </a:r>
          </a:p>
          <a:p>
            <a:r>
              <a:t>payment, no API keys. If any tool I recommend ever asks you to pay for something I</a:t>
            </a:r>
          </a:p>
          <a:p>
            <a:r>
              <a:t>said was free, stop and tell me — that means a free tier has changed and I need to</a:t>
            </a:r>
          </a:p>
          <a:p>
            <a:r>
              <a:t>know.</a:t>
            </a:r>
          </a:p>
          <a:p/>
          <a:p>
            <a:r>
              <a:t>Two. Bring a laptop if you have one. A phone will work for most of what we do. If</a:t>
            </a:r>
          </a:p>
          <a:p>
            <a:r>
              <a:t>you have neither, pair up with someone. That's completely fine and it happens every</a:t>
            </a:r>
          </a:p>
          <a:p>
            <a:r>
              <a:t>year — some of the best work in this course comes out of pairs.</a:t>
            </a:r>
          </a:p>
          <a:p/>
          <a:p>
            <a:r>
              <a:t>Three, and this one is not negotiable. Never put real patient, client, or personal</a:t>
            </a:r>
          </a:p>
          <a:p>
            <a:r>
              <a:t>data into these tools in this classroom. Not even anonymised — because anonymising</a:t>
            </a:r>
          </a:p>
          <a:p>
            <a:r>
              <a:t>properly is much harder than it looks, and we will demonstrate exactly that in week</a:t>
            </a:r>
          </a:p>
          <a:p>
            <a:r>
              <a:t>twelve. For every activity I will give you sample material. Use it.</a:t>
            </a:r>
          </a:p>
          <a:p/>
          <a:p>
            <a:r>
              <a:t>Four. Using AI on your own coursework. We'll do this properly in week thirteen, with</a:t>
            </a:r>
          </a:p>
          <a:p>
            <a:r>
              <a:t>the actual reasoning rather than a list of prohibitions. The short version, so nobody</a:t>
            </a:r>
          </a:p>
          <a:p>
            <a:r>
              <a:t>is confused in the meantime: using it and telling me is fine. Using it and hiding it</a:t>
            </a:r>
          </a:p>
          <a:p>
            <a:r>
              <a:t>is not. That's the whole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close.</a:t>
            </a:r>
          </a:p>
          <a:p/>
          <a:p>
            <a:r>
              <a:t>Four things to take away.</a:t>
            </a:r>
          </a:p>
          <a:p/>
          <a:p>
            <a:r>
              <a:t>Prompting is now literacy rather than a specialism, and the durable skill underneath</a:t>
            </a:r>
          </a:p>
          <a:p>
            <a:r>
              <a:t>it is judgment. That's why this course looks the way it does.</a:t>
            </a:r>
          </a:p>
          <a:p/>
          <a:p>
            <a:r>
              <a:t>Four words, used precisely: generative AI, prompt, model, context. If you're shaky on</a:t>
            </a:r>
          </a:p>
          <a:p>
            <a:r>
              <a:t>any of them, that's a five-minute fix and it's worth doing before next week.</a:t>
            </a:r>
          </a:p>
          <a:p/>
          <a:p>
            <a:r>
              <a:t>Across every field we looked at, the dangerous failure isn't the obvious one. It's</a:t>
            </a:r>
          </a:p>
          <a:p>
            <a:r>
              <a:t>the fluent, confident, professional-looking answer that's wrong.</a:t>
            </a:r>
          </a:p>
          <a:p/>
          <a:p>
            <a:r>
              <a:t>And the thing from your own activity: you caught those errors because you were the</a:t>
            </a:r>
          </a:p>
          <a:p>
            <a:r>
              <a:t>expert. Most of the time, you won't be. That gap is what we spend fourteen weeks on.</a:t>
            </a:r>
          </a:p>
          <a:p/>
          <a:p>
            <a:r>
              <a:t>Next week, a brief history of AI, natural language processing and large language</a:t>
            </a:r>
          </a:p>
          <a:p>
            <a:r>
              <a:t>models. How we got from 1950 to whatever this is. I know "history week" sounds like</a:t>
            </a:r>
          </a:p>
          <a:p>
            <a:r>
              <a:t>the week to skip. I'd ask you not to — almost everything people get wrong about</a:t>
            </a:r>
          </a:p>
          <a:p>
            <a:r>
              <a:t>where this technology is going comes from not knowing how many times the field has</a:t>
            </a:r>
          </a:p>
          <a:p>
            <a:r>
              <a:t>been here before.</a:t>
            </a:r>
          </a:p>
          <a:p/>
          <a:p>
            <a:r>
              <a:t>Nothing to prepare. Just turn up.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 in week one, and short answers:</a:t>
            </a:r>
          </a:p>
          <a:p/>
          <a:p>
            <a:r>
              <a:t>"Do I need to buy ChatGPT Plus?" — No. Never. Everything in this course works on</a:t>
            </a:r>
          </a:p>
          <a:p>
            <a:r>
              <a:t>free tiers and I check that each year.</a:t>
            </a:r>
          </a:p>
          <a:p/>
          <a:p>
            <a:r>
              <a:t>"Can I use AI for the assignments?" — There are no assignments; assessment is two</a:t>
            </a:r>
          </a:p>
          <a:p>
            <a:r>
              <a:t>written exams. For the in-class builds, using AI is the entire point.</a:t>
            </a:r>
          </a:p>
          <a:p/>
          <a:p>
            <a:r>
              <a:t>"What if I've never used any of this before?" — Genuinely fine, and about a third of</a:t>
            </a:r>
          </a:p>
          <a:p>
            <a:r>
              <a:t>the room is in that position every year. Weeks one to five assume nothing.</a:t>
            </a:r>
          </a:p>
          <a:p/>
          <a:p>
            <a:r>
              <a:t>"Is this course hard?" — The exams are fair and I tell you what's examinable every</a:t>
            </a:r>
          </a:p>
          <a:p>
            <a:r>
              <a:t>week. The part people find hard is not technical. It's the habit of checking</a:t>
            </a:r>
          </a:p>
          <a:p>
            <a:r>
              <a:t>something that looks right.</a:t>
            </a:r>
          </a:p>
          <a:p/>
          <a:p>
            <a:r>
              <a:t>If nobody has questions, let them go early. Week one running short is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Prompt Engineering and 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this course is different this year — and what changed in the field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vocabulary: generative AI, prompts, models, context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this matters in your discipline, whatever it is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In-class activity: You Are the Expert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you will build between Week 6 and Week 13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How you'll be assessed, and the ground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What This Course Is Actually For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You will not be hired to write prompts.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So why are we spending fourteen weeks on this?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Changed — and How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Reasoning is now inside the model.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"Let's think step by step" was a genuine technique in 2022. Today's reasoning models do this internally.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Scripting the reasoning yourself can now conflict with the model's own process.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specialist job largely evaporated.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"Prompt engineer" job postings fell about 40% between 2024 and 2025.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Roles in workflow design and AI systems thinking grew over the same period.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Prompting became literacy, not expertise.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Like using a search engine or a spreadsheet: expected of everyone, a career for almost no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Replaced It — and What Employers Now Ask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Understanding how these systems actually produce an answer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Recognising when an output is wrong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Spotting a hallucination before it reaches a patient, a client, or a grade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Knowing when human judgment is required and cannot be delegated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Designing a workflow, not writing a sentence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Sources: Campus, "AI Skills Employers Want in 2026"; TripleTen, "AI Skills 2026"; HackerNoon, "Why Practical AI Skills Matter More Than Prompt Engineering in 2026"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This is a course about working with a system that is capable, confident, and sometimes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Everything else we do is in service of that.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Vocabulary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Generative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AI that produces new content — text, images, audio, video, code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As opposed to AI that classifies, ranks, or predicts a number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Not generative: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Your bank's fraud detection deciding whether a transaction is suspicious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hospital system flagging which scans a radiologist should read first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Generative: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Drafting the letter, writing the summary, producing the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you give the system to get a response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Not only a question — an instruction, an example, a document, an image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"Summarise this discharge note for the patient's family."  — instruction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photo of a damaged part, with "what failed here?"  — image plus question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contract, with "flag anything that differs from our standard terms."  — document plus task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Everything you put in is the prompt — including the file you attached.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system itself — the thing that was trained, that you send prompts to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"Large language model" is the family most of this course is about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Different models have different strengths, costs, and knowledge cut-offs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same prompt can give different answers to different models — and to the same model twice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We will not build a learning outcome around any one company's product.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Tools change every few months. The concepts don't. Week 3 goes inside the model properly.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Everything the model can "see" when it answers you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Your current message, the conversation so far, any attached files, any system instructions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Two consequences you will meet all semester: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has no memory outside the context. A new conversation knows nothing about the last one.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Context is finite. Give it a 300-page document and something has to give.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This is also why sharing a chat can leak more than you intended — Week 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Four Words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The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Generative AI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category — systems that produce new content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Prompt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you give it, including files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Model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trained system you're talking to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Context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it can see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Used precisely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"I gave the model a prompt containing a PDF, and the context window couldn't hold all of it."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sentence should now be completely clear to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it isn't, stop me now — everything from here builds on these four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This Matters in Your Field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Healthcare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Genuinely useful: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Turning a discharge summary into language a family can actually follow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Drafting patient education material at a controlled reading level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Structuring a messy consultation transcript into a standard note format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Where it bites: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drug interaction, written as fluently as a real one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Patient data typed into a tool that stores and reuses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Genuinely useful: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Comparing a contract against a standard template and flagging deviations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Summarising a large volume of documents to decide what deserves reading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Translating a clause into plain language for a client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Where it bites: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Invented case citations — real courts have sanctioned real lawyers for this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Confident statements about jurisdictions the model knows little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Education, Business,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Education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differentiated materials, question banks, feedback drafts. Bites: plausible pedagogy that's wrong for the age group; work students didn't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Business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synthesising customer feedback, first drafts, competitor summaries. Bites: invented statistics with invented sources.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Engineering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explaining unfamiliar code, drafting documentation, generating test cases. Bites: code that runs perfectly and does the wrong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In every field, the dangerous failure is not the obvious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It is the fluent, well-formatted, professional-looking answer that happens to be false.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Activity: You Are the Expert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You Are the Expert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Open any free AI assistant in your browser.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ChatGPT, Claude, Gemini, Copilot — whichever you can reach. No account needed for most.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Ask it something you personally know well.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Your degree subject. Your home town. A hobby. Something where YOU are the expert in this room.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Ask a real question — not a trick, not a riddle.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kind of thing a colleague might genuinely ask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Now grade the answer honestly.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is right? What is subtly off? What is confidently wrong? What did it leave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Debrief: What Did You Find?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Who got an answer that was essentially correct?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Who found something subtly off — right facts, wrong emphasis, wrong for the context?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Who found something confidently, specifically wrong?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Who noticed something important missing?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question that matters: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Would you have caught it if it hadn't been your area of expertise?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How This Course Works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Shape of the Semester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Weeks 1–5 ·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  Introduction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2  A Brief History of AI, NLP and LLMs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3  How LLMs Work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4  Principles of Effective Prompting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5  Controlling Style, Tone and Format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Enough foundation that the failures make sense when you meet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Weeks 6–13 ·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6   Building Your First Tool Without Code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7   Grounding AI in Your Own Sources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8   Verification: Knowing When AI Is Wrong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9   AI Agents and Workflow Automation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10  Building for Your Own Field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11  Domain-Specific Applications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12  Prompt Injection and AI Security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13  Ethics, Copyright and Responsible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Will Actually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Micro-Tool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6 — a working, single-purpose web tool for a task in your field. No code.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Grounded Assistant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7 — an assistant that answers from documents you choose, and shows you where.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Test Set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8 — ten questions to break your own assistant. Three of them unanswerable.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Automation Chain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9 — a workflow that runs without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Field Build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10 — all of it, combined, for your own discipline.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Domain Pack  ·  Attack &amp; Patch Report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Weeks 11–12 — make it professional, then break a classmate's and defend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Midterm — 40%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In-class written exam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Final — 60%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Written exam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Pop quizzes — up to +10 bonus points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Five of them, unannounced, ten multiple-choice questions, about ten minutes.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All five count. Added on top of your 100. They can only help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things you build are not graded. Every build week ends by telling you exactly what is examinable.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Ground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Everything is free and runs in a browser.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installation, no payment, no API keys. If something asks you to pay, stop and tell me.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Bring a laptop if you can.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phone works for most activities. If you have neither, pair up — that's fine and normal.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Never put real patient, client, or personal data into these tools in class.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even anonymised. We use the sample material I provide. Week 12 explains exactly why.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Using AI on your own work: we'll set out the rules properly in Week 13.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Short version — using it and telling me is fine. Using it and hiding it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Prompting is now literacy, not a specialism — the durable skill is judgment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Four words, used precisely: generative AI, prompt, model, context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Across every field, the dangerous failure is the fluent, confident, wrong answer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 caught today's errors because you were the expert. Usually you won't be.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Brief History of AI, NLP and LLMs — how we got from 1950 to this, and why it matters that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