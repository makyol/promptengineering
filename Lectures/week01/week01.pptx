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welcome. This is Prompt Engineering and Large Language Models.</a:t>
            </a:r>
          </a:p>
          <a:p>
            <a:r>
              <a:t>I'm Mehmet Ali Akyol.</a:t>
            </a:r>
          </a:p>
          <a:p/>
          <a:p>
            <a:r>
              <a:t>Before anything else, let me say who this course is for, because I know some of you</a:t>
            </a:r>
          </a:p>
          <a:p>
            <a:r>
              <a:t>are checking whether you're in the right room. This is a university-wide elective.</a:t>
            </a:r>
          </a:p>
          <a:p>
            <a:r>
              <a:t>There is no prerequisite. You do not need to know how to program. You will not write</a:t>
            </a:r>
          </a:p>
          <a:p>
            <a:r>
              <a:t>a single line of code that I require you to understand.</a:t>
            </a:r>
          </a:p>
          <a:p/>
          <a:p>
            <a:r>
              <a:t>I have students here from medicine, from law, from education, from business, from</a:t>
            </a:r>
          </a:p>
          <a:p>
            <a:r>
              <a:t>engineering. That mix is not a problem I'm working around — it's the point. Some of</a:t>
            </a:r>
          </a:p>
          <a:p>
            <a:r>
              <a:t>the best moments in this room come from a law student and an engineering student</a:t>
            </a:r>
          </a:p>
          <a:p>
            <a:r>
              <a:t>discovering that they have exactly the same problem with these systems, arriving at</a:t>
            </a:r>
          </a:p>
          <a:p>
            <a:r>
              <a:t>it from completely different directions.</a:t>
            </a:r>
          </a:p>
          <a:p/>
          <a:p>
            <a:r>
              <a:t>So: fourteen weeks. The first five build the foundation. The eight after that, you</a:t>
            </a:r>
          </a:p>
          <a:p>
            <a:r>
              <a:t>build things — every week, something that works, that you made, in a browser,</a:t>
            </a:r>
          </a:p>
          <a:p>
            <a:r>
              <a:t>without writing code. The last week we pull it together.</a:t>
            </a:r>
          </a:p>
          <a:p/>
          <a:p>
            <a:r>
              <a:t>Let's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where we're going today.</a:t>
            </a:r>
          </a:p>
          <a:p/>
          <a:p>
            <a:r>
              <a:t>First, what this course is for. I'll give you the one sentence that the whole</a:t>
            </a:r>
          </a:p>
          <a:p>
            <a:r>
              <a:t>semester hangs on, and I'll tell you what you should be able to do in January that</a:t>
            </a:r>
          </a:p>
          <a:p>
            <a:r>
              <a:t>you can't do today.</a:t>
            </a:r>
          </a:p>
          <a:p/>
          <a:p>
            <a:r>
              <a:t>Then the vocabulary. Four words: generative AI, prompt, model, context. By the end</a:t>
            </a:r>
          </a:p>
          <a:p>
            <a:r>
              <a:t>of that section you should be able to use all four precisely. Most people use them</a:t>
            </a:r>
          </a:p>
          <a:p>
            <a:r>
              <a:t>interchangeably, and they are not interchangeable — and the confusion causes real</a:t>
            </a:r>
          </a:p>
          <a:p>
            <a:r>
              <a:t>problems later, particularly in week twelve.</a:t>
            </a:r>
          </a:p>
          <a:p/>
          <a:p>
            <a:r>
              <a:t>Then why this matters in your field specifically. I'll go through healthcare, law,</a:t>
            </a:r>
          </a:p>
          <a:p>
            <a:r>
              <a:t>education, business and engineering. While I'm on the others, think about yours.</a:t>
            </a:r>
          </a:p>
          <a:p/>
          <a:p>
            <a:r>
              <a:t>Then we do something rather than just talk about it. There's an activity, and there</a:t>
            </a:r>
          </a:p>
          <a:p>
            <a:r>
              <a:t>are two worked examples that we'll go through together on screen.</a:t>
            </a:r>
          </a:p>
          <a:p/>
          <a:p>
            <a:r>
              <a:t>Then the course map — what you'll actually build, with names — and the practical</a:t>
            </a:r>
          </a:p>
          <a:p>
            <a:r>
              <a:t>business of assessment and rules.</a:t>
            </a:r>
          </a:p>
          <a:p/>
          <a:p>
            <a:r>
              <a:t>One housekeeping note. Everything we use this semester runs in a browser and is</a:t>
            </a:r>
          </a:p>
          <a:p>
            <a:r>
              <a:t>free. No installation, no payment, no API keys. If that ever appears to be untrue,</a:t>
            </a:r>
          </a:p>
          <a:p>
            <a:r>
              <a:t>tell me straight away, because it means I've made a mistake and I need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What this course is for.</a:t>
            </a:r>
          </a:p>
          <a:p/>
          <a:p>
            <a:r>
              <a:t>I want to give you the thesis in the first fifteen minutes rather than build up to</a:t>
            </a:r>
          </a:p>
          <a:p>
            <a:r>
              <a:t>it, because I think you'll follow the rest of the semester better if you know where</a:t>
            </a:r>
          </a:p>
          <a:p>
            <a:r>
              <a:t>it's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sentence. This is a course about working with a system that is capable,</a:t>
            </a:r>
          </a:p>
          <a:p>
            <a:r>
              <a:t>confident, and sometimes wrong.</a:t>
            </a:r>
          </a:p>
          <a:p/>
          <a:p>
            <a:r>
              <a:t>Take the three words one at a time, because each one is doing work.</a:t>
            </a:r>
          </a:p>
          <a:p/>
          <a:p>
            <a:r>
              <a:t>Capable. Genuinely, remarkably capable — and I am not going to spend fourteen weeks</a:t>
            </a:r>
          </a:p>
          <a:p>
            <a:r>
              <a:t>being cynical about that. These tools are useful. You should use them. I use them.</a:t>
            </a:r>
          </a:p>
          <a:p>
            <a:r>
              <a:t>A course that spent the semester telling you to be suspicious would be a waste of</a:t>
            </a:r>
          </a:p>
          <a:p>
            <a:r>
              <a:t>your time and mine.</a:t>
            </a:r>
          </a:p>
          <a:p/>
          <a:p>
            <a:r>
              <a:t>Confident. It will never hedge unless you make it hedge. It has no facial</a:t>
            </a:r>
          </a:p>
          <a:p>
            <a:r>
              <a:t>expression. It does not slow down when it's unsure. Think about what happens when</a:t>
            </a:r>
          </a:p>
          <a:p>
            <a:r>
              <a:t>you ask a human expert something at the edge of their knowledge — they pause, they</a:t>
            </a:r>
          </a:p>
          <a:p>
            <a:r>
              <a:t>say "I think," they qualify it. You read that signal without noticing you're reading</a:t>
            </a:r>
          </a:p>
          <a:p>
            <a:r>
              <a:t>it. These systems give you no such signal. The confidence is flat, all the way</a:t>
            </a:r>
          </a:p>
          <a:p>
            <a:r>
              <a:t>across.</a:t>
            </a:r>
          </a:p>
          <a:p/>
          <a:p>
            <a:r>
              <a:t>And sometimes wrong. Not usually wrong. Not always wrong. Sometimes — which is much</a:t>
            </a:r>
          </a:p>
          <a:p>
            <a:r>
              <a:t>more dangerous than usually, because a tool that's usually wrong gets abandoned in a</a:t>
            </a:r>
          </a:p>
          <a:p>
            <a:r>
              <a:t>week, and a tool that's sometimes wrong gets trusted.</a:t>
            </a:r>
          </a:p>
          <a:p/>
          <a:p>
            <a:r>
              <a:t>Capable, confident, sometimes wrong. Everything we do serves that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Concretely, this is what you should be able to do in January.</a:t>
            </a:r>
          </a:p>
          <a:p/>
          <a:p>
            <a:r>
              <a:t>Explain in plain language how these systems produce an answer. Not the mathematics —</a:t>
            </a:r>
          </a:p>
          <a:p>
            <a:r>
              <a:t>plain language, to a colleague who has never thought about it.</a:t>
            </a:r>
          </a:p>
          <a:p/>
          <a:p>
            <a:r>
              <a:t>Judge whether an answer is trustworthy, including outside your own expertise. That's</a:t>
            </a:r>
          </a:p>
          <a:p>
            <a:r>
              <a:t>in bold because it's the hardest one and the most valuable one, and we'll come back</a:t>
            </a:r>
          </a:p>
          <a:p>
            <a:r>
              <a:t>to why in about half an hour.</a:t>
            </a:r>
          </a:p>
          <a:p/>
          <a:p>
            <a:r>
              <a:t>Point a system at your own documents — a statute, a guideline, a set of lecture</a:t>
            </a:r>
          </a:p>
          <a:p>
            <a:r>
              <a:t>notes — and then check whether it actually used them, rather than taking its word</a:t>
            </a:r>
          </a:p>
          <a:p>
            <a:r>
              <a:t>for it.</a:t>
            </a:r>
          </a:p>
          <a:p/>
          <a:p>
            <a:r>
              <a:t>Design a workflow of several steps. And, just as importantly, recognise when that's</a:t>
            </a:r>
          </a:p>
          <a:p>
            <a:r>
              <a:t>overengineering and a single well-formed question would have done the job. Knowing</a:t>
            </a:r>
          </a:p>
          <a:p>
            <a:r>
              <a:t>when not to build something is a real skill.</a:t>
            </a:r>
          </a:p>
          <a:p/>
          <a:p>
            <a:r>
              <a:t>Identify how these systems can be attacked, and defend what you've built. Week</a:t>
            </a:r>
          </a:p>
          <a:p>
            <a:r>
              <a:t>twelve. That's the one students tell me about afterwards.</a:t>
            </a:r>
          </a:p>
          <a:p/>
          <a:p>
            <a:r>
              <a:t>And handle institutional, personal, and patient data responsibly — which for many of</a:t>
            </a:r>
          </a:p>
          <a:p>
            <a:r>
              <a:t>you will be a professional obligation, not a preference.</a:t>
            </a:r>
          </a:p>
          <a:p/>
          <a:p>
            <a:r>
              <a:t>Notice what's not on this list. There's no "memorise a set of prompt formulas."</a:t>
            </a:r>
          </a:p>
          <a:p>
            <a:r>
              <a:t>Every item is a judgment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be precise about the boundaries, since this is an elective and you're deciding</a:t>
            </a:r>
          </a:p>
          <a:p>
            <a:r>
              <a:t>whether to stay.</a:t>
            </a:r>
          </a:p>
          <a:p/>
          <a:p>
            <a:r>
              <a:t>What it is. A course about judgment — when to trust an output and how to check it.</a:t>
            </a:r>
          </a:p>
          <a:p>
            <a:r>
              <a:t>A course where you build things: eight weeks of building, all in a browser, all free.</a:t>
            </a:r>
          </a:p>
          <a:p>
            <a:r>
              <a:t>And cross-disciplinary by design — every concept gets illustrated in five fields, and</a:t>
            </a:r>
          </a:p>
          <a:p>
            <a:r>
              <a:t>if I only ever gave software examples I'd be teaching a different course to a</a:t>
            </a:r>
          </a:p>
          <a:p>
            <a:r>
              <a:t>different room.</a:t>
            </a:r>
          </a:p>
          <a:p/>
          <a:p>
            <a:r>
              <a:t>What it isn't. It is not a programming course. No code is required of you at any</a:t>
            </a:r>
          </a:p>
          <a:p>
            <a:r>
              <a:t>point. If I ever show you code, it will be marked optional and I will explain what it</a:t>
            </a:r>
          </a:p>
          <a:p>
            <a:r>
              <a:t>does in plain language, and you will never be examined on it.</a:t>
            </a:r>
          </a:p>
          <a:p/>
          <a:p>
            <a:r>
              <a:t>It is not a course about one company's product. I'll name tools constantly, because</a:t>
            </a:r>
          </a:p>
          <a:p>
            <a:r>
              <a:t>you can't do anything with abstractions. But the tools we use in week seven may not</a:t>
            </a:r>
          </a:p>
          <a:p>
            <a:r>
              <a:t>be the leaders by the time you graduate, and what you learn about grounding will</a:t>
            </a:r>
          </a:p>
          <a:p>
            <a:r>
              <a:t>still be true. Concepts are the curriculum. Tools are the illustration.</a:t>
            </a:r>
          </a:p>
          <a:p/>
          <a:p>
            <a:r>
              <a:t>And it is not a collection of magic phrases. There is no secret wording. If someone</a:t>
            </a:r>
          </a:p>
          <a:p>
            <a:r>
              <a:t>sells you a list of a hundred perfect prompts, they are selling you something with a</a:t>
            </a:r>
          </a:p>
          <a:p>
            <a:r>
              <a:t>very short shelf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vocabulary. Four words, used precisely for fourteen weeks. I promise</a:t>
            </a:r>
          </a:p>
          <a:p>
            <a:r>
              <a:t>this is the driest ten minutes of the semester, and it pays for itself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Generative AI. AI that produces new content — text, images, audio, video, code.</a:t>
            </a:r>
          </a:p>
          <a:p/>
          <a:p>
            <a:r>
              <a:t>The word "generative" is doing real work, because it separates this from the AI that</a:t>
            </a:r>
          </a:p>
          <a:p>
            <a:r>
              <a:t>has been running quietly in the background of your life for a decade.</a:t>
            </a:r>
          </a:p>
          <a:p/>
          <a:p>
            <a:r>
              <a:t>Two things that are not generative. Your bank's fraud detection: it looks at a</a:t>
            </a:r>
          </a:p>
          <a:p>
            <a:r>
              <a:t>transaction and decides suspicious or not suspicious. That's classification — it</a:t>
            </a:r>
          </a:p>
          <a:p>
            <a:r>
              <a:t>picks from options that already exist. Or a hospital system that takes a queue of</a:t>
            </a:r>
          </a:p>
          <a:p>
            <a:r>
              <a:t>scans and decides what order a radiologist should read them in. That's ranking. Also</a:t>
            </a:r>
          </a:p>
          <a:p>
            <a:r>
              <a:t>not generative.</a:t>
            </a:r>
          </a:p>
          <a:p/>
          <a:p>
            <a:r>
              <a:t>Generative is when it drafts the letter. Writes the summary. Produces the image.</a:t>
            </a:r>
          </a:p>
          <a:p>
            <a:r>
              <a:t>Something exists afterwards that did not exist before, and it came out of the model</a:t>
            </a:r>
          </a:p>
          <a:p>
            <a:r>
              <a:t>rather than being selected from a list.</a:t>
            </a:r>
          </a:p>
          <a:p/>
          <a:p>
            <a:r>
              <a:t>Why does this distinction matter to us? Because classification systems are wrong in</a:t>
            </a:r>
          </a:p>
          <a:p>
            <a:r>
              <a:t>ways you can count. You can measure how often the fraud detector was right, put a</a:t>
            </a:r>
          </a:p>
          <a:p>
            <a:r>
              <a:t>number on it, and improve it. Generative systems are wrong in ways that need a human</a:t>
            </a:r>
          </a:p>
          <a:p>
            <a:r>
              <a:t>being to read the output and judge it. There is no accuracy percentage for "was this</a:t>
            </a:r>
          </a:p>
          <a:p>
            <a:r>
              <a:t>letter any good."</a:t>
            </a:r>
          </a:p>
          <a:p/>
          <a:p>
            <a:r>
              <a:t>That gap — the fact that judging the output requires a person — is the entire reason</a:t>
            </a:r>
          </a:p>
          <a:p>
            <a:r>
              <a:t>this course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prompt is what you give the system in order to get a response.</a:t>
            </a:r>
          </a:p>
          <a:p/>
          <a:p>
            <a:r>
              <a:t>Most people hear "prompt" and think "the question I typed." That's too narrow, and</a:t>
            </a:r>
          </a:p>
          <a:p>
            <a:r>
              <a:t>the narrowness will cause you a specific problem later. A prompt is an instruction,</a:t>
            </a:r>
          </a:p>
          <a:p>
            <a:r>
              <a:t>or an example, or a document, or an image — or all four at once.</a:t>
            </a:r>
          </a:p>
          <a:p/>
          <a:p>
            <a:r>
              <a:t>Three examples. "Summarise this discharge note for the patient's family" — an</a:t>
            </a:r>
          </a:p>
          <a:p>
            <a:r>
              <a:t>instruction, not a question. A photo of a damaged component with "what failed here?"</a:t>
            </a:r>
          </a:p>
          <a:p>
            <a:r>
              <a:t>— an image and a question, and the image is every bit as much part of the prompt as</a:t>
            </a:r>
          </a:p>
          <a:p>
            <a:r>
              <a:t>the words. A contract attached with "flag anything that differs from our standard</a:t>
            </a:r>
          </a:p>
          <a:p>
            <a:r>
              <a:t>terms" — the entire contract, every page of it, is part of the prompt.</a:t>
            </a:r>
          </a:p>
          <a:p/>
          <a:p>
            <a:r>
              <a:t>The bold line is the one to keep: everything you put in is the prompt, including the</a:t>
            </a:r>
          </a:p>
          <a:p>
            <a:r>
              <a:t>file you attached.</a:t>
            </a:r>
          </a:p>
          <a:p/>
          <a:p>
            <a:r>
              <a:t>Here's why I'm making a point of it. In week twelve we look at what happens when</a:t>
            </a:r>
          </a:p>
          <a:p>
            <a:r>
              <a:t>somebody hides an instruction inside a document that you upload. If you believe the</a:t>
            </a:r>
          </a:p>
          <a:p>
            <a:r>
              <a:t>prompt is only what you typed, you will not see that coming, because you'll be</a:t>
            </a:r>
          </a:p>
          <a:p>
            <a:r>
              <a:t>watching the wrong thing. If you understand that the document is also the prompt,</a:t>
            </a:r>
          </a:p>
          <a:p>
            <a:r>
              <a:t>you'll see it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the system itself. The thing that was trained on an enormous quantity of</a:t>
            </a:r>
          </a:p>
          <a:p>
            <a:r>
              <a:t>material, and the thing you're sending your prompt to.</a:t>
            </a:r>
          </a:p>
          <a:p/>
          <a:p>
            <a:r>
              <a:t>Large language model — LLM — is the family this course is mostly about. Week three</a:t>
            </a:r>
          </a:p>
          <a:p>
            <a:r>
              <a:t>is entirely about what's happening inside one, so I'm keeping this short.</a:t>
            </a:r>
          </a:p>
          <a:p/>
          <a:p>
            <a:r>
              <a:t>Three properties worth having now. Different models have genuinely different</a:t>
            </a:r>
          </a:p>
          <a:p>
            <a:r>
              <a:t>strengths, different costs, and different knowledge cut-offs. A knowledge cut-off is</a:t>
            </a:r>
          </a:p>
          <a:p>
            <a:r>
              <a:t>a date after which the model simply doesn't know what happened — it isn't reading the</a:t>
            </a:r>
          </a:p>
          <a:p>
            <a:r>
              <a:t>news, it isn't updating. Ask it about something from last month and you may get a</a:t>
            </a:r>
          </a:p>
          <a:p>
            <a:r>
              <a:t>confident answer built out of nothing.</a:t>
            </a:r>
          </a:p>
          <a:p/>
          <a:p>
            <a:r>
              <a:t>And this one surprises people, so I'll say it slowly: the same prompt can give you</a:t>
            </a:r>
          </a:p>
          <a:p>
            <a:r>
              <a:t>different answers on different models, and it can give you different answers on the</a:t>
            </a:r>
          </a:p>
          <a:p>
            <a:r>
              <a:t>same model twice. These systems are not deterministic. If you come from mathematics</a:t>
            </a:r>
          </a:p>
          <a:p>
            <a:r>
              <a:t>or engineering, where the same input gives the same output, adjust that expectation</a:t>
            </a:r>
          </a:p>
          <a:p>
            <a:r>
              <a:t>now — it will save you confusion in week eight when you're testing something and the</a:t>
            </a:r>
          </a:p>
          <a:p>
            <a:r>
              <a:t>result moves under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Context. Everything the model can see at the moment it answers you.</a:t>
            </a:r>
          </a:p>
          <a:p/>
          <a:p>
            <a:r>
              <a:t>That includes your current message, the conversation so far, any files you've</a:t>
            </a:r>
          </a:p>
          <a:p>
            <a:r>
              <a:t>attached, and — this part matters — any behind-the-scenes instructions the tool adds</a:t>
            </a:r>
          </a:p>
          <a:p>
            <a:r>
              <a:t>without showing you. Most products you'll use put text in front of your message that</a:t>
            </a:r>
          </a:p>
          <a:p>
            <a:r>
              <a:t>you never see.</a:t>
            </a:r>
          </a:p>
          <a:p/>
          <a:p>
            <a:r>
              <a:t>Two consequences.</a:t>
            </a:r>
          </a:p>
          <a:p/>
          <a:p>
            <a:r>
              <a:t>First: there is no memory outside the context. Open a new conversation and it knows</a:t>
            </a:r>
          </a:p>
          <a:p>
            <a:r>
              <a:t>nothing about the previous one. Nothing at all. Students find this genuinely</a:t>
            </a:r>
          </a:p>
          <a:p>
            <a:r>
              <a:t>disorienting, because the system talks like a colleague who remembers you, and it</a:t>
            </a:r>
          </a:p>
          <a:p>
            <a:r>
              <a:t>does not. Everything it appears to know about your situation is sitting in the</a:t>
            </a:r>
          </a:p>
          <a:p>
            <a:r>
              <a:t>current context, and when that context ends, it's gone.</a:t>
            </a:r>
          </a:p>
          <a:p/>
          <a:p>
            <a:r>
              <a:t>Second: context is finite. There's a ceiling. Give it a three-hundred-page document</a:t>
            </a:r>
          </a:p>
          <a:p>
            <a:r>
              <a:t>and something has to give — either it refuses, or it works from part of it. And it</a:t>
            </a:r>
          </a:p>
          <a:p>
            <a:r>
              <a:t>may not tell you which part. That's a quiet failure and it's exactly the kind we care</a:t>
            </a:r>
          </a:p>
          <a:p>
            <a:r>
              <a:t>about. Week three covers the mechanism; week seven is largely about working around it</a:t>
            </a:r>
          </a:p>
          <a:p>
            <a:r>
              <a:t>well.</a:t>
            </a:r>
          </a:p>
          <a:p/>
          <a:p>
            <a:r>
              <a:t>One preview: this is also why sharing a chat transcript can reveal more than you</a:t>
            </a:r>
          </a:p>
          <a:p>
            <a:r>
              <a:t>meant to. The context holds things you've stopped thinking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put them together.</a:t>
            </a:r>
          </a:p>
          <a:p/>
          <a:p>
            <a:r>
              <a:t>Generative AI is the category — systems that produce new content. The prompt is</a:t>
            </a:r>
          </a:p>
          <a:p>
            <a:r>
              <a:t>everything you give it, including files. The model is the trained system you're</a:t>
            </a:r>
          </a:p>
          <a:p>
            <a:r>
              <a:t>talking to. Context is everything it can see right now.</a:t>
            </a:r>
          </a:p>
          <a:p/>
          <a:p>
            <a:r>
              <a:t>And here's the test. Read the sentence on the right.</a:t>
            </a:r>
          </a:p>
          <a:p/>
          <a:p>
            <a:r>
              <a:t>"I gave the model a prompt containing a PDF, and the context window couldn't hold all</a:t>
            </a:r>
          </a:p>
          <a:p>
            <a:r>
              <a:t>of it."</a:t>
            </a:r>
          </a:p>
          <a:p/>
          <a:p>
            <a:r>
              <a:t>Four words, one sentence, and it should now be completely transparent to you. It</a:t>
            </a:r>
          </a:p>
          <a:p>
            <a:r>
              <a:t>describes a situation you'll be in personally by week seven.</a:t>
            </a:r>
          </a:p>
          <a:p/>
          <a:p>
            <a:r>
              <a:t>If any part of that is fuzzy, say so now — this is a five-minute fix today and a</a:t>
            </a:r>
          </a:p>
          <a:p>
            <a:r>
              <a:t>serious handicap in week eight. Everything from here builds on these four words.</a:t>
            </a:r>
          </a:p>
          <a:p/>
          <a:p>
            <a:r>
              <a:t>[Pause here properly. Count to five before moving on. If nobody speaks, move on —</a:t>
            </a:r>
          </a:p>
          <a:p>
            <a:r>
              <a:t>but give them the five seconds.]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Why this matters in your field.</a:t>
            </a:r>
          </a:p>
          <a:p/>
          <a:p>
            <a:r>
              <a:t>Five disciplines. Yours is probably one of them. While I'm on the others, think about</a:t>
            </a:r>
          </a:p>
          <a:p>
            <a:r>
              <a:t>the equivalent in your own work — because shortly I'm going to ask you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Healthcare first, since we're at a medical university.</a:t>
            </a:r>
          </a:p>
          <a:p/>
          <a:p>
            <a:r>
              <a:t>Genuinely useful. Turning a discharge summary into language a family can actually</a:t>
            </a:r>
          </a:p>
          <a:p>
            <a:r>
              <a:t>follow — this is a real, documented problem. Families leave hospital not understanding</a:t>
            </a:r>
          </a:p>
          <a:p>
            <a:r>
              <a:t>the instructions they were given, and this is a task these systems do well. Drafting</a:t>
            </a:r>
          </a:p>
          <a:p>
            <a:r>
              <a:t>patient education material at a controlled reading level. Taking a messy consultation</a:t>
            </a:r>
          </a:p>
          <a:p>
            <a:r>
              <a:t>transcript and structuring it into a standard note format.</a:t>
            </a:r>
          </a:p>
          <a:p/>
          <a:p>
            <a:r>
              <a:t>Now where it bites. A fabricated drug interaction — and here's the part to</a:t>
            </a:r>
          </a:p>
          <a:p>
            <a:r>
              <a:t>internalise — written exactly as fluently as a real one. It will not look uncertain.</a:t>
            </a:r>
          </a:p>
          <a:p>
            <a:r>
              <a:t>It will not be hedged. It will read precisely the way the true ones read. There is no</a:t>
            </a:r>
          </a:p>
          <a:p>
            <a:r>
              <a:t>visual difference between the model reporting what it knows and the model inventing</a:t>
            </a:r>
          </a:p>
          <a:p>
            <a:r>
              <a:t>something.</a:t>
            </a:r>
          </a:p>
          <a:p/>
          <a:p>
            <a:r>
              <a:t>And the second: patient data typed into a tool that stores it and may reuse it. Some</a:t>
            </a:r>
          </a:p>
          <a:p>
            <a:r>
              <a:t>of you will be on a rotation where that's a live risk within two years.</a:t>
            </a:r>
          </a:p>
          <a:p/>
          <a:p>
            <a:r>
              <a:t>I want to be clear that I am not telling you never to use these tools clinically. I'm</a:t>
            </a:r>
          </a:p>
          <a:p>
            <a:r>
              <a:t>telling you that the checking is the job, and we're going to practise it until it's</a:t>
            </a:r>
          </a:p>
          <a:p>
            <a:r>
              <a:t>a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Law.</a:t>
            </a:r>
          </a:p>
          <a:p/>
          <a:p>
            <a:r>
              <a:t>Useful: comparing a contract against a standard template and flagging what differs.</a:t>
            </a:r>
          </a:p>
          <a:p>
            <a:r>
              <a:t>Summarising a large volume of documents to work out what actually deserves a human</a:t>
            </a:r>
          </a:p>
          <a:p>
            <a:r>
              <a:t>reading — that triage is valuable and tedious. Translating a dense clause into plain</a:t>
            </a:r>
          </a:p>
          <a:p>
            <a:r>
              <a:t>language for a client, which lawyers spend a great deal of time doing.</a:t>
            </a:r>
          </a:p>
          <a:p/>
          <a:p>
            <a:r>
              <a:t>Where it bites. Invented case citations. Courts have sanctioned lawyers who filed</a:t>
            </a:r>
          </a:p>
          <a:p>
            <a:r>
              <a:t>documents containing cases that do not exist. And the citations looked perfect —</a:t>
            </a:r>
          </a:p>
          <a:p>
            <a:r>
              <a:t>correct format, plausible court, plausible year, plausible party names. Entirely</a:t>
            </a:r>
          </a:p>
          <a:p>
            <a:r>
              <a:t>fiction. We'll look at one on the next few slides.</a:t>
            </a:r>
          </a:p>
          <a:p/>
          <a:p>
            <a:r>
              <a:t>And the quieter failure, which I think is more dangerous precisely because nobody</a:t>
            </a:r>
          </a:p>
          <a:p>
            <a:r>
              <a:t>becomes famous for it: confident statements about jurisdictions the model knows very</a:t>
            </a:r>
          </a:p>
          <a:p>
            <a:r>
              <a:t>little about. It has read an enormous amount of American law. It has read</a:t>
            </a:r>
          </a:p>
          <a:p>
            <a:r>
              <a:t>considerably less Turkish law. It will not tell you that. Its confidence does not</a:t>
            </a:r>
          </a:p>
          <a:p>
            <a:r>
              <a:t>fall when its knowledge does.</a:t>
            </a:r>
          </a:p>
          <a:p/>
          <a:p>
            <a:r>
              <a:t>Write that down, because it generalises to every field on this list. Confidence stays</a:t>
            </a:r>
          </a:p>
          <a:p>
            <a:r>
              <a:t>flat while knowledge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more, more briefly.</a:t>
            </a:r>
          </a:p>
          <a:p/>
          <a:p>
            <a:r>
              <a:t>Education. Useful for differentiated materials — the same concept rewritten for</a:t>
            </a:r>
          </a:p>
          <a:p>
            <a:r>
              <a:t>three different levels — question banks, and first drafts of feedback. Where it</a:t>
            </a:r>
          </a:p>
          <a:p>
            <a:r>
              <a:t>bites: plausible-sounding pedagogy that's simply wrong for the age group. It will</a:t>
            </a:r>
          </a:p>
          <a:p>
            <a:r>
              <a:t>confidently produce a lesson plan for eight-year-olds that no eight-year-old could</a:t>
            </a:r>
          </a:p>
          <a:p>
            <a:r>
              <a:t>follow, and it will look like a lesson plan.</a:t>
            </a:r>
          </a:p>
          <a:p/>
          <a:p>
            <a:r>
              <a:t>Business. Useful for synthesising a large volume of customer feedback, first drafts</a:t>
            </a:r>
          </a:p>
          <a:p>
            <a:r>
              <a:t>of almost anything, competitor summaries. Where it bites: invented statistics</a:t>
            </a:r>
          </a:p>
          <a:p>
            <a:r>
              <a:t>attached to real-sounding sources. This is a specific and common failure — it gives</a:t>
            </a:r>
          </a:p>
          <a:p>
            <a:r>
              <a:t>you a number and attributes it to a real consulting firm that never published it.</a:t>
            </a:r>
          </a:p>
          <a:p>
            <a:r>
              <a:t>The firm exists. The report doesn't.</a:t>
            </a:r>
          </a:p>
          <a:p/>
          <a:p>
            <a:r>
              <a:t>Engineering. Useful for explaining code you didn't write, drafting documentation</a:t>
            </a:r>
          </a:p>
          <a:p>
            <a:r>
              <a:t>nobody wants to write, generating test cases. Where it bites: code that runs</a:t>
            </a:r>
          </a:p>
          <a:p>
            <a:r>
              <a:t>perfectly and does the wrong thing — which is worse than code that fails, because</a:t>
            </a:r>
          </a:p>
          <a:p>
            <a:r>
              <a:t>code that fails announces itself.</a:t>
            </a:r>
          </a:p>
          <a:p/>
          <a:p>
            <a:r>
              <a:t>Do you see the pattern across all five? The failure is never "it broke." The failure</a:t>
            </a:r>
          </a:p>
          <a:p>
            <a:r>
              <a:t>is always "it worked beautifully, and it was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make that explicit, because it's the thesis restated.</a:t>
            </a:r>
          </a:p>
          <a:p/>
          <a:p>
            <a:r>
              <a:t>In every field, the dangerous failure is not the obvious one. It's the fluent,</a:t>
            </a:r>
          </a:p>
          <a:p>
            <a:r>
              <a:t>well-formatted, professional-looking answer that happens to be false.</a:t>
            </a:r>
          </a:p>
          <a:p/>
          <a:p>
            <a:r>
              <a:t>If these systems produced obvious nonsense, we wouldn't need a course. You'd look at</a:t>
            </a:r>
          </a:p>
          <a:p>
            <a:r>
              <a:t>it, you'd laugh, you'd move on. The reason we need fourteen weeks is that the output</a:t>
            </a:r>
          </a:p>
          <a:p>
            <a:r>
              <a:t>looks exactly like competent professional work. Right structure. Right vocabulary.</a:t>
            </a:r>
          </a:p>
          <a:p>
            <a:r>
              <a:t>Confident tone. Well organised. And a certain fraction of the time, simply untrue.</a:t>
            </a:r>
          </a:p>
          <a:p/>
          <a:p>
            <a:r>
              <a:t>Your professional value — genuinely, in whatever field you end up in — is going to</a:t>
            </a:r>
          </a:p>
          <a:p>
            <a:r>
              <a:t>sit substantially in being the person who can tell the difference.</a:t>
            </a:r>
          </a:p>
          <a:p/>
          <a:p>
            <a:r>
              <a:t>Right. Let's look at what that actually looks like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</a:t>
            </a:r>
          </a:p>
          <a:p/>
          <a:p>
            <a:r>
              <a:t>Every week has an activity. If you have a laptop or a phone, you can run this one</a:t>
            </a:r>
          </a:p>
          <a:p>
            <a:r>
              <a:t>yourself. If you'd rather watch, that's fine too — I'll work through two examples on</a:t>
            </a:r>
          </a:p>
          <a:p>
            <a:r>
              <a:t>screen afterwards and we'll get to the same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Here's what to do.</a:t>
            </a:r>
          </a:p>
          <a:p/>
          <a:p>
            <a:r>
              <a:t>Step one. Open any free AI assistant in your browser — ChatGPT, Claude, Gemini,</a:t>
            </a:r>
          </a:p>
          <a:p>
            <a:r>
              <a:t>Copilot, whichever loads on the campus network. Most let you ask questions without an</a:t>
            </a:r>
          </a:p>
          <a:p>
            <a:r>
              <a:t>account. If one won't load, try another. If nothing loads, just watch; we'll cover</a:t>
            </a:r>
          </a:p>
          <a:p>
            <a:r>
              <a:t>the same ground together in a moment.</a:t>
            </a:r>
          </a:p>
          <a:p/>
          <a:p>
            <a:r>
              <a:t>Step two, and this is the important one. Ask it something you personally know well.</a:t>
            </a:r>
          </a:p>
          <a:p>
            <a:r>
              <a:t>Your degree subject. Your home town. A hobby you've had for years. Something where</a:t>
            </a:r>
          </a:p>
          <a:p>
            <a:r>
              <a:t>you — not me, not the internet — are the actual expert in this room.</a:t>
            </a:r>
          </a:p>
          <a:p/>
          <a:p>
            <a:r>
              <a:t>Step three. Ask a real question. Not a trick, not a riddle, not "how many letters in</a:t>
            </a:r>
          </a:p>
          <a:p>
            <a:r>
              <a:t>this word." I want the kind of question a colleague might genuinely ask you. The</a:t>
            </a:r>
          </a:p>
          <a:p>
            <a:r>
              <a:t>exercise fails if you try to break it, because breaking it is easy and tells you</a:t>
            </a:r>
          </a:p>
          <a:p>
            <a:r>
              <a:t>nothing about how it behaves when you're actually relying on it.</a:t>
            </a:r>
          </a:p>
          <a:p/>
          <a:p>
            <a:r>
              <a:t>Step four. Grade the answer honestly, on four things. What's right? What's subtly off</a:t>
            </a:r>
          </a:p>
          <a:p>
            <a:r>
              <a:t>— not wrong exactly, but not how you would put it? What's confidently wrong? And what</a:t>
            </a:r>
          </a:p>
          <a:p>
            <a:r>
              <a:t>did it leave out that you'd have said?</a:t>
            </a:r>
          </a:p>
          <a:p/>
          <a:p>
            <a:r>
              <a:t>That last question is the one people skip, and it's often the most revealing.</a:t>
            </a:r>
          </a:p>
          <a:p/>
          <a:p>
            <a:r>
              <a:t>[Circulate if they're working. If the room is quiet or nobody has a device, don't</a:t>
            </a:r>
          </a:p>
          <a:p>
            <a:r>
              <a:t>force it — go straight to the worked examples on the next slides. They stand alone.]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worked example. This is the failure that has put real lawyers in front of real</a:t>
            </a:r>
          </a:p>
          <a:p>
            <a:r>
              <a:t>judges, and it's worth understanding precisely, because the mechanism generalises.</a:t>
            </a:r>
          </a:p>
          <a:p/>
          <a:p>
            <a:r>
              <a:t>Somebody asks for a leading case on employer liability for workplace injury, with the</a:t>
            </a:r>
          </a:p>
          <a:p>
            <a:r>
              <a:t>citation.</a:t>
            </a:r>
          </a:p>
          <a:p/>
          <a:p>
            <a:r>
              <a:t>What comes back has three parts. A confident paragraph summarising the legal</a:t>
            </a:r>
          </a:p>
          <a:p>
            <a:r>
              <a:t>principle — and this part is often largely accurate, because the principle is</a:t>
            </a:r>
          </a:p>
          <a:p>
            <a:r>
              <a:t>genuinely well represented in what the model has read. Then a case name, in correct</a:t>
            </a:r>
          </a:p>
          <a:p>
            <a:r>
              <a:t>citation format, attributed to a plausible court, with a plausible year. Then a</a:t>
            </a:r>
          </a:p>
          <a:p>
            <a:r>
              <a:t>one-line statement of what the case supposedly held.</a:t>
            </a:r>
          </a:p>
          <a:p/>
          <a:p>
            <a:r>
              <a:t>And the case does not exist. It was never decided. Nobody ever argued it.</a:t>
            </a:r>
          </a:p>
          <a:p/>
          <a:p>
            <a:r>
              <a:t>Now — why is this so convincing? Not because the model is trying to deceive anyone.</a:t>
            </a:r>
          </a:p>
          <a:p>
            <a:r>
              <a:t>Because everything around the fabrication was correct. The legal principle was right.</a:t>
            </a:r>
          </a:p>
          <a:p>
            <a:r>
              <a:t>The citation format was right. The court exists. The year is plausible. The</a:t>
            </a:r>
          </a:p>
          <a:p>
            <a:r>
              <a:t>fabrication is a single element embedded in a correct structure, and that structure</a:t>
            </a:r>
          </a:p>
          <a:p>
            <a:r>
              <a:t>is what your judgment is checking against.</a:t>
            </a:r>
          </a:p>
          <a:p/>
          <a:p>
            <a:r>
              <a:t>This is the general shape. The wrong thing sits inside a frame of right things. Which</a:t>
            </a:r>
          </a:p>
          <a:p>
            <a:r>
              <a:t>is exactly why "does this look right?" is not a sufficient test — it looked right.</a:t>
            </a:r>
          </a:p>
          <a:p/>
          <a:p>
            <a:r>
              <a:t>[If a student produced something similar in the activity, use theirs instead and</a:t>
            </a:r>
          </a:p>
          <a:p>
            <a:r>
              <a:t>compare. If not, this stands on its own.]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worked example, and I think this one is more dangerous, because it never makes</a:t>
            </a:r>
          </a:p>
          <a:p>
            <a:r>
              <a:t>the news.</a:t>
            </a:r>
          </a:p>
          <a:p/>
          <a:p>
            <a:r>
              <a:t>Somebody asks about notice requirements for terminating an employee. A completely</a:t>
            </a:r>
          </a:p>
          <a:p>
            <a:r>
              <a:t>ordinary question.</a:t>
            </a:r>
          </a:p>
          <a:p/>
          <a:p>
            <a:r>
              <a:t>What comes back is clear, well structured, confident, with specific periods and</a:t>
            </a:r>
          </a:p>
          <a:p>
            <a:r>
              <a:t>thresholds. And it describes a system that is essentially American. There's no</a:t>
            </a:r>
          </a:p>
          <a:p>
            <a:r>
              <a:t>mention of Turkey. It didn't ask where you are. It didn't hedge.</a:t>
            </a:r>
          </a:p>
          <a:p/>
          <a:p>
            <a:r>
              <a:t>Here's what makes this different from the first example. Nothing was fabricated.</a:t>
            </a:r>
          </a:p>
          <a:p>
            <a:r>
              <a:t>Every fact in that answer might be perfectly true — somewhere. It is simply</a:t>
            </a:r>
          </a:p>
          <a:p>
            <a:r>
              <a:t>inapplicable to you. You asked a local question and got a foreign answer, delivered</a:t>
            </a:r>
          </a:p>
          <a:p>
            <a:r>
              <a:t>in exactly the same tone as a correct one.</a:t>
            </a:r>
          </a:p>
          <a:p/>
          <a:p>
            <a:r>
              <a:t>Why does it happen? Because of what these systems have read. There is vastly more</a:t>
            </a:r>
          </a:p>
          <a:p>
            <a:r>
              <a:t>English-language American material about employment law on the internet than there is</a:t>
            </a:r>
          </a:p>
          <a:p>
            <a:r>
              <a:t>Turkish material. So when the model reaches for an answer, that's what's there. And</a:t>
            </a:r>
          </a:p>
          <a:p>
            <a:r>
              <a:t>its confidence, as I said earlier, does not fall when its coverage does.</a:t>
            </a:r>
          </a:p>
          <a:p/>
          <a:p>
            <a:r>
              <a:t>This one matters enormously for this room, because most of you will work in Turkey,</a:t>
            </a:r>
          </a:p>
          <a:p>
            <a:r>
              <a:t>on Turkish problems, in Turkish institutions. Every single one of you will meet this</a:t>
            </a:r>
          </a:p>
          <a:p>
            <a:r>
              <a:t>failure, probably repeatedly.</a:t>
            </a:r>
          </a:p>
          <a:p/>
          <a:p>
            <a:r>
              <a:t>The defence is not clever prompting. The defence is asking "right for where?" — and</a:t>
            </a:r>
          </a:p>
          <a:p>
            <a:r>
              <a:t>in week seven, giving it the actual local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name the four patterns, because we'll use these names all semester and they're</a:t>
            </a:r>
          </a:p>
          <a:p>
            <a:r>
              <a:t>the vocabulary for the exams.</a:t>
            </a:r>
          </a:p>
          <a:p/>
          <a:p>
            <a:r>
              <a:t>Fabrication. A specific detail invented inside an otherwise correct answer. The</a:t>
            </a:r>
          </a:p>
          <a:p>
            <a:r>
              <a:t>citation, the statistic, the study, the drug interaction. Our first worked example.</a:t>
            </a:r>
          </a:p>
          <a:p/>
          <a:p>
            <a:r>
              <a:t>Displacement. Correct for another country, another era, another context. Nothing in</a:t>
            </a:r>
          </a:p>
          <a:p>
            <a:r>
              <a:t>it is false; nothing in it applies to you. Our second worked example, and the one I</a:t>
            </a:r>
          </a:p>
          <a:p>
            <a:r>
              <a:t>expect will affect this room most often.</a:t>
            </a:r>
          </a:p>
          <a:p/>
          <a:p>
            <a:r>
              <a:t>Omission. Everything present is true, but the thing that mattered most isn't there.</a:t>
            </a:r>
          </a:p>
          <a:p>
            <a:r>
              <a:t>This is the hardest to catch, because there is no wrong sentence to point at. You</a:t>
            </a:r>
          </a:p>
          <a:p>
            <a:r>
              <a:t>can only catch it if you already know what should have been said — which is why it's</a:t>
            </a:r>
          </a:p>
          <a:p>
            <a:r>
              <a:t>so dangerous outside your own expertise.</a:t>
            </a:r>
          </a:p>
          <a:p/>
          <a:p>
            <a:r>
              <a:t>And overconfidence, which isn't really a separate failure so much as the thing that</a:t>
            </a:r>
          </a:p>
          <a:p>
            <a:r>
              <a:t>makes the other three dangerous. No hedge, no caveat, no question back, however thin</a:t>
            </a:r>
          </a:p>
          <a:p>
            <a:r>
              <a:t>the ground is.</a:t>
            </a:r>
          </a:p>
          <a:p/>
          <a:p>
            <a:r>
              <a:t>Four names: fabrication, displacement, omission, overconfidence. Learn them. You will</a:t>
            </a:r>
          </a:p>
          <a:p>
            <a:r>
              <a:t>see them on an exam paper, and more usefully, you'll see them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here's the question I actually brought you here for. I'd like you to sit with it</a:t>
            </a:r>
          </a:p>
          <a:p>
            <a:r>
              <a:t>rather than answer it quickly.</a:t>
            </a:r>
          </a:p>
          <a:p/>
          <a:p>
            <a:r>
              <a:t>Would you have caught it if it hadn't been your area of expertise?</a:t>
            </a:r>
          </a:p>
          <a:p/>
          <a:p>
            <a:r>
              <a:t>For the activity, whatever you found — you found it because you already knew. Your</a:t>
            </a:r>
          </a:p>
          <a:p>
            <a:r>
              <a:t>expertise was doing the checking, silently, the whole time you were reading.</a:t>
            </a:r>
          </a:p>
          <a:p/>
          <a:p>
            <a:r>
              <a:t>Now think about how you actually use these tools. You use them for the things you</a:t>
            </a:r>
          </a:p>
          <a:p>
            <a:r>
              <a:t>don't know. That's the whole point of asking. Which means, precisely when you most</a:t>
            </a:r>
          </a:p>
          <a:p>
            <a:r>
              <a:t>need to catch an error, you have the least ability to.</a:t>
            </a:r>
          </a:p>
          <a:p/>
          <a:p>
            <a:r>
              <a:t>That is the gap. Not "how do I get better output" — the output is already good. How</a:t>
            </a:r>
          </a:p>
          <a:p>
            <a:r>
              <a:t>do I know whether it's any good, when I'm not the expert?</a:t>
            </a:r>
          </a:p>
          <a:p/>
          <a:p>
            <a:r>
              <a:t>Everything from week six onwards is an answer to that question. Week seven: give it</a:t>
            </a:r>
          </a:p>
          <a:p>
            <a:r>
              <a:t>sources you trust, so it isn't working from memory. Week eight: test it deliberately,</a:t>
            </a:r>
          </a:p>
          <a:p>
            <a:r>
              <a:t>including with questions you know it cannot answer. Week twelve: assume somebody is</a:t>
            </a:r>
          </a:p>
          <a:p>
            <a:r>
              <a:t>attacking it.</a:t>
            </a:r>
          </a:p>
          <a:p/>
          <a:p>
            <a:r>
              <a:t>That's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The practical business — the shape of the semester, what you'll build,</a:t>
            </a:r>
          </a:p>
          <a:p>
            <a:r>
              <a:t>how you're graded, and the ground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semester has two halves, and they feel quite different.</a:t>
            </a:r>
          </a:p>
          <a:p/>
          <a:p>
            <a:r>
              <a:t>Weeks one to five, the baseline. Today. Then a history of artificial intelligence,</a:t>
            </a:r>
          </a:p>
          <a:p>
            <a:r>
              <a:t>natural language processing and large language models — because you cannot judge</a:t>
            </a:r>
          </a:p>
          <a:p>
            <a:r>
              <a:t>where this is going without knowing how it got here, and because it's genuinely a</a:t>
            </a:r>
          </a:p>
          <a:p>
            <a:r>
              <a:t>good story with several surprises in it. Then how these models actually work. Then</a:t>
            </a:r>
          </a:p>
          <a:p>
            <a:r>
              <a:t>principles of effective prompting. Then controlling style, tone and format.</a:t>
            </a:r>
          </a:p>
          <a:p/>
          <a:p>
            <a:r>
              <a:t>The purpose of those five weeks is not scholarly completeness. It's that when things</a:t>
            </a:r>
          </a:p>
          <a:p>
            <a:r>
              <a:t>fail in the second half, you'll understand why, instead of just noticing that they</a:t>
            </a:r>
          </a:p>
          <a:p>
            <a:r>
              <a:t>did.</a:t>
            </a:r>
          </a:p>
          <a:p/>
          <a:p>
            <a:r>
              <a:t>Weeks six to thirteen, you build, every week. Your first working tool without code.</a:t>
            </a:r>
          </a:p>
          <a:p>
            <a:r>
              <a:t>Grounding a system in documents you choose. Verification — how to know when it's</a:t>
            </a:r>
          </a:p>
          <a:p>
            <a:r>
              <a:t>wrong. Agents and automation. Week ten you build something for your own field. Week</a:t>
            </a:r>
          </a:p>
          <a:p>
            <a:r>
              <a:t>eleven you make it professional. Week twelve you attack it — and that's the week</a:t>
            </a:r>
          </a:p>
          <a:p>
            <a:r>
              <a:t>students tell me about a year later. Week thirteen, ethics, copyright and responsible</a:t>
            </a:r>
          </a:p>
          <a:p>
            <a:r>
              <a:t>use, placed deliberately at the end, once you've built things and can see what the</a:t>
            </a:r>
          </a:p>
          <a:p>
            <a:r>
              <a:t>ethical questions actually attach to.</a:t>
            </a:r>
          </a:p>
          <a:p/>
          <a:p>
            <a:r>
              <a:t>Week fourteen we pull 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things will exist because you were in this room. They have names, and we'll use</a:t>
            </a:r>
          </a:p>
          <a:p>
            <a:r>
              <a:t>the names all semester.</a:t>
            </a:r>
          </a:p>
          <a:p/>
          <a:p>
            <a:r>
              <a:t>The Micro-Tool, week six. A working, single-purpose web tool for a task in your</a:t>
            </a:r>
          </a:p>
          <a:p>
            <a:r>
              <a:t>field. You describe what you want, and you get something that runs in a browser and</a:t>
            </a:r>
          </a:p>
          <a:p>
            <a:r>
              <a:t>that you can send to somebody. Without writing code. Some of you will find that week</a:t>
            </a:r>
          </a:p>
          <a:p>
            <a:r>
              <a:t>genuinely startling — students who have never programmed walk out having built</a:t>
            </a:r>
          </a:p>
          <a:p>
            <a:r>
              <a:t>something that works.</a:t>
            </a:r>
          </a:p>
          <a:p/>
          <a:p>
            <a:r>
              <a:t>The Grounded Assistant, week seven. It answers from documents you choose — a statute,</a:t>
            </a:r>
          </a:p>
          <a:p>
            <a:r>
              <a:t>a clinical guideline, a syllabus — and shows you which passage each answer came from.</a:t>
            </a:r>
          </a:p>
          <a:p/>
          <a:p>
            <a:r>
              <a:t>The Test Set, week eight. Ten questions designed to break your own week seven</a:t>
            </a:r>
          </a:p>
          <a:p>
            <a:r>
              <a:t>assistant. Seven it should answer, and three that are deliberately unanswerable from</a:t>
            </a:r>
          </a:p>
          <a:p>
            <a:r>
              <a:t>your documents. I'll tell you now what happens: it answers the unanswerable three</a:t>
            </a:r>
          </a:p>
          <a:p>
            <a:r>
              <a:t>anyway, confidently, and you will have built the thing that does it. I would much</a:t>
            </a:r>
          </a:p>
          <a:p>
            <a:r>
              <a:t>rather you learned that from your own system in a classroom than from a patient.</a:t>
            </a:r>
          </a:p>
          <a:p/>
          <a:p>
            <a:r>
              <a:t>Week nine, the Automation Chain — something that runs without you.</a:t>
            </a:r>
          </a:p>
          <a:p/>
          <a:p>
            <a:r>
              <a:t>Week ten, the Field Build. All of it combined, for your discipline. The centrepiece.</a:t>
            </a:r>
          </a:p>
          <a:p/>
          <a:p>
            <a:r>
              <a:t>Weeks eleven and twelve: make it professional, then break a classmate's and defend</a:t>
            </a:r>
          </a:p>
          <a:p>
            <a:r>
              <a:t>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Grading. Simple, and I want no ambiguity.</a:t>
            </a:r>
          </a:p>
          <a:p/>
          <a:p>
            <a:r>
              <a:t>Midterm, forty percent, in-class written exam. Final, sixty percent, written exam.</a:t>
            </a:r>
          </a:p>
          <a:p/>
          <a:p>
            <a:r>
              <a:t>Pop quizzes: five across the semester, unannounced, ten multiple-choice questions,</a:t>
            </a:r>
          </a:p>
          <a:p>
            <a:r>
              <a:t>about ten minutes each. Here's the important part — they're worth up to ten bonus</a:t>
            </a:r>
          </a:p>
          <a:p>
            <a:r>
              <a:t>points added on top of your hundred. All five count. They cannot hurt you. They can</a:t>
            </a:r>
          </a:p>
          <a:p>
            <a:r>
              <a:t>only help you. I do it this way because I want you here and keeping up, but I don't</a:t>
            </a:r>
          </a:p>
          <a:p>
            <a:r>
              <a:t>want one bad morning to damage your grade.</a:t>
            </a:r>
          </a:p>
          <a:p/>
          <a:p>
            <a:r>
              <a:t>Now the obvious question. If the exams are written, and the things you build aren't</a:t>
            </a:r>
          </a:p>
          <a:p>
            <a:r>
              <a:t>graded, why build them?</a:t>
            </a:r>
          </a:p>
          <a:p/>
          <a:p>
            <a:r>
              <a:t>Two answers. First, because you'll learn more, and I would rather teach a course</a:t>
            </a:r>
          </a:p>
          <a:p>
            <a:r>
              <a:t>that's worth attending than one that's convenient to mark.</a:t>
            </a:r>
          </a:p>
          <a:p/>
          <a:p>
            <a:r>
              <a:t>Second, and practically: every build week ends with a slide that names exactly which</a:t>
            </a:r>
          </a:p>
          <a:p>
            <a:r>
              <a:t>concepts from that week are examinable. The exams test whether you understood what</a:t>
            </a:r>
          </a:p>
          <a:p>
            <a:r>
              <a:t>you built. I'll put a grounded assistant and one of its answers in front of you and</a:t>
            </a:r>
          </a:p>
          <a:p>
            <a:r>
              <a:t>ask what's wrong with it — and the four failure signatures we just named are the kind</a:t>
            </a:r>
          </a:p>
          <a:p>
            <a:r>
              <a:t>of thing I mean. If you did the building, those questions are straightforward. If you</a:t>
            </a:r>
          </a:p>
          <a:p>
            <a:r>
              <a:t>skipped it, they're very hard.</a:t>
            </a:r>
          </a:p>
          <a:p/>
          <a:p>
            <a:r>
              <a:t>So the building isn't graded directly. It's simply how you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ground rules.</a:t>
            </a:r>
          </a:p>
          <a:p/>
          <a:p>
            <a:r>
              <a:t>One. Everything in this course is free and runs in a browser. No installation, no</a:t>
            </a:r>
          </a:p>
          <a:p>
            <a:r>
              <a:t>payment, no API keys. If any tool I recommend ever asks you to pay for something I</a:t>
            </a:r>
          </a:p>
          <a:p>
            <a:r>
              <a:t>said was free, stop and tell me — it means a free tier has changed and I need to know</a:t>
            </a:r>
          </a:p>
          <a:p>
            <a:r>
              <a:t>before the rest of you hit it.</a:t>
            </a:r>
          </a:p>
          <a:p/>
          <a:p>
            <a:r>
              <a:t>Two. Bring a laptop if you have one. A phone will do for most of what we do. If you</a:t>
            </a:r>
          </a:p>
          <a:p>
            <a:r>
              <a:t>have neither, pair up. That happens every year and some of the best work in this</a:t>
            </a:r>
          </a:p>
          <a:p>
            <a:r>
              <a:t>course comes out of pairs.</a:t>
            </a:r>
          </a:p>
          <a:p/>
          <a:p>
            <a:r>
              <a:t>Three, and this one is not negotiable. Never put real patient, client or personal</a:t>
            </a:r>
          </a:p>
          <a:p>
            <a:r>
              <a:t>data into these tools in this classroom. Not even anonymised — because anonymising</a:t>
            </a:r>
          </a:p>
          <a:p>
            <a:r>
              <a:t>properly is much harder than it looks, and we will demonstrate exactly that in week</a:t>
            </a:r>
          </a:p>
          <a:p>
            <a:r>
              <a:t>twelve. For every activity I will give you sample material. Use it.</a:t>
            </a:r>
          </a:p>
          <a:p/>
          <a:p>
            <a:r>
              <a:t>Four. Using AI on your own coursework. Full rules in week thirteen, with the actual</a:t>
            </a:r>
          </a:p>
          <a:p>
            <a:r>
              <a:t>reasoning rather than a list of prohibitions. The short version so nobody is confused</a:t>
            </a:r>
          </a:p>
          <a:p>
            <a:r>
              <a:t>in the meantime: using it and telling me is fine. Using it and hiding it is not.</a:t>
            </a:r>
          </a:p>
          <a:p>
            <a:r>
              <a:t>That's the whole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close. Four things.</a:t>
            </a:r>
          </a:p>
          <a:p/>
          <a:p>
            <a:r>
              <a:t>Capable, confident, sometimes wrong. That's the sentence the whole semester serves,</a:t>
            </a:r>
          </a:p>
          <a:p>
            <a:r>
              <a:t>and if you remember one thing from today, that's the one.</a:t>
            </a:r>
          </a:p>
          <a:p/>
          <a:p>
            <a:r>
              <a:t>Four words used precisely: generative AI, prompt, model, context. If you're shaky on</a:t>
            </a:r>
          </a:p>
          <a:p>
            <a:r>
              <a:t>any of them, it's a five-minute fix and it's worth doing before next week.</a:t>
            </a:r>
          </a:p>
          <a:p/>
          <a:p>
            <a:r>
              <a:t>Four failure signatures: fabrication, displacement, omission, overconfidence. These</a:t>
            </a:r>
          </a:p>
          <a:p>
            <a:r>
              <a:t>come back constantly, including on the exams.</a:t>
            </a:r>
          </a:p>
          <a:p/>
          <a:p>
            <a:r>
              <a:t>And the gap that the whole course exists to close — judging an answer when you're not</a:t>
            </a:r>
          </a:p>
          <a:p>
            <a:r>
              <a:t>the expert. You could do it today for your own subject. By January you should be able</a:t>
            </a:r>
          </a:p>
          <a:p>
            <a:r>
              <a:t>to do it well outside it.</a:t>
            </a:r>
          </a:p>
          <a:p/>
          <a:p>
            <a:r>
              <a:t>Next week, a brief history of AI, natural language processing and large language</a:t>
            </a:r>
          </a:p>
          <a:p>
            <a:r>
              <a:t>models. I know "history week" sounds like the one to skip. I'd ask you not to,</a:t>
            </a:r>
          </a:p>
          <a:p>
            <a:r>
              <a:t>because a lot of what people get wrong about where this technology is going comes</a:t>
            </a:r>
          </a:p>
          <a:p>
            <a:r>
              <a:t>from not knowing how many of the surprises are actually old.</a:t>
            </a:r>
          </a:p>
          <a:p/>
          <a:p>
            <a:r>
              <a:t>Nothing to prepare. Just turn up.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The common week-one questions, with short answers:</a:t>
            </a:r>
          </a:p>
          <a:p/>
          <a:p>
            <a:r>
              <a:t>"Do I need to pay for ChatGPT Plus?" — No. Never. Everything in this course works on</a:t>
            </a:r>
          </a:p>
          <a:p>
            <a:r>
              <a:t>free tiers and I check that every year.</a:t>
            </a:r>
          </a:p>
          <a:p/>
          <a:p>
            <a:r>
              <a:t>"Can I use AI for the assignments?" — There are no assignments. Assessment is two</a:t>
            </a:r>
          </a:p>
          <a:p>
            <a:r>
              <a:t>written exams plus bonus quizzes. For the in-class builds, using AI is the entire</a:t>
            </a:r>
          </a:p>
          <a:p>
            <a:r>
              <a:t>point.</a:t>
            </a:r>
          </a:p>
          <a:p/>
          <a:p>
            <a:r>
              <a:t>"What if I've never used any of this before?" — Genuinely fine. Weeks one to five</a:t>
            </a:r>
          </a:p>
          <a:p>
            <a:r>
              <a:t>assume nothing at all, and roughly a third of the room is in that position.</a:t>
            </a:r>
          </a:p>
          <a:p/>
          <a:p>
            <a:r>
              <a:t>"Is this course hard?" — The exams are fair, and every build week tells you what's</a:t>
            </a:r>
          </a:p>
          <a:p>
            <a:r>
              <a:t>examinable. The part people find hard isn't technical — it's the habit of checking</a:t>
            </a:r>
          </a:p>
          <a:p>
            <a:r>
              <a:t>something that already looks right.</a:t>
            </a:r>
          </a:p>
          <a:p/>
          <a:p>
            <a:r>
              <a:t>"Do I need a laptop?" — Helpful, not required. Phone works. Pairing works.</a:t>
            </a:r>
          </a:p>
          <a:p/>
          <a:p>
            <a:r>
              <a:t>If there are no questions, let them go early. A short first week is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Prompt Engineering and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this course is for, and what you'll be able to do by the end of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vocabulary: generative AI, prompt, model, context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Why this matters in your discipline, whatever it is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Activity: You Are the Expert — plus two worked examples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you will build between Week 6 and Week 13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Assessment and 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This Course Is For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This is a course about working with a system that is capable, confident, and sometimes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Every week of the semester serves that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By the End of This Course You Will Be Able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Explain, in plain language, how these systems produce an answer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Judge whether an answer is trustworthy — including outside your own expertise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Point a system at your own documents and check that it actually used them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Design a multi-step workflow, and recognise when a single question would be better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Identify how these systems can be attacked, and defend the ones you build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Handle institutional, personal and patient data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This Course Is — and Isn't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course about judgment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when to trust an output, and how to check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course where you build things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eight weeks of them, all in a browser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Cross-disciplinary by design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examples rotate through five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607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It isn't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programming course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 code is required of you at any point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course about one company's product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tools illustrate; concepts are the curriculum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collection of magic phrases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there is no secret wording that fixes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Vocabulary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Generative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AI that produces new content — text, images, audio, video, code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As opposed to AI that classifies, ranks, or predicts a number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Not generative: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Your bank deciding whether a transaction is suspicious — that's classification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hospital system deciding which scans a radiologist should read first — that's ranking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Generative: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Drafting the letter. Writing the summary. Producing the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you give the system in order to get a response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Not only a question — an instruction, an example, a document, an image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"Summarise this discharge note for the patient's family."  —  an instruction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photo of a damaged part, plus "what failed here?"  —  an image and a question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contract, plus "flag anything that differs from our standard terms."  —  a document and a task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Everything you put in is the prompt — including the file you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system itself — the thing that was trained, and the thing you send prompts 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"Large language model", or LLM, is the family this course is mostly about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Different models have different strengths, costs, and knowledge cut-offs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knowledge cut-off is a date after which the model simply doesn't know what happened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same prompt can produce different answers on different models — and on the same model twice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Week 3 goes inside the model properly.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Everything the model can "see" at the moment it answers you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Your message, the conversation so far, attached files, and instructions the tool adds invisibly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Two consequences you'll meet all semester: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There is no memory outside the context. A new conversation knows nothing about the last one.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Context is finite. Give it a 300-page document and something has to give.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It's also why sharing a chat transcript can reveal more than you meant to — Week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Four Words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The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Generative AI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category — systems that produce new content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Prompt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you give it, including files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Model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trained system you're talking 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Context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it can see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607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The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"I gave the model a prompt containing a PDF, and the context window couldn't hold all of it."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sentence should now be completely clear.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from here builds on these four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Why This Matters in Your Field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Healthcare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Genuinely useful: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Turning a discharge summary into language a family can actually follow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Drafting patient education material at a controlled reading level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Structuring a messy consultation transcript into a standard note format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Where it bites: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fabricated drug interaction, written exactly as fluently as a real one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Patient data typed into a tool that stores it and may reuse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Genuinely useful: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Comparing a contract against a standard template and flagging deviations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Summarising a large volume of documents to decide what deserves reading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Translating a dense clause into plain language for a client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Where it bites: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Invented case citations — courts have sanctioned lawyers who filed them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Confident statements about jurisdictions the model knows very little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Education, Business,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Education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Useful: differentiated materials, question banks, feedback drafts.  Bites: plausible pedagogy that's wrong for the age group.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Business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Useful: synthesising customer feedback, first drafts, competitor summaries.  Bites: invented statistics attached to real-sounding 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Engineering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Useful: explaining unfamiliar code, drafting documentation, generating test cases.  Bites: code that runs perfectly and does the wrong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In every field, the dangerous failure is not the obvious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It is the fluent, well-formatted, professional-looking answer that happens to be false.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Activity: You Are the Expert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You Are the Expert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Open any free AI assistant in your browser.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ChatGPT, Claude, Gemini, Copilot — whichever loads. Most need no account.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Ask it something you personally know well.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Your degree subject. Your home town. A hobby. Something where YOU are the expert here.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Ask a real question — not a trick, not a riddle.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kind of thing a colleague might genuinely ask you.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Grade the answer honestly.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What's right? What's subtly off? What's confidently wrong? What's missing?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Worked Example 1 — The Citation That Doesn't Exist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question: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"Give me a leading case on employer liability for workplace injury, with the citation."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shape of the answer: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confident paragraph summarising the principle — largely accurate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case name in correct format, a plausible court, a plausible year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one-line statement of what the case held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problem: the case does not exist.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around it was right. That is what made it convincing.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Worked Example 2 — The Answer That's Right Somewhere Else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question: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"What are the notice requirements for terminating an employee?"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shape of the answer: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clear, well-structured, confident answer — with specific periods and thresholds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Describing a system that is essentially American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 mention of Turkey. No question about where you are. No hedge.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Nothing is fabricated. Everything is inapplicable.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asked a local question and received a foreign answer, delivered identically.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Four Failure Signatures to Recognise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Fabrication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specific detail invented inside an otherwise correct answer — the citation, the statistic, the study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Displacement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Correct for another country, era, or context. Nothing false; nothing applicable.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Omission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Everything present is true; the thing that mattered most isn't there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Overconfidence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 hedge, no caveat, no question back — regardless of how thin the ground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Would you have caught it if it hadn't been your area of expertise?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Almost always, the answer is no. That gap is what this course is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How This Course Works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Shape of the Semester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Weeks 1–5 ·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1   Introduction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2   A Brief History of AI, NLP and LLMs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3   How LLMs Work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4   Principles of Effective Prompting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5   Controlling Style, Tone and Format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Enough foundation that the failures make sense when you meet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607" y="1783080"/>
            <a:ext cx="495284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766E"/>
                </a:solidFill>
                <a:latin typeface="Calibri"/>
              </a:rPr>
              <a:t>Weeks 6–13 ·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331720"/>
            <a:ext cx="4952847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6    Building Your First Tool Without Code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7    Grounding AI in Your Own Sources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8    Verification: Knowing When AI Is Wrong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9    AI Agents and Workflow Automation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10  Building for Your Own Field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11  Domain-Specific Applications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12  Prompt Injection and AI Security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13  Ethics, Copyright and Responsible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Will Actually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Micro-Tool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 6 — a working, single-purpose web tool for a task in your field. No code.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Grounded Assistant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 7 — answers from documents you choose, and shows you which passage it used.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Test Set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 8 — ten questions to break your own assistant. Three of them unanswerable.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Automation Chain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 9 — a workflow that runs without you.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Field Build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 10 — all of it, combined, for your own discipline.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Domain Pack  ·  Attack &amp; Patch Report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Weeks 11–12 — make it professional, then break a classmate's and defend your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Midterm — 40%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In-class written exam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Final — 60%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Written exam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Pop quizzes — up to +10 bonus points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Five across the semester, unannounced, ten multiple-choice questions, about ten minutes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All five count. Added on top of your 100. They can only help you.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things you build aren't graded. Every build week ends by telling you exactly what is examinable.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Ground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Everything is free and runs in a browser.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 installation, no payment, no API keys. If something asks you to pay, stop and tell 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Bring a laptop if you can.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phone works for most activities. Neither? Pair up — that's normal and fine.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Never put real patient, client, or personal data into these tools in class.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even anonymised. We use the sample material I provide. Week 12 shows exactly why.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Using AI on your own work: full rules in Week 13.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Short version — using it and telling me is fine. Using it and hiding it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Capable, confident, sometimes wrong — the sentence the whole semester serves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Four words, used precisely: generative AI, prompt, model, context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Four failure signatures: fabrication, displacement, omission, overconfidence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gap that matters: judging an answer when you are not the expert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Brief History of AI, NLP and LLMs — how we got here, and why several of the surprises are 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