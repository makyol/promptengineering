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Welcome back.</a:t>
            </a:r>
          </a:p>
          <a:p/>
          <a:p>
            <a:r>
              <a:t>Last week you built a tool, and we ended on a sentence: the surface is not evidence. Today we</a:t>
            </a:r>
          </a:p>
          <a:p>
            <a:r>
              <a:t>attack the deeper version of that problem.</a:t>
            </a:r>
          </a:p>
          <a:p/>
          <a:p>
            <a:r>
              <a:t>Everything you've done so far runs on what the model absorbed during training. Which means</a:t>
            </a:r>
          </a:p>
          <a:p>
            <a:r>
              <a:t>when you ask about your hospital's protocol, your university's regulations, Turkish</a:t>
            </a:r>
          </a:p>
          <a:p>
            <a:r>
              <a:t>procedure, or a document that was written last month, it is working from either thin coverage</a:t>
            </a:r>
          </a:p>
          <a:p>
            <a:r>
              <a:t>or nothing at all — and, as you know by now, telling you nothing about which.</a:t>
            </a:r>
          </a:p>
          <a:p/>
          <a:p>
            <a:r>
              <a:t>Today we fix that. Not by making the model know more, which we can't do. By putting the right</a:t>
            </a:r>
          </a:p>
          <a:p>
            <a:r>
              <a:t>material in front of it at the moment it answers.</a:t>
            </a:r>
          </a:p>
          <a:p/>
          <a:p>
            <a:r>
              <a:t>This is, I think, the highest-value single session in the course for people who aren't</a:t>
            </a:r>
          </a:p>
          <a:p>
            <a:r>
              <a:t>programmers. It's the difference between a system that sounds like it knows your field and a</a:t>
            </a:r>
          </a:p>
          <a:p>
            <a:r>
              <a:t>system that is actually working from your documents. And the second half of today is about</a:t>
            </a:r>
          </a:p>
          <a:p>
            <a:r>
              <a:t>the harder question: how do you know which one you've got?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Where we're going.</a:t>
            </a:r>
          </a:p>
          <a:p/>
          <a:p>
            <a:r>
              <a:t>First, why the model fails on your own material — and I want to be clear that this is not</a:t>
            </a:r>
          </a:p>
          <a:p>
            <a:r>
              <a:t>fixable by better prompting. That's an important negative result. Some of you have been trying</a:t>
            </a:r>
          </a:p>
          <a:p>
            <a:r>
              <a:t>to prompt your way around it.</a:t>
            </a:r>
          </a:p>
          <a:p/>
          <a:p>
            <a:r>
              <a:t>Then what grounding actually is, conceptually. No vector databases, no implementation. The</a:t>
            </a:r>
          </a:p>
          <a:p>
            <a:r>
              <a:t>idea, which is simple.</a:t>
            </a:r>
          </a:p>
          <a:p/>
          <a:p>
            <a:r>
              <a:t>Then a demonstration: an assistant answering from a pack of documents, with sources.</a:t>
            </a:r>
          </a:p>
          <a:p/>
          <a:p>
            <a:r>
              <a:t>Then source quality — because the same content in two different document formats gives you</a:t>
            </a:r>
          </a:p>
          <a:p>
            <a:r>
              <a:t>very different results, and knowing why saves you a lot of frustration.</a:t>
            </a:r>
          </a:p>
          <a:p/>
          <a:p>
            <a:r>
              <a:t>Then the part that matters most: checking whether an answer is genuinely supported by the</a:t>
            </a:r>
          </a:p>
          <a:p>
            <a:r>
              <a:t>sources, or whether it just looks like it is. That distinction is the whole session.</a:t>
            </a:r>
          </a:p>
          <a:p/>
          <a:p>
            <a:r>
              <a:t>Then you build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 one. Naming the problem precisely.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reasons, and they need different responses, so it's worth distinguishing them.</a:t>
            </a:r>
          </a:p>
          <a:p/>
          <a:p>
            <a:r>
              <a:t>It was never in the training data at all. Your hospital's internal protocol. Your faculty's</a:t>
            </a:r>
          </a:p>
          <a:p>
            <a:r>
              <a:t>regulations. Anything behind a login, anything unpublished, anything internal. There is</a:t>
            </a:r>
          </a:p>
          <a:p>
            <a:r>
              <a:t>simply no signal.</a:t>
            </a:r>
          </a:p>
          <a:p/>
          <a:p>
            <a:r>
              <a:t>It's newer than the knowledge cut-off. Guidelines updated last month. A regulation amended</a:t>
            </a:r>
          </a:p>
          <a:p>
            <a:r>
              <a:t>this year. The model isn't reading the news; it stopped learning at a date.</a:t>
            </a:r>
          </a:p>
          <a:p/>
          <a:p>
            <a:r>
              <a:t>Or it exists publicly, but thinly. Turkish-language professional material, local procedure,</a:t>
            </a:r>
          </a:p>
          <a:p>
            <a:r>
              <a:t>specialist practice. Present in the training data, but sparse — which after week three you</a:t>
            </a:r>
          </a:p>
          <a:p>
            <a:r>
              <a:t>know is the most dangerous case of the three, because there's enough signal to produce</a:t>
            </a:r>
          </a:p>
          <a:p>
            <a:r>
              <a:t>something confident and not enough to produce something reliable.</a:t>
            </a:r>
          </a:p>
          <a:p/>
          <a:p>
            <a:r>
              <a:t>And the bold line, which is why all three matter equally: in every case the answer is</a:t>
            </a:r>
          </a:p>
          <a:p>
            <a:r>
              <a:t>confident, and the confidence means nothing. You cannot distinguish these three situations</a:t>
            </a:r>
          </a:p>
          <a:p>
            <a:r>
              <a:t>from the output. They all look the same.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exists because I know some of you have been doing this.</a:t>
            </a:r>
          </a:p>
          <a:p/>
          <a:p>
            <a:r>
              <a:t>You cannot prompt your way to information the model does not have.</a:t>
            </a:r>
          </a:p>
          <a:p/>
          <a:p>
            <a:r>
              <a:t>"Be accurate." "Only use reliable sources." "Do not make anything up." "You are an expert in</a:t>
            </a:r>
          </a:p>
          <a:p>
            <a:r>
              <a:t>Turkish employment law."</a:t>
            </a:r>
          </a:p>
          <a:p/>
          <a:p>
            <a:r>
              <a:t>None of these create knowledge. Not one. What they do is change the tone of the output, and —</a:t>
            </a:r>
          </a:p>
          <a:p>
            <a:r>
              <a:t>this is the genuinely dangerous part — they often make it sound *more* authoritative, because</a:t>
            </a:r>
          </a:p>
          <a:p>
            <a:r>
              <a:t>you've asked for authority and authority is a style.</a:t>
            </a:r>
          </a:p>
          <a:p/>
          <a:p>
            <a:r>
              <a:t>Think about the mechanism. You've adjusted the probability distribution towards text that</a:t>
            </a:r>
          </a:p>
          <a:p>
            <a:r>
              <a:t>reads as careful and expert. You have not added a single fact. The result is a more confident</a:t>
            </a:r>
          </a:p>
          <a:p>
            <a:r>
              <a:t>wrong answer.</a:t>
            </a:r>
          </a:p>
          <a:p/>
          <a:p>
            <a:r>
              <a:t>I want this to land, because it's the most common mistake made by people who are otherwise</a:t>
            </a:r>
          </a:p>
          <a:p>
            <a:r>
              <a:t>good at this. Prompting is powerful for shaping, structuring, and constraining. It is</a:t>
            </a:r>
          </a:p>
          <a:p>
            <a:r>
              <a:t>completely powerless against absent information.</a:t>
            </a:r>
          </a:p>
          <a:p/>
          <a:p>
            <a:r>
              <a:t>The only fix is to supply the information. Which is grounding.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 two. The concept, which is simpler than the terminology suggests.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Here's the whole idea. Four boxes.</a:t>
            </a:r>
          </a:p>
          <a:p/>
          <a:p>
            <a:r>
              <a:t>You ask a question. The system searches your documents and pulls out the passages that look</a:t>
            </a:r>
          </a:p>
          <a:p>
            <a:r>
              <a:t>relevant. Those passages get placed into the context window alongside your question. And then</a:t>
            </a:r>
          </a:p>
          <a:p>
            <a:r>
              <a:t>the model answers with your text in front of it, rather than from memory alone.</a:t>
            </a:r>
          </a:p>
          <a:p/>
          <a:p>
            <a:r>
              <a:t>That's it. That is grounding.</a:t>
            </a:r>
          </a:p>
          <a:p/>
          <a:p>
            <a:r>
              <a:t>Read the caption: you may see this called RAG, retrieval-augmented generation. People say it</a:t>
            </a:r>
          </a:p>
          <a:p>
            <a:r>
              <a:t>in a way that suggests deep technical machinery. That is all the phrase means — retrieve</a:t>
            </a:r>
          </a:p>
          <a:p>
            <a:r>
              <a:t>relevant text, add it to the context, then generate.</a:t>
            </a:r>
          </a:p>
          <a:p/>
          <a:p>
            <a:r>
              <a:t>Now, the honest analogy. Remember week three: the model has no memory outside the context.</a:t>
            </a:r>
          </a:p>
          <a:p>
            <a:r>
              <a:t>Grounding is putting the textbook on the desk before you ask the question. It's an open-book</a:t>
            </a:r>
          </a:p>
          <a:p>
            <a:r>
              <a:t>exam instead of a closed-book one.</a:t>
            </a:r>
          </a:p>
          <a:p/>
          <a:p>
            <a:r>
              <a:t>And I want you to hold onto that analogy, because it predicts the failures. Think about what</a:t>
            </a:r>
          </a:p>
          <a:p>
            <a:r>
              <a:t>can go wrong in an open-book exam. You might grab the wrong page. The book might not contain</a:t>
            </a:r>
          </a:p>
          <a:p>
            <a:r>
              <a:t>the answer, and you might write something anyway. You might read the right page and</a:t>
            </a:r>
          </a:p>
          <a:p>
            <a:r>
              <a:t>misunderstand it.</a:t>
            </a:r>
          </a:p>
          <a:p/>
          <a:p>
            <a:r>
              <a:t>Every failure mode of grounding is one of those three. We'll come back to this.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 precise about what you're buying.</a:t>
            </a:r>
          </a:p>
          <a:p/>
          <a:p>
            <a:r>
              <a:t>What it fixes: material the model never saw, saw thinly, or that changed after the cut-off.</a:t>
            </a:r>
          </a:p>
          <a:p>
            <a:r>
              <a:t>That's the big one. And you can now point at where an answer came from, which is the largest</a:t>
            </a:r>
          </a:p>
          <a:p>
            <a:r>
              <a:t>practical gain in this entire course — you've converted an unverifiable claim into a</a:t>
            </a:r>
          </a:p>
          <a:p>
            <a:r>
              <a:t>verifiable one.</a:t>
            </a:r>
          </a:p>
          <a:p/>
          <a:p>
            <a:r>
              <a:t>What it does not fix. Three things.</a:t>
            </a:r>
          </a:p>
          <a:p/>
          <a:p>
            <a:r>
              <a:t>It can still answer from memory when your documents don't contain the answer. Nothing forces</a:t>
            </a:r>
          </a:p>
          <a:p>
            <a:r>
              <a:t>it to use only what you gave it. This is the single most important thing to remember today.</a:t>
            </a:r>
          </a:p>
          <a:p/>
          <a:p>
            <a:r>
              <a:t>It can still misread a passage it did retrieve.</a:t>
            </a:r>
          </a:p>
          <a:p/>
          <a:p>
            <a:r>
              <a:t>And if your source is wrong or out of date, you now have a confident wrong answer *with a</a:t>
            </a:r>
          </a:p>
          <a:p>
            <a:r>
              <a:t>citation attached* — which is worse than before, because the citation makes it more</a:t>
            </a:r>
          </a:p>
          <a:p>
            <a:r>
              <a:t>persuasive to you and to whoever you show it to.</a:t>
            </a:r>
          </a:p>
          <a:p/>
          <a:p>
            <a:r>
              <a:t>The bold line: grounding changes where the answer comes from. It does not install a truth</a:t>
            </a:r>
          </a:p>
          <a:p>
            <a:r>
              <a:t>check. There is still no step where anything is verified. We've improved the inputs, not the</a:t>
            </a:r>
          </a:p>
          <a:p>
            <a:r>
              <a:t>mechanism.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 quality. This is the difference between grounding that works and grounding that</a:t>
            </a:r>
          </a:p>
          <a:p>
            <a:r>
              <a:t>frustrates you, and almost nobody tells you about it.</a:t>
            </a:r>
          </a:p>
          <a:p/>
          <a:p>
            <a:r>
              <a:t>Easy: real text rather than scanned images. Clear headings. Short, self-contained sections.</a:t>
            </a:r>
          </a:p>
          <a:p>
            <a:r>
              <a:t>Consistent terminology — if your document calls the same thing three different names,</a:t>
            </a:r>
          </a:p>
          <a:p>
            <a:r>
              <a:t>retrieval suffers. One topic per section. Tables with proper headers.</a:t>
            </a:r>
          </a:p>
          <a:p/>
          <a:p>
            <a:r>
              <a:t>Hard: scanned PDFs where the text is actually a picture — very common with older institutional</a:t>
            </a:r>
          </a:p>
          <a:p>
            <a:r>
              <a:t>documents, and it may extract nothing at all. Information spread across many pages, so no</a:t>
            </a:r>
          </a:p>
          <a:p>
            <a:r>
              <a:t>single retrieved passage contains the answer. Meaning carried by layout, like columns or boxes</a:t>
            </a:r>
          </a:p>
          <a:p>
            <a:r>
              <a:t>or indentation, all of which flatten out. And pronouns referring back across pages — "as</a:t>
            </a:r>
          </a:p>
          <a:p>
            <a:r>
              <a:t>described above" is useless when the passage is retrieved on its own.</a:t>
            </a:r>
          </a:p>
          <a:p/>
          <a:p>
            <a:r>
              <a:t>That last one is worth dwelling on. Retrieval pulls out a passage. If the passage says "this</a:t>
            </a:r>
          </a:p>
          <a:p>
            <a:r>
              <a:t>requirement applies in the cases listed above," and "above" wasn't retrieved, the model has a</a:t>
            </a:r>
          </a:p>
          <a:p>
            <a:r>
              <a:t>sentence that means nothing and it will interpret it anyway.</a:t>
            </a:r>
          </a:p>
          <a:p/>
          <a:p>
            <a:r>
              <a:t>Practical fixes on the right. Split large documents into topic-sized pieces. Give each a</a:t>
            </a:r>
          </a:p>
          <a:p>
            <a:r>
              <a:t>descriptive heading. Convert scans to real text. And remove irrelevant material — it competes</a:t>
            </a:r>
          </a:p>
          <a:p>
            <a:r>
              <a:t>for retrieval and crowds out what you wanted.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 three. The heart of the session.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instructions. Put these in every grounded assistant you build. Write them down.</a:t>
            </a:r>
          </a:p>
          <a:p/>
          <a:p>
            <a:r>
              <a:t>"Answer only from the documents provided."</a:t>
            </a:r>
          </a:p>
          <a:p/>
          <a:p>
            <a:r>
              <a:t>"After each claim, quote the sentence from the source that supports it."</a:t>
            </a:r>
          </a:p>
          <a:p/>
          <a:p>
            <a:r>
              <a:t>"If the documents do not contain the answer, reply exactly: NOT IN SOURCES — and nothing else."</a:t>
            </a:r>
          </a:p>
          <a:p/>
          <a:p>
            <a:r>
              <a:t>Now, why the third line matters most, and it's the fallback principle from week five doing its</a:t>
            </a:r>
          </a:p>
          <a:p>
            <a:r>
              <a:t>work again.</a:t>
            </a:r>
          </a:p>
          <a:p/>
          <a:p>
            <a:r>
              <a:t>You're giving the honest answer a fixed, likely form. Not asking the system to be truthful —</a:t>
            </a:r>
          </a:p>
          <a:p>
            <a:r>
              <a:t>making the truthful output the probable one, because there's now a specific short string that</a:t>
            </a:r>
          </a:p>
          <a:p>
            <a:r>
              <a:t>fits the situation.</a:t>
            </a:r>
          </a:p>
          <a:p/>
          <a:p>
            <a:r>
              <a:t>And there's a second reason, which is about you rather than the model. "NOT IN SOURCES" in</a:t>
            </a:r>
          </a:p>
          <a:p>
            <a:r>
              <a:t>capitals is easy to spot when you're skim-reading at four in the afternoon. Compare that with</a:t>
            </a:r>
          </a:p>
          <a:p>
            <a:r>
              <a:t>"I could not find specific information about this in the provided documents, however, based on</a:t>
            </a:r>
          </a:p>
          <a:p>
            <a:r>
              <a:t>general principles..." — which is the same admission, buried in a paragraph, followed by an</a:t>
            </a:r>
          </a:p>
          <a:p>
            <a:r>
              <a:t>answer anyway. You will read past that. Everyone does.</a:t>
            </a:r>
          </a:p>
          <a:p/>
          <a:p>
            <a:r>
              <a:t>Make the refusal short, fixed, and visually obvious. That's a design decision about your own</a:t>
            </a:r>
          </a:p>
          <a:p>
            <a:r>
              <a:t>attention, and it matters as much as the instruction itself.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quote test. Single most useful verification move available to you, and it's free.</a:t>
            </a:r>
          </a:p>
          <a:p/>
          <a:p>
            <a:r>
              <a:t>Look at the two versions. "The notice period is 30 days." To check that, you either trust it</a:t>
            </a:r>
          </a:p>
          <a:p>
            <a:r>
              <a:t>or you read the whole contract. Those are your options.</a:t>
            </a:r>
          </a:p>
          <a:p/>
          <a:p>
            <a:r>
              <a:t>"The notice period is 30 days. Source: 'Either party may terminate on thirty days written</a:t>
            </a:r>
          </a:p>
          <a:p>
            <a:r>
              <a:t>notice.' Clause 12.4." Now you can check it in about five seconds. Search for the string. Look</a:t>
            </a:r>
          </a:p>
          <a:p>
            <a:r>
              <a:t>at clause 12.4. Done.</a:t>
            </a:r>
          </a:p>
          <a:p/>
          <a:p>
            <a:r>
              <a:t>You've converted an unverifiable claim into a checkable one. That's the whole game.</a:t>
            </a:r>
          </a:p>
          <a:p/>
          <a:p>
            <a:r>
              <a:t>But — bold line — you must actually check. And I know how this goes: the presence of a</a:t>
            </a:r>
          </a:p>
          <a:p>
            <a:r>
              <a:t>quotation feels like verification, so people stop there. The quote marks do the reassuring and</a:t>
            </a:r>
          </a:p>
          <a:p>
            <a:r>
              <a:t>nobody looks.</a:t>
            </a:r>
          </a:p>
          <a:p/>
          <a:p>
            <a:r>
              <a:t>Three ways a quotation fails. It can be fabricated outright. It can be real but from the wrong</a:t>
            </a:r>
          </a:p>
          <a:p>
            <a:r>
              <a:t>place — a genuine sentence from your document that doesn't say what the claim says. Or it can</a:t>
            </a:r>
          </a:p>
          <a:p>
            <a:r>
              <a:t>be real and correctly located and simply not support the claim being made, which is the</a:t>
            </a:r>
          </a:p>
          <a:p>
            <a:r>
              <a:t>subtlest and the most common.</a:t>
            </a:r>
          </a:p>
          <a:p/>
          <a:p>
            <a:r>
              <a:t>The check is quick: search your document for the quoted string. If it isn't there, stop</a:t>
            </a:r>
          </a:p>
          <a:p>
            <a:r>
              <a:t>trusting everything else in that answer too.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Let me show you the difference concretely, because it's easy to nod at the three instructions and</a:t>
            </a:r>
          </a:p>
          <a:p>
            <a:r>
              <a:t>still accept a bad answer.</a:t>
            </a:r>
          </a:p>
          <a:p/>
          <a:p>
            <a:r>
              <a:t>The question: what's the maximum period for submitting an appeal?</a:t>
            </a:r>
          </a:p>
          <a:p/>
          <a:p>
            <a:r>
              <a:t>A good answer. Fifteen working days from notification. Then the source: a quoted sentence, with a</a:t>
            </a:r>
          </a:p>
          <a:p>
            <a:r>
              <a:t>regulation number. You can search your document for that sentence and find clause 8.2 in about</a:t>
            </a:r>
          </a:p>
          <a:p>
            <a:r>
              <a:t>five seconds. And notice the quotation contains the number, so the answer and its evidence agree</a:t>
            </a:r>
          </a:p>
          <a:p>
            <a:r>
              <a:t>in a way you can see.</a:t>
            </a:r>
          </a:p>
          <a:p/>
          <a:p>
            <a:r>
              <a:t>Now the bad answer. "Appeals are generally expected to be submitted promptly, typically within</a:t>
            </a:r>
          </a:p>
          <a:p>
            <a:r>
              <a:t>two to four weeks of the decision."</a:t>
            </a:r>
          </a:p>
          <a:p/>
          <a:p>
            <a:r>
              <a:t>Read it again and notice the tells. "Generally expected." "Typically." A range instead of a</a:t>
            </a:r>
          </a:p>
          <a:p>
            <a:r>
              <a:t>figure. No quotation. No clause number.</a:t>
            </a:r>
          </a:p>
          <a:p/>
          <a:p>
            <a:r>
              <a:t>That is what answering from memory looks like — and it's plausible, professional-sounding, and</a:t>
            </a:r>
          </a:p>
          <a:p>
            <a:r>
              <a:t>completely useless. If you skim it while thinking about something else, you take away "two to four</a:t>
            </a:r>
          </a:p>
          <a:p>
            <a:r>
              <a:t>weeks" and act on it.</a:t>
            </a:r>
          </a:p>
          <a:p/>
          <a:p>
            <a:r>
              <a:t>The hedging is the signal. A grounded answer working from an actual passage tends to be more</a:t>
            </a:r>
          </a:p>
          <a:p>
            <a:r>
              <a:t>specific than a remembered one, not less. When the answer goes vague, ask where the quote 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is the practical one, and it's the thing people skip because it feels like admin</a:t>
            </a:r>
          </a:p>
          <a:p>
            <a:r>
              <a:t>rather than work.</a:t>
            </a:r>
          </a:p>
          <a:p/>
          <a:p>
            <a:r>
              <a:t>Fifteen minutes of document preparation buys more than any amount of prompt rewriting. Genuinely.</a:t>
            </a:r>
          </a:p>
          <a:p>
            <a:r>
              <a:t>If a grounded assistant is disappointing you, the source is more often the problem than the</a:t>
            </a:r>
          </a:p>
          <a:p>
            <a:r>
              <a:t>prompt.</a:t>
            </a:r>
          </a:p>
          <a:p/>
          <a:p>
            <a:r>
              <a:t>Four moves.</a:t>
            </a:r>
          </a:p>
          <a:p/>
          <a:p>
            <a:r>
              <a:t>Split a long document into sections of roughly one topic each, with descriptive headings. This</a:t>
            </a:r>
          </a:p>
          <a:p>
            <a:r>
              <a:t>matters because retrieval pulls passages — if your passages each cover one thing, the right one</a:t>
            </a:r>
          </a:p>
          <a:p>
            <a:r>
              <a:t>gets found.</a:t>
            </a:r>
          </a:p>
          <a:p/>
          <a:p>
            <a:r>
              <a:t>Replace "as described above" and "see section 3" with the actual content where you can. Remember</a:t>
            </a:r>
          </a:p>
          <a:p>
            <a:r>
              <a:t>why: a retrieved passage arrives on its own, and a cross-reference to something that wasn't</a:t>
            </a:r>
          </a:p>
          <a:p>
            <a:r>
              <a:t>retrieved is a sentence that means nothing — which the model will interpret anyway.</a:t>
            </a:r>
          </a:p>
          <a:p/>
          <a:p>
            <a:r>
              <a:t>Convert scanned pages to real text. If the text is a picture, nothing is retrievable at all, and</a:t>
            </a:r>
          </a:p>
          <a:p>
            <a:r>
              <a:t>this is very common with older institutional documents.</a:t>
            </a:r>
          </a:p>
          <a:p/>
          <a:p>
            <a:r>
              <a:t>And delete material irrelevant to the questions you'll ask. It competes for retrieval and crowds</a:t>
            </a:r>
          </a:p>
          <a:p>
            <a:r>
              <a:t>out what you wanted.</a:t>
            </a:r>
          </a:p>
          <a:p/>
          <a:p>
            <a:r>
              <a:t>Then re-run the same questions and compare. That comparison is the fastest improvement available</a:t>
            </a:r>
          </a:p>
          <a:p>
            <a:r>
              <a:t>to you in this entire course.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failure modes. These map exactly onto the open-book exam analogy from earlier, and I'll</a:t>
            </a:r>
          </a:p>
          <a:p>
            <a:r>
              <a:t>examine you on them.</a:t>
            </a:r>
          </a:p>
          <a:p/>
          <a:p>
            <a:r>
              <a:t>Answered from memory. Your documents didn't contain it; the model knew something adjacent and</a:t>
            </a:r>
          </a:p>
          <a:p>
            <a:r>
              <a:t>used that. How you detect it: the answer has no quotation, or has a vague gesture instead of a</a:t>
            </a:r>
          </a:p>
          <a:p>
            <a:r>
              <a:t>sentence. If there's no quote, assume memory.</a:t>
            </a:r>
          </a:p>
          <a:p/>
          <a:p>
            <a:r>
              <a:t>Retrieved the wrong passage. The right words appeared somewhere unrelated — the word "notice"</a:t>
            </a:r>
          </a:p>
          <a:p>
            <a:r>
              <a:t>appears in a clause about notices to third parties, not about termination. The quotation is</a:t>
            </a:r>
          </a:p>
          <a:p>
            <a:r>
              <a:t>completely genuine. The conclusion is wrong. How you detect it: read the quoted passage in its</a:t>
            </a:r>
          </a:p>
          <a:p>
            <a:r>
              <a:t>original context, not in isolation.</a:t>
            </a:r>
          </a:p>
          <a:p/>
          <a:p>
            <a:r>
              <a:t>And over-read the passage — the subtlest one and my personal favourite for exam questions. The</a:t>
            </a:r>
          </a:p>
          <a:p>
            <a:r>
              <a:t>source says something narrower than the answer claims. "May" becomes "must." "In some cases"</a:t>
            </a:r>
          </a:p>
          <a:p>
            <a:r>
              <a:t>becomes "in all cases." An example becomes a rule. How you detect it: compare the strength of</a:t>
            </a:r>
          </a:p>
          <a:p>
            <a:r>
              <a:t>the claim against the strength of the quote. If the answer is more confident than the sentence</a:t>
            </a:r>
          </a:p>
          <a:p>
            <a:r>
              <a:t>it cites, something has been added.</a:t>
            </a:r>
          </a:p>
          <a:p/>
          <a:p>
            <a:r>
              <a:t>Learn these three by name.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 four. Twenty minutes. Everything you need is provided if you didn't bring documents.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Twenty minutes. Four steps.</a:t>
            </a:r>
          </a:p>
          <a:p/>
          <a:p>
            <a:r>
              <a:t>One. Choose your sources — three to five short documents. Bring your own if you have them.</a:t>
            </a:r>
          </a:p>
          <a:p>
            <a:r>
              <a:t>Otherwise take a pack from me: I have a clinical guideline extract, a statute extract, a set of</a:t>
            </a:r>
          </a:p>
          <a:p>
            <a:r>
              <a:t>course regulations, an annual report, and a technical standard. Pick whichever is closest to</a:t>
            </a:r>
          </a:p>
          <a:p>
            <a:r>
              <a:t>your field. All public material, so no data concerns.</a:t>
            </a:r>
          </a:p>
          <a:p/>
          <a:p>
            <a:r>
              <a:t>Two. Load them into any tool that lets you attach documents and ask questions about them.</a:t>
            </a:r>
          </a:p>
          <a:p>
            <a:r>
              <a:t>Several free assistants do this directly. Notebook-style tools do it particularly well. Any of</a:t>
            </a:r>
          </a:p>
          <a:p>
            <a:r>
              <a:t>them works — we're doing a general technique, not a product tutorial.</a:t>
            </a:r>
          </a:p>
          <a:p/>
          <a:p>
            <a:r>
              <a:t>Three. Add the three instructions from earlier. Answer only from the documents. Quote the</a:t>
            </a:r>
          </a:p>
          <a:p>
            <a:r>
              <a:t>supporting sentence. Reply NOT IN SOURCES if it isn't there.</a:t>
            </a:r>
          </a:p>
          <a:p/>
          <a:p>
            <a:r>
              <a:t>Four, and this is the actual exercise: ask five questions, and check every single quotation</a:t>
            </a:r>
          </a:p>
          <a:p>
            <a:r>
              <a:t>against the source. Not four of them. All five.</a:t>
            </a:r>
          </a:p>
          <a:p/>
          <a:p>
            <a:r>
              <a:t>[Circulate. The most common thing to catch: people accept a quotation without checking it.</a:t>
            </a:r>
          </a:p>
          <a:p>
            <a:r>
              <a:t>Ask "did you find that sentence?" and watch what happens. If nobody is building, work through</a:t>
            </a:r>
          </a:p>
          <a:p>
            <a:r>
              <a:t>three questions on the provided pack on screen.]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typically happens.</a:t>
            </a:r>
          </a:p>
          <a:p/>
          <a:p>
            <a:r>
              <a:t>With the three instructions in place, it refused at least once — and when you checked, the</a:t>
            </a:r>
          </a:p>
          <a:p>
            <a:r>
              <a:t>refusal was correct. That's the system working. Notice how much better that feels than a</a:t>
            </a:r>
          </a:p>
          <a:p>
            <a:r>
              <a:t>confident answer you have to disprove.</a:t>
            </a:r>
          </a:p>
          <a:p/>
          <a:p>
            <a:r>
              <a:t>Quotations were usually genuine. "Usually" is the operative word and it's why you check.</a:t>
            </a:r>
          </a:p>
          <a:p/>
          <a:p>
            <a:r>
              <a:t>At least one answer was broader than the sentence it quoted. That's over-reading, and it's the</a:t>
            </a:r>
          </a:p>
          <a:p>
            <a:r>
              <a:t>most common of the three failures. If you didn't spot one, look again — go back and compare</a:t>
            </a:r>
          </a:p>
          <a:p>
            <a:r>
              <a:t>each claim with its quote for strength rather than content.</a:t>
            </a:r>
          </a:p>
          <a:p/>
          <a:p>
            <a:r>
              <a:t>And questions spanning several documents were answered worse than questions inside a single</a:t>
            </a:r>
          </a:p>
          <a:p>
            <a:r>
              <a:t>document.</a:t>
            </a:r>
          </a:p>
          <a:p/>
          <a:p>
            <a:r>
              <a:t>That last one is structural, and it's the bold line. Retrieval pulls passages, not whole</a:t>
            </a:r>
          </a:p>
          <a:p>
            <a:r>
              <a:t>documents. So a question whose answer requires combining three separate places is fragile —</a:t>
            </a:r>
          </a:p>
          <a:p>
            <a:r>
              <a:t>each piece has to be retrieved, and if one isn't, the model fills the gap.</a:t>
            </a:r>
          </a:p>
          <a:p/>
          <a:p>
            <a:r>
              <a:t>Practical consequence: ask narrow questions of grounded systems. If you need a synthesis across</a:t>
            </a:r>
          </a:p>
          <a:p>
            <a:r>
              <a:t>sources, do it in steps and check each step. That's a design decision you now know to make.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What's examinable from today. Five items, and this week is heavily represented on both exams.</a:t>
            </a:r>
          </a:p>
          <a:p/>
          <a:p>
            <a:r>
              <a:t>Grounding: placing relevant passages from chosen sources into the context so the model answers</a:t>
            </a:r>
          </a:p>
          <a:p>
            <a:r>
              <a:t>from them rather than memory. Know that RAG means this and nothing more mysterious.</a:t>
            </a:r>
          </a:p>
          <a:p/>
          <a:p>
            <a:r>
              <a:t>What it does and doesn't do. Changes where the answer comes from. Does not install a truth</a:t>
            </a:r>
          </a:p>
          <a:p>
            <a:r>
              <a:t>check. Does not fix a wrong source — and I may well give you a scenario where the source itself</a:t>
            </a:r>
          </a:p>
          <a:p>
            <a:r>
              <a:t>is out of date and ask what grounding did and didn't help with.</a:t>
            </a:r>
          </a:p>
          <a:p/>
          <a:p>
            <a:r>
              <a:t>Why prompting cannot substitute. Instructions change tone and shape, never available</a:t>
            </a:r>
          </a:p>
          <a:p>
            <a:r>
              <a:t>information. Expect a question that offers "be accurate" as a tempting wrong answer.</a:t>
            </a:r>
          </a:p>
          <a:p/>
          <a:p>
            <a:r>
              <a:t>The three verification instructions, and specifically why the refusal string should be fixed</a:t>
            </a:r>
          </a:p>
          <a:p>
            <a:r>
              <a:t>and visible.</a:t>
            </a:r>
          </a:p>
          <a:p/>
          <a:p>
            <a:r>
              <a:t>And the three grounded failure modes by name: answered from memory, retrieved the wrong</a:t>
            </a:r>
          </a:p>
          <a:p>
            <a:r>
              <a:t>passage, over-read the passage. I'll give you an answer and a source and ask which one it is.</a:t>
            </a:r>
          </a:p>
          <a:p>
            <a:r>
              <a:t>That's a guaranteed exam question, so practise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Five things.</a:t>
            </a:r>
          </a:p>
          <a:p/>
          <a:p>
            <a:r>
              <a:t>You cannot prompt your way to information the model doesn't have. You have to supply it.</a:t>
            </a:r>
          </a:p>
          <a:p/>
          <a:p>
            <a:r>
              <a:t>Grounding puts your passages into the context at the moment of answering. That's all RAG</a:t>
            </a:r>
          </a:p>
          <a:p>
            <a:r>
              <a:t>means, and you should now be immune to people using the acronym to sound impressive.</a:t>
            </a:r>
          </a:p>
          <a:p/>
          <a:p>
            <a:r>
              <a:t>It changes where the answer comes from. It does not install a truth check. Please hold both</a:t>
            </a:r>
          </a:p>
          <a:p>
            <a:r>
              <a:t>halves of that sentence.</a:t>
            </a:r>
          </a:p>
          <a:p/>
          <a:p>
            <a:r>
              <a:t>Ask for quotations, and then actually check them — because the quotation marks feel like</a:t>
            </a:r>
          </a:p>
          <a:p>
            <a:r>
              <a:t>verification and are not verification.</a:t>
            </a:r>
          </a:p>
          <a:p/>
          <a:p>
            <a:r>
              <a:t>And the three failures: answered from memory, wrong passage, over-read.</a:t>
            </a:r>
          </a:p>
          <a:p/>
          <a:p>
            <a:r>
              <a:t>Next week we do the thing that makes all of this real. You'll build ten questions designed to</a:t>
            </a:r>
          </a:p>
          <a:p>
            <a:r>
              <a:t>break what you made today — seven it should answer, and three it cannot possibly answer from</a:t>
            </a:r>
          </a:p>
          <a:p>
            <a:r>
              <a:t>your sources. And you'll watch a system you built an hour ago answer those three anyway,</a:t>
            </a:r>
          </a:p>
          <a:p>
            <a:r>
              <a:t>confidently.</a:t>
            </a:r>
          </a:p>
          <a:p/>
          <a:p>
            <a:r>
              <a:t>I'd rather you saw that here than discovered it at work.</a:t>
            </a:r>
          </a:p>
          <a:p/>
          <a:p>
            <a:r>
              <a:t>Questions?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Take questions here.</a:t>
            </a:r>
          </a:p>
          <a:p/>
          <a:p>
            <a:r>
              <a:t>Common ones:</a:t>
            </a:r>
          </a:p>
          <a:p/>
          <a:p>
            <a:r>
              <a:t>"Which tool is best for this?" — Several work well and they change. What matters is that it</a:t>
            </a:r>
          </a:p>
          <a:p>
            <a:r>
              <a:t>accepts your documents and lets you ask questions about them. Try two; use whichever handles</a:t>
            </a:r>
          </a:p>
          <a:p>
            <a:r>
              <a:t>your file types.</a:t>
            </a:r>
          </a:p>
          <a:p/>
          <a:p>
            <a:r>
              <a:t>"Can I ground it on a website instead of files?" — Often yes. Same principles apply, plus you</a:t>
            </a:r>
          </a:p>
          <a:p>
            <a:r>
              <a:t>inherit whatever is wrong on the website, and it may change under you without notice.</a:t>
            </a:r>
          </a:p>
          <a:p/>
          <a:p>
            <a:r>
              <a:t>"Is my document used to train the model?" — Depends entirely on the service and the settings,</a:t>
            </a:r>
          </a:p>
          <a:p>
            <a:r>
              <a:t>and it is genuinely worth reading the terms for anything institutional. That's week twelve, and</a:t>
            </a:r>
          </a:p>
          <a:p>
            <a:r>
              <a:t>it's why today's exercise uses public material.</a:t>
            </a:r>
          </a:p>
          <a:p/>
          <a:p>
            <a:r>
              <a:t>"What if the model and my document disagree?" — Excellent question and a good sign. Your</a:t>
            </a:r>
          </a:p>
          <a:p>
            <a:r>
              <a:t>document should win — that's the point of grounding — but the disagreement is worth</a:t>
            </a:r>
          </a:p>
          <a:p>
            <a:r>
              <a:t>investigating, because it sometimes means your document is out of date.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6052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1371600"/>
            <a:ext cx="1051560" cy="508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868680"/>
            <a:ext cx="106372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 spc="220">
                <a:solidFill>
                  <a:srgbClr val="0F766E"/>
                </a:solidFill>
                <a:latin typeface="Calibri"/>
              </a:rPr>
              <a:t>WEEK 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969264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Calibri Light"/>
              </a:rPr>
              <a:t>Grounding AI in Your Own Sources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063240"/>
            <a:ext cx="96926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900" b="0" i="0">
                <a:solidFill>
                  <a:srgbClr val="C3D0DB"/>
                </a:solidFill>
                <a:latin typeface="Calibri"/>
              </a:rPr>
              <a:t>Artifact: the Grounded Assistant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709160"/>
            <a:ext cx="1063721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600" b="1" i="0">
                <a:solidFill>
                  <a:srgbClr val="1F2937"/>
                </a:solidFill>
                <a:latin typeface="Calibri"/>
              </a:rPr>
              <a:t>Prompt Engineering and Large Language Models</a:t>
            </a:r>
          </a:p>
          <a:p>
            <a:pPr>
              <a:spcAft>
                <a:spcPts val="400"/>
              </a:spcAft>
            </a:pPr>
            <a:r>
              <a:rPr sz="1500" b="0" i="0">
                <a:solidFill>
                  <a:srgbClr val="6B7787"/>
                </a:solidFill>
                <a:latin typeface="Calibri"/>
              </a:rPr>
              <a:t>Mehmet Ali Akyol, PhD</a:t>
            </a:r>
          </a:p>
          <a:p>
            <a:pPr>
              <a:spcAft>
                <a:spcPts val="400"/>
              </a:spcAft>
            </a:pPr>
            <a:r>
              <a:rPr sz="1500" b="0" i="0">
                <a:solidFill>
                  <a:srgbClr val="6B7787"/>
                </a:solidFill>
                <a:latin typeface="Calibri"/>
              </a:rPr>
              <a:t>Ankara Medipol University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 Light"/>
              </a:rPr>
              <a:t>Today: What We'll Explore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051560" cy="381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37215" cy="434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0" i="0">
                <a:solidFill>
                  <a:srgbClr val="1F2937"/>
                </a:solidFill>
                <a:latin typeface="Calibri"/>
              </a:rPr>
              <a:t>•  Why the model fails on your own material — and why that is not fixable by prompting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0" i="0">
                <a:solidFill>
                  <a:srgbClr val="1F2937"/>
                </a:solidFill>
                <a:latin typeface="Calibri"/>
              </a:rPr>
              <a:t>•  What grounding actually is, conceptually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0" i="0">
                <a:solidFill>
                  <a:srgbClr val="1F2937"/>
                </a:solidFill>
                <a:latin typeface="Calibri"/>
              </a:rPr>
              <a:t>•  Demonstration: an assistant answering from a document pack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0" i="0">
                <a:solidFill>
                  <a:srgbClr val="1F2937"/>
                </a:solidFill>
                <a:latin typeface="Calibri"/>
              </a:rPr>
              <a:t>•  Source quality: what makes a document easy or hard to ground on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Checking whether an answer is genuinely supported — the part that matters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0" i="0">
                <a:solidFill>
                  <a:srgbClr val="1F2937"/>
                </a:solidFill>
                <a:latin typeface="Calibri"/>
              </a:rPr>
              <a:t>•  Build: your own Grounded Assistant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5508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 i="0">
                <a:solidFill>
                  <a:srgbClr val="6B7787"/>
                </a:solidFill>
                <a:latin typeface="Calibri"/>
              </a:rPr>
              <a:t>Week 7  ·  Prompt Engineering and Large Language Models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7787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92608" cy="68580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80160" y="274320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 i="0">
                <a:solidFill>
                  <a:srgbClr val="0F766E"/>
                </a:solidFill>
                <a:latin typeface="Calibri"/>
              </a:rPr>
              <a:t>PART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3200400"/>
            <a:ext cx="100584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400" b="1" i="0">
                <a:solidFill>
                  <a:srgbClr val="1F2937"/>
                </a:solidFill>
                <a:latin typeface="Calibri Light"/>
              </a:rPr>
              <a:t>Why It Fails on Your Material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 Light"/>
              </a:rPr>
              <a:t>Three Reasons It Cannot Know Your Material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051560" cy="381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37215" cy="434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It was never in the training data.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Internal protocols, institutional regulations, unpublished documents, anything behind a login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It is newer than the knowledge cut-off.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Guidelines updated last month; a regulation amended this year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It exists publicly, but thinly.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Turkish-language professional material, local procedure, specialist practice — present, but sparse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In all three cases the answer is confident and the confidence means nothing.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5508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 i="0">
                <a:solidFill>
                  <a:srgbClr val="6B7787"/>
                </a:solidFill>
                <a:latin typeface="Calibri"/>
              </a:rPr>
              <a:t>Week 7  ·  Prompt Engineering and Large Language Models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7787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2331720"/>
            <a:ext cx="1051560" cy="508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697480"/>
            <a:ext cx="1024128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 i="0">
                <a:solidFill>
                  <a:srgbClr val="1F2937"/>
                </a:solidFill>
                <a:latin typeface="Calibri Light"/>
              </a:rPr>
              <a:t>You cannot prompt your way to information the model does not have.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4434840"/>
            <a:ext cx="102412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0" i="0">
                <a:solidFill>
                  <a:srgbClr val="333D4B"/>
                </a:solidFill>
                <a:latin typeface="Calibri"/>
              </a:rPr>
              <a:t>"Be accurate" and "only use reliable sources" do not create knowledge. They only change tone.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5508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 i="0">
                <a:solidFill>
                  <a:srgbClr val="6B7787"/>
                </a:solidFill>
                <a:latin typeface="Calibri"/>
              </a:rPr>
              <a:t>Week 7  ·  Prompt Engineering and Large Language Models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7787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92608" cy="68580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80160" y="274320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 i="0">
                <a:solidFill>
                  <a:srgbClr val="0F766E"/>
                </a:solidFill>
                <a:latin typeface="Calibri"/>
              </a:rPr>
              <a:t>PART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3200400"/>
            <a:ext cx="100584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400" b="1" i="0">
                <a:solidFill>
                  <a:srgbClr val="1F2937"/>
                </a:solidFill>
                <a:latin typeface="Calibri Light"/>
              </a:rPr>
              <a:t>What Grounding Is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 Light"/>
              </a:rPr>
              <a:t>Grounding, Conceptually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051560" cy="381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2377440"/>
            <a:ext cx="2371267" cy="1874519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 w="15875">
            <a:solidFill>
              <a:srgbClr val="D3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41832" y="2560320"/>
            <a:ext cx="2042083" cy="150875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600" b="1" i="0">
                <a:solidFill>
                  <a:srgbClr val="0F766E"/>
                </a:solidFill>
                <a:latin typeface="Calibri"/>
              </a:rPr>
              <a:t>You ask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6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300" b="0" i="0">
                <a:solidFill>
                  <a:srgbClr val="333D4B"/>
                </a:solidFill>
                <a:latin typeface="Calibri"/>
              </a:rPr>
              <a:t>"What is the notice period for this contract?"</a:t>
            </a:r>
          </a:p>
        </p:txBody>
      </p:sp>
      <p:sp>
        <p:nvSpPr>
          <p:cNvPr id="6" name="Right Arrow 5"/>
          <p:cNvSpPr/>
          <p:nvPr/>
        </p:nvSpPr>
        <p:spPr>
          <a:xfrm>
            <a:off x="3221659" y="3214115"/>
            <a:ext cx="237744" cy="201168"/>
          </a:xfrm>
          <a:prstGeom prst="rightArrow">
            <a:avLst/>
          </a:prstGeom>
          <a:solidFill>
            <a:srgbClr val="B6C4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532555" y="2377440"/>
            <a:ext cx="2371267" cy="1874519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 w="15875">
            <a:solidFill>
              <a:srgbClr val="D3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97147" y="2560320"/>
            <a:ext cx="2042083" cy="150875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600" b="1" i="0">
                <a:solidFill>
                  <a:srgbClr val="0F766E"/>
                </a:solidFill>
                <a:latin typeface="Calibri"/>
              </a:rPr>
              <a:t>Relevant passages are found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6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300" b="0" i="0">
                <a:solidFill>
                  <a:srgbClr val="333D4B"/>
                </a:solidFill>
                <a:latin typeface="Calibri"/>
              </a:rPr>
              <a:t>The system searches your documents and pulls out the parts that look relevant.</a:t>
            </a:r>
          </a:p>
        </p:txBody>
      </p:sp>
      <p:sp>
        <p:nvSpPr>
          <p:cNvPr id="9" name="Right Arrow 8"/>
          <p:cNvSpPr/>
          <p:nvPr/>
        </p:nvSpPr>
        <p:spPr>
          <a:xfrm>
            <a:off x="5976975" y="3214115"/>
            <a:ext cx="237744" cy="201168"/>
          </a:xfrm>
          <a:prstGeom prst="rightArrow">
            <a:avLst/>
          </a:prstGeom>
          <a:solidFill>
            <a:srgbClr val="B6C4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87871" y="2377440"/>
            <a:ext cx="2371267" cy="1874519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 w="15875">
            <a:solidFill>
              <a:srgbClr val="D3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52463" y="2560320"/>
            <a:ext cx="2042083" cy="150875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600" b="1" i="0">
                <a:solidFill>
                  <a:srgbClr val="0F766E"/>
                </a:solidFill>
                <a:latin typeface="Calibri"/>
              </a:rPr>
              <a:t>They go into the context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6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300" b="0" i="0">
                <a:solidFill>
                  <a:srgbClr val="333D4B"/>
                </a:solidFill>
                <a:latin typeface="Calibri"/>
              </a:rPr>
              <a:t>Those passages are placed in the window alongside your question.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8732291" y="3214115"/>
            <a:ext cx="237744" cy="201168"/>
          </a:xfrm>
          <a:prstGeom prst="rightArrow">
            <a:avLst/>
          </a:prstGeom>
          <a:solidFill>
            <a:srgbClr val="B6C4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043187" y="2377440"/>
            <a:ext cx="2371267" cy="1874519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 w="15875">
            <a:solidFill>
              <a:srgbClr val="D3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07779" y="2560320"/>
            <a:ext cx="2042083" cy="150875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600" b="1" i="0">
                <a:solidFill>
                  <a:srgbClr val="0F766E"/>
                </a:solidFill>
                <a:latin typeface="Calibri"/>
              </a:rPr>
              <a:t>It answers from what is there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6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300" b="0" i="0">
                <a:solidFill>
                  <a:srgbClr val="333D4B"/>
                </a:solidFill>
                <a:latin typeface="Calibri"/>
              </a:rPr>
              <a:t>The model predicts an answer with your text in front of it, not from memory.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663439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0" i="0">
                <a:solidFill>
                  <a:srgbClr val="6B7787"/>
                </a:solidFill>
                <a:latin typeface="Calibri"/>
              </a:rPr>
              <a:t>You may see this called RAG — retrieval-augmented generation. That is all the phrase means.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635508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 i="0">
                <a:solidFill>
                  <a:srgbClr val="6B7787"/>
                </a:solidFill>
                <a:latin typeface="Calibri"/>
              </a:rPr>
              <a:t>Week 7  ·  Prompt Engineering and Large Language Models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7787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 Light"/>
              </a:rPr>
              <a:t>What This Changes — and What It Does Not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051560" cy="381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37215" cy="434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What it fixes: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Material the model never saw, or saw thinly, or that changed after the cut-off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You can now point at where an answer came from — the biggest practical gain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What it does not fix: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It can still answer from memory when your documents do not contain the answer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It can still misread a passage it did retrieve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If your source is wrong or out of date, you now have a confident wrong answer with a citation attached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Grounding changes where the answer comes from. It does not install a truth check.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5508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 i="0">
                <a:solidFill>
                  <a:srgbClr val="6B7787"/>
                </a:solidFill>
                <a:latin typeface="Calibri"/>
              </a:rPr>
              <a:t>Week 7  ·  Prompt Engineering and Large Language Models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7787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 Light"/>
              </a:rPr>
              <a:t>What Makes a Document Easy or Hard to Ground 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051560" cy="381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2057400"/>
            <a:ext cx="3301898" cy="3200400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 w="15875">
            <a:solidFill>
              <a:srgbClr val="D3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78408" y="2331720"/>
            <a:ext cx="640080" cy="381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78408" y="2560320"/>
            <a:ext cx="289956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800" b="1" i="0">
                <a:solidFill>
                  <a:srgbClr val="1F2937"/>
                </a:solidFill>
                <a:latin typeface="Calibri"/>
              </a:rPr>
              <a:t>Easy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8408" y="3246120"/>
            <a:ext cx="2899562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0" i="0">
                <a:solidFill>
                  <a:srgbClr val="333D4B"/>
                </a:solidFill>
                <a:latin typeface="Calibri"/>
              </a:rPr>
              <a:t>Real text, not scanned images. Clear headings. Short, self-contained sections. Consistent terminology. One topic per section. Tables with proper headers.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44898" y="2057400"/>
            <a:ext cx="3301898" cy="3200400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 w="15875">
            <a:solidFill>
              <a:srgbClr val="D3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646066" y="2331720"/>
            <a:ext cx="640080" cy="381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46066" y="2560320"/>
            <a:ext cx="289956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800" b="1" i="0">
                <a:solidFill>
                  <a:srgbClr val="1F2937"/>
                </a:solidFill>
                <a:latin typeface="Calibri"/>
              </a:rPr>
              <a:t>Hard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46066" y="3246120"/>
            <a:ext cx="2899562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0" i="0">
                <a:solidFill>
                  <a:srgbClr val="333D4B"/>
                </a:solidFill>
                <a:latin typeface="Calibri"/>
              </a:rPr>
              <a:t>Scanned PDFs where the text is a picture. Information spread across many pages. Meaning carried by layout — columns, boxes, indentation. Pronouns referring back across pages.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12556" y="2057400"/>
            <a:ext cx="3301898" cy="3200400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 w="15875">
            <a:solidFill>
              <a:srgbClr val="D3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313724" y="2331720"/>
            <a:ext cx="640080" cy="381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13724" y="2560320"/>
            <a:ext cx="289956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800" b="1" i="0">
                <a:solidFill>
                  <a:srgbClr val="1F2937"/>
                </a:solidFill>
                <a:latin typeface="Calibri"/>
              </a:rPr>
              <a:t>Practical fixes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13724" y="3246120"/>
            <a:ext cx="2899562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0" i="0">
                <a:solidFill>
                  <a:srgbClr val="333D4B"/>
                </a:solidFill>
                <a:latin typeface="Calibri"/>
              </a:rPr>
              <a:t>Split a large document into topic-sized pieces. Give each a descriptive heading. Convert scans to real text first. Remove irrelevant material — it competes for retrieval.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635508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 i="0">
                <a:solidFill>
                  <a:srgbClr val="6B7787"/>
                </a:solidFill>
                <a:latin typeface="Calibri"/>
              </a:rPr>
              <a:t>Week 7  ·  Prompt Engineering and Large Language Models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7787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92608" cy="68580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80160" y="274320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 i="0">
                <a:solidFill>
                  <a:srgbClr val="0F766E"/>
                </a:solidFill>
                <a:latin typeface="Calibri"/>
              </a:rPr>
              <a:t>PART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3200400"/>
            <a:ext cx="100584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400" b="1" i="0">
                <a:solidFill>
                  <a:srgbClr val="1F2937"/>
                </a:solidFill>
                <a:latin typeface="Calibri Light"/>
              </a:rPr>
              <a:t>Checking Whether It Actually Used Your Sources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 Light"/>
              </a:rPr>
              <a:t>The Instruction That Does Most of the Work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051560" cy="381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37215" cy="434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Put this in every grounded assistant you build: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"Answer only from the documents provided."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"After each claim, quote the sentence from the source that supports it."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"If the documents do not contain the answer, reply exactly: NOT IN SOURCES — and nothing else."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Why the third line matters most: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It gives the honest answer a fixed, likely form — the fallback principle from Week 5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"NOT IN SOURCES" is easy to spot when skim-reading. "I could not find specific information" is not.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5508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 i="0">
                <a:solidFill>
                  <a:srgbClr val="6B7787"/>
                </a:solidFill>
                <a:latin typeface="Calibri"/>
              </a:rPr>
              <a:t>Week 7  ·  Prompt Engineering and Large Language Models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7787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 Light"/>
              </a:rPr>
              <a:t>The Quote Test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051560" cy="381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37215" cy="434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0" i="0">
                <a:solidFill>
                  <a:srgbClr val="1F2937"/>
                </a:solidFill>
                <a:latin typeface="Calibri"/>
              </a:rPr>
              <a:t>•  Asking for a quotation is the single most useful verification move available to you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It converts an unverifiable claim into a checkable one: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"The notice period is 30 days" — you must trust it or read the whole document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"The notice period is 30 days. Source: 'Either party may terminate on thirty (30) days written notice.' (clause 12.4)" — you can check this in seconds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But you must actually check.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A quotation can be fabricated, or real but from the wrong place, or real but not supporting the claim made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Search your document for the quoted string. If it is not there, everything else is suspect.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5508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 i="0">
                <a:solidFill>
                  <a:srgbClr val="6B7787"/>
                </a:solidFill>
                <a:latin typeface="Calibri"/>
              </a:rPr>
              <a:t>Week 7  ·  Prompt Engineering and Large Language Models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7787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 Light"/>
              </a:rPr>
              <a:t>The Three Instructions in Action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051560" cy="381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37215" cy="434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Question: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"What is the maximum period for submitting an appeal?"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A good answer looks like this: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"Fifteen working days from the date of notification."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"Source: 'An appeal shall be lodged within fifteen (15) working days of the date on which the decision is notified.' (Regulation 8.2)"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A bad answer looks like this: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"Appeals are generally expected to be submitted promptly, typically within two to four weeks of the decision."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No quotation. No clause. Hedged language. Nothing you can check.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5508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 i="0">
                <a:solidFill>
                  <a:srgbClr val="6B7787"/>
                </a:solidFill>
                <a:latin typeface="Calibri"/>
              </a:rPr>
              <a:t>Week 7  ·  Prompt Engineering and Large Language Models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7787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 Light"/>
              </a:rPr>
              <a:t>Preparing Documents So Retrieval Works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051560" cy="381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37215" cy="434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0" i="0">
                <a:solidFill>
                  <a:srgbClr val="1F2937"/>
                </a:solidFill>
                <a:latin typeface="Calibri"/>
              </a:rPr>
              <a:t>•  Fifteen minutes of preparation buys more than any amount of prompt rewriting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Split a long document into sections of roughly one topic each, with descriptive headings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Replace "as described above" and "see section 3" with the actual content, where you can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Convert scanned pages to real text — otherwise nothing is retrievable at all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Delete material irrelevant to the questions you will ask; it competes for retrieval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Then re-run the same questions and compare. This is the fastest improvement available to you.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5508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 i="0">
                <a:solidFill>
                  <a:srgbClr val="6B7787"/>
                </a:solidFill>
                <a:latin typeface="Calibri"/>
              </a:rPr>
              <a:t>Week 7  ·  Prompt Engineering and Large Language Models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7787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 Light"/>
              </a:rPr>
              <a:t>Three Ways a Grounded Answer Goes Wrong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051560" cy="381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2057400"/>
            <a:ext cx="3301898" cy="3200400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 w="15875">
            <a:solidFill>
              <a:srgbClr val="D3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78408" y="2331720"/>
            <a:ext cx="640080" cy="381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78408" y="2560320"/>
            <a:ext cx="289956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800" b="1" i="0">
                <a:solidFill>
                  <a:srgbClr val="1F2937"/>
                </a:solidFill>
                <a:latin typeface="Calibri"/>
              </a:rPr>
              <a:t>Answered from memory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8408" y="3246120"/>
            <a:ext cx="2899562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0" i="0">
                <a:solidFill>
                  <a:srgbClr val="333D4B"/>
                </a:solidFill>
                <a:latin typeface="Calibri"/>
              </a:rPr>
              <a:t>Your documents did not contain it. The model knew something adjacent and used that instead. Detect it: the answer has no quotation, or a vague one.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44898" y="2057400"/>
            <a:ext cx="3301898" cy="3200400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 w="15875">
            <a:solidFill>
              <a:srgbClr val="D3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646066" y="2331720"/>
            <a:ext cx="640080" cy="381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46066" y="2560320"/>
            <a:ext cx="289956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800" b="1" i="0">
                <a:solidFill>
                  <a:srgbClr val="1F2937"/>
                </a:solidFill>
                <a:latin typeface="Calibri"/>
              </a:rPr>
              <a:t>Retrieved the wrong passage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46066" y="3246120"/>
            <a:ext cx="2899562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0" i="0">
                <a:solidFill>
                  <a:srgbClr val="333D4B"/>
                </a:solidFill>
                <a:latin typeface="Calibri"/>
              </a:rPr>
              <a:t>The right words appeared somewhere unrelated. The quotation is genuine and the conclusion is wrong. Detect it: read the quoted passage in its original context.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12556" y="2057400"/>
            <a:ext cx="3301898" cy="3200400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 w="15875">
            <a:solidFill>
              <a:srgbClr val="D3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313724" y="2331720"/>
            <a:ext cx="640080" cy="381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13724" y="2560320"/>
            <a:ext cx="289956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800" b="1" i="0">
                <a:solidFill>
                  <a:srgbClr val="1F2937"/>
                </a:solidFill>
                <a:latin typeface="Calibri"/>
              </a:rPr>
              <a:t>Over-read the passage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13724" y="3246120"/>
            <a:ext cx="2899562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0" i="0">
                <a:solidFill>
                  <a:srgbClr val="333D4B"/>
                </a:solidFill>
                <a:latin typeface="Calibri"/>
              </a:rPr>
              <a:t>The source says something narrower than the answer claims. "May" becomes "must". An example becomes a rule. Detect it: compare the strength of the claim with the strength of the quote.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635508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 i="0">
                <a:solidFill>
                  <a:srgbClr val="6B7787"/>
                </a:solidFill>
                <a:latin typeface="Calibri"/>
              </a:rPr>
              <a:t>Week 7  ·  Prompt Engineering and Large Language Models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7787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92608" cy="68580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80160" y="274320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 i="0">
                <a:solidFill>
                  <a:srgbClr val="0F766E"/>
                </a:solidFill>
                <a:latin typeface="Calibri"/>
              </a:rPr>
              <a:t>PART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3200400"/>
            <a:ext cx="100584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400" b="1" i="0">
                <a:solidFill>
                  <a:srgbClr val="1F2937"/>
                </a:solidFill>
                <a:latin typeface="Calibri Light"/>
              </a:rPr>
              <a:t>Build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 i="0">
                <a:solidFill>
                  <a:srgbClr val="B45309"/>
                </a:solidFill>
                <a:latin typeface="Calibri"/>
              </a:rPr>
              <a:t>IN-CLASS ACTIVITY  ·  20 MINUTES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960120"/>
            <a:ext cx="106372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 Light"/>
              </a:rPr>
              <a:t>Build Your Grounded Assistant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783080"/>
            <a:ext cx="1051560" cy="3810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148840"/>
            <a:ext cx="10637215" cy="3931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1.  Choose your sources — three to five short documents.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Bring your own, or take a pack from me: clinical guideline, statute extract, course regulations, annual report, technical standard.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2.  Load them into any tool that lets you attach documents and ask questions about them.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Several free assistants do this. Notebook-style tools do it well. Any of them is fine.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3.  Add the three instructions.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Answer only from the documents · quote the supporting sentence · reply NOT IN SOURCES if absent.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4.  Ask five questions. Check every quotation against the source.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5508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 i="0">
                <a:solidFill>
                  <a:srgbClr val="6B7787"/>
                </a:solidFill>
                <a:latin typeface="Calibri"/>
              </a:rPr>
              <a:t>Week 7  ·  Prompt Engineering and Large Language Models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7787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 Light"/>
              </a:rPr>
              <a:t>What You Probably Found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051560" cy="381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37215" cy="434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With the three instructions, it refused at least once — and the refusal was correct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Quotations were usually genuine. "Usually" is the operative word.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At least one answer was broader than the sentence it quoted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Questions spanning several documents were answered worse than questions inside one document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The last one is structural and worth remembering: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Retrieval pulls passages, not whole documents. Anything requiring you to combine three separate places is fragile.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5508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 i="0">
                <a:solidFill>
                  <a:srgbClr val="6B7787"/>
                </a:solidFill>
                <a:latin typeface="Calibri"/>
              </a:rPr>
              <a:t>Week 7  ·  Prompt Engineering and Large Language Models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7787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 Light"/>
              </a:rPr>
              <a:t>Concepts You Must Be Able to Define and Diagnose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051560" cy="381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1783080"/>
            <a:ext cx="10637215" cy="425196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2103120"/>
            <a:ext cx="9814255" cy="3611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Grounding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Placing relevant passages from chosen sources into the context so the model answers from them rather than from memory. Also called retrieval-augmented generation.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What grounding does and does not do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Changes where the answer comes from. Does not install a truth check, and does not fix a wrong source.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Why prompting cannot substitute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Instructions change tone and shape, never available information. "Be accurate" adds authority, not facts.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The three verification instructions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Answer only from sources · quote the supporting sentence · a fixed, visible refusal string.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Three grounded failure modes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Answered from memory · retrieved the wrong passage · over-read the passage.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5508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 i="0">
                <a:solidFill>
                  <a:srgbClr val="6B7787"/>
                </a:solidFill>
                <a:latin typeface="Calibri"/>
              </a:rPr>
              <a:t>Week 7  ·  Prompt Engineering and Large Language Models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7787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 Light"/>
              </a:rPr>
              <a:t>Wrap-Up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051560" cy="381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37215" cy="434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0" i="0">
                <a:solidFill>
                  <a:srgbClr val="1F2937"/>
                </a:solidFill>
                <a:latin typeface="Calibri"/>
              </a:rPr>
              <a:t>•  You cannot prompt your way to information the model does not have — you must supply it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0" i="0">
                <a:solidFill>
                  <a:srgbClr val="1F2937"/>
                </a:solidFill>
                <a:latin typeface="Calibri"/>
              </a:rPr>
              <a:t>•  Grounding puts your passages in the context. That is all RAG means.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It changes where the answer comes from. It does not install a truth check.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0" i="0">
                <a:solidFill>
                  <a:srgbClr val="1F2937"/>
                </a:solidFill>
                <a:latin typeface="Calibri"/>
              </a:rPr>
              <a:t>•  Ask for quotations — then actually check them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0" i="0">
                <a:solidFill>
                  <a:srgbClr val="1F2937"/>
                </a:solidFill>
                <a:latin typeface="Calibri"/>
              </a:rPr>
              <a:t>•  Three failures: answered from memory · wrong passage · over-read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Next week: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Verification — you will build ten questions designed to break the thing you made today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5508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 i="0">
                <a:solidFill>
                  <a:srgbClr val="6B7787"/>
                </a:solidFill>
                <a:latin typeface="Calibri"/>
              </a:rPr>
              <a:t>Week 7  ·  Prompt Engineering and Large Language Models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7787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468880"/>
            <a:ext cx="102412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400" b="1" i="0">
                <a:solidFill>
                  <a:srgbClr val="FFFFFF"/>
                </a:solidFill>
                <a:latin typeface="Calibri Light"/>
              </a:rPr>
              <a:t>Questions?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3566160"/>
            <a:ext cx="1051560" cy="508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3931920"/>
            <a:ext cx="102412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700" b="0" i="0">
                <a:solidFill>
                  <a:srgbClr val="FFFFFF"/>
                </a:solidFill>
                <a:latin typeface="Calibri"/>
              </a:rPr>
              <a:t>Mehmet Ali Akyol, PhD</a:t>
            </a:r>
          </a:p>
          <a:p>
            <a:pPr>
              <a:spcAft>
                <a:spcPts val="500"/>
              </a:spcAft>
            </a:pPr>
            <a:r>
              <a:rPr sz="1700" b="0" i="0">
                <a:solidFill>
                  <a:srgbClr val="C3D0DB"/>
                </a:solidFill>
                <a:latin typeface="Calibri"/>
              </a:rPr>
              <a:t>mehmetali.akyol@gmail.com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