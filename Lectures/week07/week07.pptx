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</a:t>
            </a:r>
          </a:p>
          <a:p/>
          <a:p>
            <a:r>
              <a:t>Last week you built a tool, and we ended on a sentence: the surface is not evidence. Today we</a:t>
            </a:r>
          </a:p>
          <a:p>
            <a:r>
              <a:t>attack the deeper version of that problem.</a:t>
            </a:r>
          </a:p>
          <a:p/>
          <a:p>
            <a:r>
              <a:t>Everything you've done so far runs on what the model absorbed during training. Which means</a:t>
            </a:r>
          </a:p>
          <a:p>
            <a:r>
              <a:t>when you ask about your hospital's protocol, your university's regulations, Turkish</a:t>
            </a:r>
          </a:p>
          <a:p>
            <a:r>
              <a:t>procedure, or a document that was written last month, it is working from either thin coverage</a:t>
            </a:r>
          </a:p>
          <a:p>
            <a:r>
              <a:t>or nothing at all — and, as you know by now, telling you nothing about which.</a:t>
            </a:r>
          </a:p>
          <a:p/>
          <a:p>
            <a:r>
              <a:t>Today we fix that. Not by making the model know more, which we can't do. By putting the right</a:t>
            </a:r>
          </a:p>
          <a:p>
            <a:r>
              <a:t>material in front of it at the moment it answers.</a:t>
            </a:r>
          </a:p>
          <a:p/>
          <a:p>
            <a:r>
              <a:t>This is, I think, the highest-value single session in the course for people who aren't</a:t>
            </a:r>
          </a:p>
          <a:p>
            <a:r>
              <a:t>programmers. It's the difference between a system that sounds like it knows your field and a</a:t>
            </a:r>
          </a:p>
          <a:p>
            <a:r>
              <a:t>system that is actually working from your documents. And the second half of today is about</a:t>
            </a:r>
          </a:p>
          <a:p>
            <a:r>
              <a:t>the harder question: how do you know which one you've got?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why the model fails on your own material — and I want to be clear that this is not</a:t>
            </a:r>
          </a:p>
          <a:p>
            <a:r>
              <a:t>fixable by better prompting. That's an important negative result. Some of you have been trying</a:t>
            </a:r>
          </a:p>
          <a:p>
            <a:r>
              <a:t>to prompt your way around it.</a:t>
            </a:r>
          </a:p>
          <a:p/>
          <a:p>
            <a:r>
              <a:t>Then what grounding actually is, conceptually. No vector databases, no implementation. The</a:t>
            </a:r>
          </a:p>
          <a:p>
            <a:r>
              <a:t>idea, which is simple.</a:t>
            </a:r>
          </a:p>
          <a:p/>
          <a:p>
            <a:r>
              <a:t>Then a demonstration: an assistant answering from a pack of documents, with sources.</a:t>
            </a:r>
          </a:p>
          <a:p/>
          <a:p>
            <a:r>
              <a:t>Then source quality — because the same content in two different document formats gives you</a:t>
            </a:r>
          </a:p>
          <a:p>
            <a:r>
              <a:t>very different results, and knowing why saves you a lot of frustration.</a:t>
            </a:r>
          </a:p>
          <a:p/>
          <a:p>
            <a:r>
              <a:t>Then the part that matters most: checking whether an answer is genuinely supported by the</a:t>
            </a:r>
          </a:p>
          <a:p>
            <a:r>
              <a:t>sources, or whether it just looks like it is. That distinction is the whole session.</a:t>
            </a:r>
          </a:p>
          <a:p/>
          <a:p>
            <a:r>
              <a:t>Then you build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Naming the problem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reasons, and they need different responses, so it's worth distinguishing them.</a:t>
            </a:r>
          </a:p>
          <a:p/>
          <a:p>
            <a:r>
              <a:t>It was never in the training data at all. Your hospital's internal protocol. Your faculty's</a:t>
            </a:r>
          </a:p>
          <a:p>
            <a:r>
              <a:t>regulations. Anything behind a login, anything unpublished, anything internal. There is</a:t>
            </a:r>
          </a:p>
          <a:p>
            <a:r>
              <a:t>simply no signal.</a:t>
            </a:r>
          </a:p>
          <a:p/>
          <a:p>
            <a:r>
              <a:t>It's newer than the knowledge cut-off. Guidelines updated last month. A regulation amended</a:t>
            </a:r>
          </a:p>
          <a:p>
            <a:r>
              <a:t>this year. The model isn't reading the news; it stopped learning at a date.</a:t>
            </a:r>
          </a:p>
          <a:p/>
          <a:p>
            <a:r>
              <a:t>Or it exists publicly, but thinly. Turkish-language professional material, local procedure,</a:t>
            </a:r>
          </a:p>
          <a:p>
            <a:r>
              <a:t>specialist practice. Present in the training data, but sparse — which after week three you</a:t>
            </a:r>
          </a:p>
          <a:p>
            <a:r>
              <a:t>know is the most dangerous case of the three, because there's enough signal to produce</a:t>
            </a:r>
          </a:p>
          <a:p>
            <a:r>
              <a:t>something confident and not enough to produce something reliable.</a:t>
            </a:r>
          </a:p>
          <a:p/>
          <a:p>
            <a:r>
              <a:t>And the bold line, which is why all three matter equally: in every case the answer is</a:t>
            </a:r>
          </a:p>
          <a:p>
            <a:r>
              <a:t>confident, and the confidence means nothing. You cannot distinguish these three situations</a:t>
            </a:r>
          </a:p>
          <a:p>
            <a:r>
              <a:t>from the output. They all look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because I know some of you have been doing this.</a:t>
            </a:r>
          </a:p>
          <a:p/>
          <a:p>
            <a:r>
              <a:t>You cannot prompt your way to information the model does not have.</a:t>
            </a:r>
          </a:p>
          <a:p/>
          <a:p>
            <a:r>
              <a:t>"Be accurate." "Only use reliable sources." "Do not make anything up." "You are an expert in</a:t>
            </a:r>
          </a:p>
          <a:p>
            <a:r>
              <a:t>Turkish employment law."</a:t>
            </a:r>
          </a:p>
          <a:p/>
          <a:p>
            <a:r>
              <a:t>None of these create knowledge. Not one. What they do is change the tone of the output, and —</a:t>
            </a:r>
          </a:p>
          <a:p>
            <a:r>
              <a:t>this is the genuinely dangerous part — they often make it sound *more* authoritative, because</a:t>
            </a:r>
          </a:p>
          <a:p>
            <a:r>
              <a:t>you've asked for authority and authority is a style.</a:t>
            </a:r>
          </a:p>
          <a:p/>
          <a:p>
            <a:r>
              <a:t>Think about the mechanism. You've adjusted the probability distribution towards text that</a:t>
            </a:r>
          </a:p>
          <a:p>
            <a:r>
              <a:t>reads as careful and expert. You have not added a single fact. The result is a more confident</a:t>
            </a:r>
          </a:p>
          <a:p>
            <a:r>
              <a:t>wrong answer.</a:t>
            </a:r>
          </a:p>
          <a:p/>
          <a:p>
            <a:r>
              <a:t>I want this to land, because it's the most common mistake made by people who are otherwise</a:t>
            </a:r>
          </a:p>
          <a:p>
            <a:r>
              <a:t>good at this. Prompting is powerful for shaping, structuring, and constraining. It is</a:t>
            </a:r>
          </a:p>
          <a:p>
            <a:r>
              <a:t>completely powerless against absent information.</a:t>
            </a:r>
          </a:p>
          <a:p/>
          <a:p>
            <a:r>
              <a:t>The only fix is to supply the information. Which is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The concept, which is simpler than the terminology suggests.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whole idea. Four boxes.</a:t>
            </a:r>
          </a:p>
          <a:p/>
          <a:p>
            <a:r>
              <a:t>You ask a question. The system searches your documents and pulls out the passages that look</a:t>
            </a:r>
          </a:p>
          <a:p>
            <a:r>
              <a:t>relevant. Those passages get placed into the context window alongside your question. And then</a:t>
            </a:r>
          </a:p>
          <a:p>
            <a:r>
              <a:t>the model answers with your text in front of it, rather than from memory alone.</a:t>
            </a:r>
          </a:p>
          <a:p/>
          <a:p>
            <a:r>
              <a:t>That's it. That is grounding.</a:t>
            </a:r>
          </a:p>
          <a:p/>
          <a:p>
            <a:r>
              <a:t>Read the caption: you may see this called RAG, retrieval-augmented generation. People say it</a:t>
            </a:r>
          </a:p>
          <a:p>
            <a:r>
              <a:t>in a way that suggests deep technical machinery. That is all the phrase means — retrieve</a:t>
            </a:r>
          </a:p>
          <a:p>
            <a:r>
              <a:t>relevant text, add it to the context, then generate.</a:t>
            </a:r>
          </a:p>
          <a:p/>
          <a:p>
            <a:r>
              <a:t>Now, the honest analogy. Remember week three: the model has no memory outside the context.</a:t>
            </a:r>
          </a:p>
          <a:p>
            <a:r>
              <a:t>Grounding is putting the textbook on the desk before you ask the question. It's an open-book</a:t>
            </a:r>
          </a:p>
          <a:p>
            <a:r>
              <a:t>exam instead of a closed-book one.</a:t>
            </a:r>
          </a:p>
          <a:p/>
          <a:p>
            <a:r>
              <a:t>And I want you to hold onto that analogy, because it predicts the failures. Think about what</a:t>
            </a:r>
          </a:p>
          <a:p>
            <a:r>
              <a:t>can go wrong in an open-book exam. You might grab the wrong page. The book might not contain</a:t>
            </a:r>
          </a:p>
          <a:p>
            <a:r>
              <a:t>the answer, and you might write something anyway. You might read the right page and</a:t>
            </a:r>
          </a:p>
          <a:p>
            <a:r>
              <a:t>misunderstand it.</a:t>
            </a:r>
          </a:p>
          <a:p/>
          <a:p>
            <a:r>
              <a:t>Every failure mode of grounding is one of those three. We'll come back to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 about what you're buying.</a:t>
            </a:r>
          </a:p>
          <a:p/>
          <a:p>
            <a:r>
              <a:t>What it fixes: material the model never saw, saw thinly, or that changed after the cut-off.</a:t>
            </a:r>
          </a:p>
          <a:p>
            <a:r>
              <a:t>That's the big one. And you can now point at where an answer came from, which is the largest</a:t>
            </a:r>
          </a:p>
          <a:p>
            <a:r>
              <a:t>practical gain in this entire course — you've converted an unverifiable claim into a</a:t>
            </a:r>
          </a:p>
          <a:p>
            <a:r>
              <a:t>verifiable one.</a:t>
            </a:r>
          </a:p>
          <a:p/>
          <a:p>
            <a:r>
              <a:t>What it does not fix. Three things.</a:t>
            </a:r>
          </a:p>
          <a:p/>
          <a:p>
            <a:r>
              <a:t>It can still answer from memory when your documents don't contain the answer. Nothing forces</a:t>
            </a:r>
          </a:p>
          <a:p>
            <a:r>
              <a:t>it to use only what you gave it. This is the single most important thing to remember today.</a:t>
            </a:r>
          </a:p>
          <a:p/>
          <a:p>
            <a:r>
              <a:t>It can still misread a passage it did retrieve.</a:t>
            </a:r>
          </a:p>
          <a:p/>
          <a:p>
            <a:r>
              <a:t>And if your source is wrong or out of date, you now have a confident wrong answer *with a</a:t>
            </a:r>
          </a:p>
          <a:p>
            <a:r>
              <a:t>citation attached* — which is worse than before, because the citation makes it more</a:t>
            </a:r>
          </a:p>
          <a:p>
            <a:r>
              <a:t>persuasive to you and to whoever you show it to.</a:t>
            </a:r>
          </a:p>
          <a:p/>
          <a:p>
            <a:r>
              <a:t>The bold line: grounding changes where the answer comes from. It does not install a truth</a:t>
            </a:r>
          </a:p>
          <a:p>
            <a:r>
              <a:t>check. There is still no step where anything is verified. We've improved the inputs, not the</a:t>
            </a:r>
          </a:p>
          <a:p>
            <a:r>
              <a:t>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quality. This is the difference between grounding that works and grounding that</a:t>
            </a:r>
          </a:p>
          <a:p>
            <a:r>
              <a:t>frustrates you, and almost nobody tells you about it.</a:t>
            </a:r>
          </a:p>
          <a:p/>
          <a:p>
            <a:r>
              <a:t>Easy: real text rather than scanned images. Clear headings. Short, self-contained sections.</a:t>
            </a:r>
          </a:p>
          <a:p>
            <a:r>
              <a:t>Consistent terminology — if your document calls the same thing three different names,</a:t>
            </a:r>
          </a:p>
          <a:p>
            <a:r>
              <a:t>retrieval suffers. One topic per section. Tables with proper headers.</a:t>
            </a:r>
          </a:p>
          <a:p/>
          <a:p>
            <a:r>
              <a:t>Hard: scanned PDFs where the text is actually a picture — very common with older institutional</a:t>
            </a:r>
          </a:p>
          <a:p>
            <a:r>
              <a:t>documents, and it may extract nothing at all. Information spread across many pages, so no</a:t>
            </a:r>
          </a:p>
          <a:p>
            <a:r>
              <a:t>single retrieved passage contains the answer. Meaning carried by layout, like columns or boxes</a:t>
            </a:r>
          </a:p>
          <a:p>
            <a:r>
              <a:t>or indentation, all of which flatten out. And pronouns referring back across pages — "as</a:t>
            </a:r>
          </a:p>
          <a:p>
            <a:r>
              <a:t>described above" is useless when the passage is retrieved on its own.</a:t>
            </a:r>
          </a:p>
          <a:p/>
          <a:p>
            <a:r>
              <a:t>That last one is worth dwelling on. Retrieval pulls out a passage. If the passage says "this</a:t>
            </a:r>
          </a:p>
          <a:p>
            <a:r>
              <a:t>requirement applies in the cases listed above," and "above" wasn't retrieved, the model has a</a:t>
            </a:r>
          </a:p>
          <a:p>
            <a:r>
              <a:t>sentence that means nothing and it will interpret it anyway.</a:t>
            </a:r>
          </a:p>
          <a:p/>
          <a:p>
            <a:r>
              <a:t>Practical fixes on the right. Split large documents into topic-sized pieces. Give each a</a:t>
            </a:r>
          </a:p>
          <a:p>
            <a:r>
              <a:t>descriptive heading. Convert scans to real text. And remove irrelevant material — it competes</a:t>
            </a:r>
          </a:p>
          <a:p>
            <a:r>
              <a:t>for retrieval and crowds out what you wanted.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The heart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instructions. Put these in every grounded assistant you build. Write them down.</a:t>
            </a:r>
          </a:p>
          <a:p/>
          <a:p>
            <a:r>
              <a:t>"Answer only from the documents provided."</a:t>
            </a:r>
          </a:p>
          <a:p/>
          <a:p>
            <a:r>
              <a:t>"After each claim, quote the sentence from the source that supports it."</a:t>
            </a:r>
          </a:p>
          <a:p/>
          <a:p>
            <a:r>
              <a:t>"If the documents do not contain the answer, reply exactly: NOT IN SOURCES — and nothing else."</a:t>
            </a:r>
          </a:p>
          <a:p/>
          <a:p>
            <a:r>
              <a:t>Now, why the third line matters most, and it's the fallback principle from week five doing its</a:t>
            </a:r>
          </a:p>
          <a:p>
            <a:r>
              <a:t>work again.</a:t>
            </a:r>
          </a:p>
          <a:p/>
          <a:p>
            <a:r>
              <a:t>You're giving the honest answer a fixed, likely form. Not asking the system to be truthful —</a:t>
            </a:r>
          </a:p>
          <a:p>
            <a:r>
              <a:t>making the truthful output the probable one, because there's now a specific short string that</a:t>
            </a:r>
          </a:p>
          <a:p>
            <a:r>
              <a:t>fits the situation.</a:t>
            </a:r>
          </a:p>
          <a:p/>
          <a:p>
            <a:r>
              <a:t>And there's a second reason, which is about you rather than the model. "NOT IN SOURCES" in</a:t>
            </a:r>
          </a:p>
          <a:p>
            <a:r>
              <a:t>capitals is easy to spot when you're skim-reading at four in the afternoon. Compare that with</a:t>
            </a:r>
          </a:p>
          <a:p>
            <a:r>
              <a:t>"I could not find specific information about this in the provided documents, however, based on</a:t>
            </a:r>
          </a:p>
          <a:p>
            <a:r>
              <a:t>general principles..." — which is the same admission, buried in a paragraph, followed by an</a:t>
            </a:r>
          </a:p>
          <a:p>
            <a:r>
              <a:t>answer anyway. You will read past that. Everyone does.</a:t>
            </a:r>
          </a:p>
          <a:p/>
          <a:p>
            <a:r>
              <a:t>Make the refusal short, fixed, and visually obvious. That's a design decision about your own</a:t>
            </a:r>
          </a:p>
          <a:p>
            <a:r>
              <a:t>attention, and it matters as much as the instruction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quote test. Single most useful verification move available to you, and it's free.</a:t>
            </a:r>
          </a:p>
          <a:p/>
          <a:p>
            <a:r>
              <a:t>Look at the two versions. "The notice period is 30 days." To check that, you either trust it</a:t>
            </a:r>
          </a:p>
          <a:p>
            <a:r>
              <a:t>or you read the whole contract. Those are your options.</a:t>
            </a:r>
          </a:p>
          <a:p/>
          <a:p>
            <a:r>
              <a:t>"The notice period is 30 days. Source: 'Either party may terminate on thirty days written</a:t>
            </a:r>
          </a:p>
          <a:p>
            <a:r>
              <a:t>notice.' Clause 12.4." Now you can check it in about five seconds. Search for the string. Look</a:t>
            </a:r>
          </a:p>
          <a:p>
            <a:r>
              <a:t>at clause 12.4. Done.</a:t>
            </a:r>
          </a:p>
          <a:p/>
          <a:p>
            <a:r>
              <a:t>You've converted an unverifiable claim into a checkable one. That's the whole game.</a:t>
            </a:r>
          </a:p>
          <a:p/>
          <a:p>
            <a:r>
              <a:t>But — bold line — you must actually check. And I know how this goes: the presence of a</a:t>
            </a:r>
          </a:p>
          <a:p>
            <a:r>
              <a:t>quotation feels like verification, so people stop there. The quote marks do the reassuring and</a:t>
            </a:r>
          </a:p>
          <a:p>
            <a:r>
              <a:t>nobody looks.</a:t>
            </a:r>
          </a:p>
          <a:p/>
          <a:p>
            <a:r>
              <a:t>Three ways a quotation fails. It can be fabricated outright. It can be real but from the wrong</a:t>
            </a:r>
          </a:p>
          <a:p>
            <a:r>
              <a:t>place — a genuine sentence from your document that doesn't say what the claim says. Or it can</a:t>
            </a:r>
          </a:p>
          <a:p>
            <a:r>
              <a:t>be real and correctly located and simply not support the claim being made, which is the</a:t>
            </a:r>
          </a:p>
          <a:p>
            <a:r>
              <a:t>subtlest and the most common.</a:t>
            </a:r>
          </a:p>
          <a:p/>
          <a:p>
            <a:r>
              <a:t>The check is quick: search your document for the quoted string. If it isn't there, stop</a:t>
            </a:r>
          </a:p>
          <a:p>
            <a:r>
              <a:t>trusting everything else in that answer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failure modes. These map exactly onto the open-book exam analogy from earlier, and I'll</a:t>
            </a:r>
          </a:p>
          <a:p>
            <a:r>
              <a:t>examine you on them.</a:t>
            </a:r>
          </a:p>
          <a:p/>
          <a:p>
            <a:r>
              <a:t>Answered from memory. Your documents didn't contain it; the model knew something adjacent and</a:t>
            </a:r>
          </a:p>
          <a:p>
            <a:r>
              <a:t>used that. How you detect it: the answer has no quotation, or has a vague gesture instead of a</a:t>
            </a:r>
          </a:p>
          <a:p>
            <a:r>
              <a:t>sentence. If there's no quote, assume memory.</a:t>
            </a:r>
          </a:p>
          <a:p/>
          <a:p>
            <a:r>
              <a:t>Retrieved the wrong passage. The right words appeared somewhere unrelated — the word "notice"</a:t>
            </a:r>
          </a:p>
          <a:p>
            <a:r>
              <a:t>appears in a clause about notices to third parties, not about termination. The quotation is</a:t>
            </a:r>
          </a:p>
          <a:p>
            <a:r>
              <a:t>completely genuine. The conclusion is wrong. How you detect it: read the quoted passage in its</a:t>
            </a:r>
          </a:p>
          <a:p>
            <a:r>
              <a:t>original context, not in isolation.</a:t>
            </a:r>
          </a:p>
          <a:p/>
          <a:p>
            <a:r>
              <a:t>And over-read the passage — the subtlest one and my personal favourite for exam questions. The</a:t>
            </a:r>
          </a:p>
          <a:p>
            <a:r>
              <a:t>source says something narrower than the answer claims. "May" becomes "must." "In some cases"</a:t>
            </a:r>
          </a:p>
          <a:p>
            <a:r>
              <a:t>becomes "in all cases." An example becomes a rule. How you detect it: compare the strength of</a:t>
            </a:r>
          </a:p>
          <a:p>
            <a:r>
              <a:t>the claim against the strength of the quote. If the answer is more confident than the sentence</a:t>
            </a:r>
          </a:p>
          <a:p>
            <a:r>
              <a:t>it cites, something has been added.</a:t>
            </a:r>
          </a:p>
          <a:p/>
          <a:p>
            <a:r>
              <a:t>Learn these three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Twenty minutes. Everything you need is provided if you didn't bring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minutes. Four steps.</a:t>
            </a:r>
          </a:p>
          <a:p/>
          <a:p>
            <a:r>
              <a:t>One. Choose your sources — three to five short documents. Bring your own if you have them.</a:t>
            </a:r>
          </a:p>
          <a:p>
            <a:r>
              <a:t>Otherwise take a pack from me: I have a clinical guideline extract, a statute extract, a set of</a:t>
            </a:r>
          </a:p>
          <a:p>
            <a:r>
              <a:t>course regulations, an annual report, and a technical standard. Pick whichever is closest to</a:t>
            </a:r>
          </a:p>
          <a:p>
            <a:r>
              <a:t>your field. All public material, so no data concerns.</a:t>
            </a:r>
          </a:p>
          <a:p/>
          <a:p>
            <a:r>
              <a:t>Two. Load them into any tool that lets you attach documents and ask questions about them.</a:t>
            </a:r>
          </a:p>
          <a:p>
            <a:r>
              <a:t>Several free assistants do this directly. Notebook-style tools do it particularly well. Any of</a:t>
            </a:r>
          </a:p>
          <a:p>
            <a:r>
              <a:t>them works — we're doing a general technique, not a product tutorial.</a:t>
            </a:r>
          </a:p>
          <a:p/>
          <a:p>
            <a:r>
              <a:t>Three. Add the three instructions from earlier. Answer only from the documents. Quote the</a:t>
            </a:r>
          </a:p>
          <a:p>
            <a:r>
              <a:t>supporting sentence. Reply NOT IN SOURCES if it isn't there.</a:t>
            </a:r>
          </a:p>
          <a:p/>
          <a:p>
            <a:r>
              <a:t>Four, and this is the actual exercise: ask five questions, and check every single quotation</a:t>
            </a:r>
          </a:p>
          <a:p>
            <a:r>
              <a:t>against the source. Not four of them. All five.</a:t>
            </a:r>
          </a:p>
          <a:p/>
          <a:p>
            <a:r>
              <a:t>[Circulate. The most common thing to catch: people accept a quotation without checking it.</a:t>
            </a:r>
          </a:p>
          <a:p>
            <a:r>
              <a:t>Ask "did you find that sentence?" and watch what happens. If nobody is building, work through</a:t>
            </a:r>
          </a:p>
          <a:p>
            <a:r>
              <a:t>three questions on the provided pack on screen.]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typically happens.</a:t>
            </a:r>
          </a:p>
          <a:p/>
          <a:p>
            <a:r>
              <a:t>With the three instructions in place, it refused at least once — and when you checked, the</a:t>
            </a:r>
          </a:p>
          <a:p>
            <a:r>
              <a:t>refusal was correct. That's the system working. Notice how much better that feels than a</a:t>
            </a:r>
          </a:p>
          <a:p>
            <a:r>
              <a:t>confident answer you have to disprove.</a:t>
            </a:r>
          </a:p>
          <a:p/>
          <a:p>
            <a:r>
              <a:t>Quotations were usually genuine. "Usually" is the operative word and it's why you check.</a:t>
            </a:r>
          </a:p>
          <a:p/>
          <a:p>
            <a:r>
              <a:t>At least one answer was broader than the sentence it quoted. That's over-reading, and it's the</a:t>
            </a:r>
          </a:p>
          <a:p>
            <a:r>
              <a:t>most common of the three failures. If you didn't spot one, look again — go back and compare</a:t>
            </a:r>
          </a:p>
          <a:p>
            <a:r>
              <a:t>each claim with its quote for strength rather than content.</a:t>
            </a:r>
          </a:p>
          <a:p/>
          <a:p>
            <a:r>
              <a:t>And questions spanning several documents were answered worse than questions inside a single</a:t>
            </a:r>
          </a:p>
          <a:p>
            <a:r>
              <a:t>document.</a:t>
            </a:r>
          </a:p>
          <a:p/>
          <a:p>
            <a:r>
              <a:t>That last one is structural, and it's the bold line. Retrieval pulls passages, not whole</a:t>
            </a:r>
          </a:p>
          <a:p>
            <a:r>
              <a:t>documents. So a question whose answer requires combining three separate places is fragile —</a:t>
            </a:r>
          </a:p>
          <a:p>
            <a:r>
              <a:t>each piece has to be retrieved, and if one isn't, the model fills the gap.</a:t>
            </a:r>
          </a:p>
          <a:p/>
          <a:p>
            <a:r>
              <a:t>Practical consequence: ask narrow questions of grounded systems. If you need a synthesis across</a:t>
            </a:r>
          </a:p>
          <a:p>
            <a:r>
              <a:t>sources, do it in steps and check each step. That's a design decision you now know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examinable from today. Five items, and this week is heavily represented on both exams.</a:t>
            </a:r>
          </a:p>
          <a:p/>
          <a:p>
            <a:r>
              <a:t>Grounding: placing relevant passages from chosen sources into the context so the model answers</a:t>
            </a:r>
          </a:p>
          <a:p>
            <a:r>
              <a:t>from them rather than memory. Know that RAG means this and nothing more mysterious.</a:t>
            </a:r>
          </a:p>
          <a:p/>
          <a:p>
            <a:r>
              <a:t>What it does and doesn't do. Changes where the answer comes from. Does not install a truth</a:t>
            </a:r>
          </a:p>
          <a:p>
            <a:r>
              <a:t>check. Does not fix a wrong source — and I may well give you a scenario where the source itself</a:t>
            </a:r>
          </a:p>
          <a:p>
            <a:r>
              <a:t>is out of date and ask what grounding did and didn't help with.</a:t>
            </a:r>
          </a:p>
          <a:p/>
          <a:p>
            <a:r>
              <a:t>Why prompting cannot substitute. Instructions change tone and shape, never available</a:t>
            </a:r>
          </a:p>
          <a:p>
            <a:r>
              <a:t>information. Expect a question that offers "be accurate" as a tempting wrong answer.</a:t>
            </a:r>
          </a:p>
          <a:p/>
          <a:p>
            <a:r>
              <a:t>The three verification instructions, and specifically why the refusal string should be fixed</a:t>
            </a:r>
          </a:p>
          <a:p>
            <a:r>
              <a:t>and visible.</a:t>
            </a:r>
          </a:p>
          <a:p/>
          <a:p>
            <a:r>
              <a:t>And the three grounded failure modes by name: answered from memory, retrieved the wrong</a:t>
            </a:r>
          </a:p>
          <a:p>
            <a:r>
              <a:t>passage, over-read the passage. I'll give you an answer and a source and ask which one it is.</a:t>
            </a:r>
          </a:p>
          <a:p>
            <a:r>
              <a:t>That's a guaranteed exam question, so practise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You cannot prompt your way to information the model doesn't have. You have to supply it.</a:t>
            </a:r>
          </a:p>
          <a:p/>
          <a:p>
            <a:r>
              <a:t>Grounding puts your passages into the context at the moment of answering. That's all RAG</a:t>
            </a:r>
          </a:p>
          <a:p>
            <a:r>
              <a:t>means, and you should now be immune to people using the acronym to sound impressive.</a:t>
            </a:r>
          </a:p>
          <a:p/>
          <a:p>
            <a:r>
              <a:t>It changes where the answer comes from. It does not install a truth check. Please hold both</a:t>
            </a:r>
          </a:p>
          <a:p>
            <a:r>
              <a:t>halves of that sentence.</a:t>
            </a:r>
          </a:p>
          <a:p/>
          <a:p>
            <a:r>
              <a:t>Ask for quotations, and then actually check them — because the quotation marks feel like</a:t>
            </a:r>
          </a:p>
          <a:p>
            <a:r>
              <a:t>verification and are not verification.</a:t>
            </a:r>
          </a:p>
          <a:p/>
          <a:p>
            <a:r>
              <a:t>And the three failures: answered from memory, wrong passage, over-read.</a:t>
            </a:r>
          </a:p>
          <a:p/>
          <a:p>
            <a:r>
              <a:t>Next week we do the thing that makes all of this real. You'll build ten questions designed to</a:t>
            </a:r>
          </a:p>
          <a:p>
            <a:r>
              <a:t>break what you made today — seven it should answer, and three it cannot possibly answer from</a:t>
            </a:r>
          </a:p>
          <a:p>
            <a:r>
              <a:t>your sources. And you'll watch a system you built an hour ago answer those three anyway,</a:t>
            </a:r>
          </a:p>
          <a:p>
            <a:r>
              <a:t>confidently.</a:t>
            </a:r>
          </a:p>
          <a:p/>
          <a:p>
            <a:r>
              <a:t>I'd rather you saw that here than discovered it at work.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"Which tool is best for this?" — Several work well and they change. What matters is that it</a:t>
            </a:r>
          </a:p>
          <a:p>
            <a:r>
              <a:t>accepts your documents and lets you ask questions about them. Try two; use whichever handles</a:t>
            </a:r>
          </a:p>
          <a:p>
            <a:r>
              <a:t>your file types.</a:t>
            </a:r>
          </a:p>
          <a:p/>
          <a:p>
            <a:r>
              <a:t>"Can I ground it on a website instead of files?" — Often yes. Same principles apply, plus you</a:t>
            </a:r>
          </a:p>
          <a:p>
            <a:r>
              <a:t>inherit whatever is wrong on the website, and it may change under you without notice.</a:t>
            </a:r>
          </a:p>
          <a:p/>
          <a:p>
            <a:r>
              <a:t>"Is my document used to train the model?" — Depends entirely on the service and the settings,</a:t>
            </a:r>
          </a:p>
          <a:p>
            <a:r>
              <a:t>and it is genuinely worth reading the terms for anything institutional. That's week twelve, and</a:t>
            </a:r>
          </a:p>
          <a:p>
            <a:r>
              <a:t>it's why today's exercise uses public material.</a:t>
            </a:r>
          </a:p>
          <a:p/>
          <a:p>
            <a:r>
              <a:t>"What if the model and my document disagree?" — Excellent question and a good sign. Your</a:t>
            </a:r>
          </a:p>
          <a:p>
            <a:r>
              <a:t>document should win — that's the point of grounding — but the disagreement is worth</a:t>
            </a:r>
          </a:p>
          <a:p>
            <a:r>
              <a:t>investigating, because it sometimes means your document is out of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Grounding AI in Your Own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Artifact: the Grounded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Why the model fails on your own material — and why that is not fixable by prompting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grounding actually is, conceptually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Demonstration: an assistant answering from a document pack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Source quality: what makes a document easy or hard to ground 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Checking whether an answer is genuinely supported — the part that matters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Build: your own Grounded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Why It Fails on Your Material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Reasons It Cannot Know Your Material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was never in the training data.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Internal protocols, institutional regulations, unpublished documents, anything behind a login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is newer than the knowledge cut-off.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Guidelines updated last month; a regulation amended this year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exists publicly, but thinly.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Turkish-language professional material, local procedure, specialist practice — present, but sparse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 all three cases the answer is confident and the confidence means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You cannot prompt your way to information the model does not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"Be accurate" and "only use reliable sources" do not create knowledge. They only change 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What Grounding 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Grounding, Conceptually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You ask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"What is the notice period for this contract?"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Relevant passages are found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The system searches your documents and pulls out the parts that look relevant.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They go into the context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Those passages are placed in the window alongside your question.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It answers from what is there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The model predicts an answer with your text in front of it, not from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You may see this called RAG — retrieval-augmented generation. That is all the phrase means.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This Changes — and What It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it fixes: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Material the model never saw, or saw thinly, or that changed after the cut-off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can now point at where an answer came from — the biggest practical gain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it does not fix: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can still answer from memory when your documents do not contain the answer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can still misread a passage it did retrieve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your source is wrong or out of date, you now have a confident wrong answer with a citation attached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Grounding changes where the answer comes from. It does not install a truth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Makes a Document Easy or Hard to Ground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Easy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Real text, not scanned images. Clear headings. Short, self-contained sections. Consistent terminology. One topic per section. Tables with proper headers.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Hard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Scanned PDFs where the text is a picture. Information spread across many pages. Meaning carried by layout — columns, boxes, indentation. Pronouns referring back across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Practical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Split a large document into topic-sized pieces. Give each a descriptive heading. Convert scans to real text first. Remove irrelevant material — it competes for retrieval.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Checking Whether It Actually Used Your 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Instruction That Does Most of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Put this in every grounded assistant you build: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"Answer only from the documents provided."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"After each claim, quote the sentence from the source that supports it."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"If the documents do not contain the answer, reply exactly: NOT IN SOURCES — and nothing else."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the third line matters most: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gives the honest answer a fixed, likely form — the fallback principle from Week 5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"NOT IN SOURCES" is easy to spot when skim-reading. "I could not find specific information"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Quote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Asking for a quotation is the single most useful verification move available to you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converts an unverifiable claim into a checkable one: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"The notice period is 30 days" — you must trust it or read the whole document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"The notice period is 30 days. Source: 'Either party may terminate on thirty (30) days written notice.' (clause 12.4)" — you can check this in seconds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But you must actually check.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quotation can be fabricated, or real but from the wrong place, or real but not supporting the claim made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Search your document for the quoted string. If it is not there, everything else is suspect.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Ways a Grounded Answer Goes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Answered from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Your documents did not contain it. The model knew something adjacent and used that instead. Detect it: the answer has no quotation, or a vague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Retrieved the wrong passage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right words appeared somewhere unrelated. The quotation is genuine and the conclusion is wrong. Detect it: read the quoted passage in its original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Over-read the passage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source says something narrower than the answer claims. "May" becomes "must". An example becomes a rule. Detect it: compare the strength of the claim with the strength of the quote.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Build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Build Your Grounded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Choose your sources — three to five short documents.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Bring your own, or take a pack from me: clinical guideline, statute extract, course regulations, annual report, technical standard.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Load them into any tool that lets you attach documents and ask questions about them.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Several free assistants do this. Notebook-style tools do it well. Any of them is fine.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Add the three instructions.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Answer only from the documents · quote the supporting sentence · reply NOT IN SOURCES if absent.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Ask five questions. Check every quotation against the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You Probably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With the three instructions, it refused at least once — and the refusal was correct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Quotations were usually genuine. "Usually" is the operative word.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At least one answer was broader than the sentence it quoted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Questions spanning several documents were answered worse than questions inside one document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last one is structural and worth remembering: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Retrieval pulls passages, not whole documents. Anything requiring you to combine three separate places is fragile.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Concepts You Must Be Able to Define and Diagnose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637215" cy="4251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814255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Grounding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Placing relevant passages from chosen sources into the context so the model answers from them rather than from memory. Also called retrieval-augmented generation.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grounding does and does not do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Changes where the answer comes from. Does not install a truth check, and does not fix a wrong source.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prompting cannot substitute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Instructions change tone and shape, never available information. "Be accurate" adds authority, not facts.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three verification instructions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Answer only from sources · quote the supporting sentence · a fixed, visible refusal string.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Three grounded failure modes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Answered from memory · retrieved the wrong passage · over-read the passage.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You cannot prompt your way to information the model does not have — you must supply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Grounding puts your passages in the context. That is all RAG means.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changes where the answer comes from. It does not install a truth check.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Ask for quotations — then actually check them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Three failures: answered from memory · wrong passage · over-read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Verification — you will build ten questions designed to break the thing you made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7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