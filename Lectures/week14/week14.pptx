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last session.</a:t>
            </a:r>
          </a:p>
          <a:p/>
          <a:p>
            <a:r>
              <a:t>We're going to do three things today. Pull the course into a single shape, so it's one thing</a:t>
            </a:r>
          </a:p>
          <a:p>
            <a:r>
              <a:t>rather than fourteen. Consolidate the failure taxonomy, because that's the part you'll actually</a:t>
            </a:r>
          </a:p>
          <a:p>
            <a:r>
              <a:t>carry into your professional life. And go through exactly what the final exam covers, because</a:t>
            </a:r>
          </a:p>
          <a:p>
            <a:r>
              <a:t>there's no reason for that to be a mystery.</a:t>
            </a:r>
          </a:p>
          <a:p/>
          <a:p>
            <a:r>
              <a:t>I want to open by going back to week one. I gave you a sentence then, and I said the whole</a:t>
            </a:r>
          </a:p>
          <a:p>
            <a:r>
              <a:t>semester would serve it. Let me put it back on the screen and ask whether it looks different</a:t>
            </a:r>
          </a:p>
          <a:p>
            <a:r>
              <a:t>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The through-line — one idea running through fourteen weeks. If the course has been a list of</a:t>
            </a:r>
          </a:p>
          <a:p>
            <a:r>
              <a:t>topics to you, today is where it becomes a single argument.</a:t>
            </a:r>
          </a:p>
          <a:p/>
          <a:p>
            <a:r>
              <a:t>The consolidated failure taxonomy. Every way these systems go wrong, in one place, with names.</a:t>
            </a:r>
          </a:p>
          <a:p>
            <a:r>
              <a:t>This is the most useful page in the course and I'd photograph it.</a:t>
            </a:r>
          </a:p>
          <a:p/>
          <a:p>
            <a:r>
              <a:t>What each artifact was actually teaching you — because in several cases it wasn't the thing you</a:t>
            </a:r>
          </a:p>
          <a:p>
            <a:r>
              <a:t>thought you were building.</a:t>
            </a:r>
          </a:p>
          <a:p/>
          <a:p>
            <a:r>
              <a:t>What to carry into professional practice.</a:t>
            </a:r>
          </a:p>
          <a:p/>
          <a:p>
            <a:r>
              <a:t>And exactly what the final exam covers. No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sentence from week one.</a:t>
            </a:r>
          </a:p>
          <a:p/>
          <a:p>
            <a:r>
              <a:t>This is a course about working with a system that is capable, confident, and sometimes wrong.</a:t>
            </a:r>
          </a:p>
          <a:p/>
          <a:p>
            <a:r>
              <a:t>In week one, this was an assertion. You had no reason to believe me beyond your own experience</a:t>
            </a:r>
          </a:p>
          <a:p>
            <a:r>
              <a:t>of these tools.</a:t>
            </a:r>
          </a:p>
          <a:p/>
          <a:p>
            <a:r>
              <a:t>Now you can justify every word of it mechanically.</a:t>
            </a:r>
          </a:p>
          <a:p/>
          <a:p>
            <a:r>
              <a:t>Capable — because predicting text well across an enormous range of material requires internal</a:t>
            </a:r>
          </a:p>
          <a:p>
            <a:r>
              <a:t>structure that functions like knowledge. Week three.</a:t>
            </a:r>
          </a:p>
          <a:p/>
          <a:p>
            <a:r>
              <a:t>Confident — because there is no mechanism by which uncertainty could reach you. The same</a:t>
            </a:r>
          </a:p>
          <a:p>
            <a:r>
              <a:t>operation runs whether the pattern is strong or weak, and nothing in the output distinguishes</a:t>
            </a:r>
          </a:p>
          <a:p>
            <a:r>
              <a:t>them. Week three again.</a:t>
            </a:r>
          </a:p>
          <a:p/>
          <a:p>
            <a:r>
              <a:t>And sometimes wrong — because the system optimises plausibility, and plausible correlates with</a:t>
            </a:r>
          </a:p>
          <a:p>
            <a:r>
              <a:t>true but does not equal it. Where they come apart, nothing notices, because nothing is</a:t>
            </a:r>
          </a:p>
          <a:p>
            <a:r>
              <a:t>checking.</a:t>
            </a:r>
          </a:p>
          <a:p/>
          <a:p>
            <a:r>
              <a:t>That's the whole course in three clauses. Everything else was working out what to do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moves. And read the caption first, because it explains why the order is what it is.</a:t>
            </a:r>
          </a:p>
          <a:p/>
          <a:p>
            <a:r>
              <a:t>Understand the mechanism — weeks one to five. Why it's confident, why it hallucinates, what</a:t>
            </a:r>
          </a:p>
          <a:p>
            <a:r>
              <a:t>actually improves output and what's folklore.</a:t>
            </a:r>
          </a:p>
          <a:p/>
          <a:p>
            <a:r>
              <a:t>But understanding isn't enough, because knowing why it hallucinates doesn't stop it. So:</a:t>
            </a:r>
          </a:p>
          <a:p>
            <a:r>
              <a:t>constrain what it works from — weeks six and seven. Build small things. Ground it in sources you</a:t>
            </a:r>
          </a:p>
          <a:p>
            <a:r>
              <a:t>chose. Demand quotations.</a:t>
            </a:r>
          </a:p>
          <a:p/>
          <a:p>
            <a:r>
              <a:t>But grounding isn't enough either, because it can still answer from memory, retrieve the wrong</a:t>
            </a:r>
          </a:p>
          <a:p>
            <a:r>
              <a:t>passage, or over-read. So: test rather than trust — weeks eight and nine. Find out how it fails</a:t>
            </a:r>
          </a:p>
          <a:p>
            <a:r>
              <a:t>before it matters, and keep automation short enough to inspect.</a:t>
            </a:r>
          </a:p>
          <a:p/>
          <a:p>
            <a:r>
              <a:t>And testing isn't enough, because your test set assumes nobody is working against you and that</a:t>
            </a:r>
          </a:p>
          <a:p>
            <a:r>
              <a:t>the consequences are yours alone. So: assume adversaries and consequences — weeks ten to</a:t>
            </a:r>
          </a:p>
          <a:p>
            <a:r>
              <a:t>thirteen.</a:t>
            </a:r>
          </a:p>
          <a:p/>
          <a:p>
            <a:r>
              <a:t>Each move exists because the previous one is insufficient. That's why the course couldn't be</a:t>
            </a:r>
          </a:p>
          <a:p>
            <a:r>
              <a:t>reordered, and it's why the last four weeks aren't an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single most useful page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taxonomy, in three parts. First: failures of the answer itself. These are from week one, and</a:t>
            </a:r>
          </a:p>
          <a:p>
            <a:r>
              <a:t>they apply to any output.</a:t>
            </a:r>
          </a:p>
          <a:p/>
          <a:p>
            <a:r>
              <a:t>Fabrication. A specific detail invented inside an otherwise correct answer — a citation, a</a:t>
            </a:r>
          </a:p>
          <a:p>
            <a:r>
              <a:t>statistic, a study, a drug interaction. And you now know why the format is convincing: citations</a:t>
            </a:r>
          </a:p>
          <a:p>
            <a:r>
              <a:t>are highly patterned, so the shape is easy to predict even when the content doesn't exist.</a:t>
            </a:r>
          </a:p>
          <a:p/>
          <a:p>
            <a:r>
              <a:t>Displacement. Correct somewhere else — another country, another era, another context. Nothing</a:t>
            </a:r>
          </a:p>
          <a:p>
            <a:r>
              <a:t>in it is false; nothing in it applies to you. And you know the mechanism: thin coverage means</a:t>
            </a:r>
          </a:p>
          <a:p>
            <a:r>
              <a:t>the probable continuation comes from wherever the text was densest. For a room working in</a:t>
            </a:r>
          </a:p>
          <a:p>
            <a:r>
              <a:t>Turkey, this is your most common failure.</a:t>
            </a:r>
          </a:p>
          <a:p/>
          <a:p>
            <a:r>
              <a:t>Omission. Everything present is true, but the thing that mattered most isn't there. Hardest to</a:t>
            </a:r>
          </a:p>
          <a:p>
            <a:r>
              <a:t>catch, because there's no wrong sentence to point at — you can only catch it if you already know</a:t>
            </a:r>
          </a:p>
          <a:p>
            <a:r>
              <a:t>what should have been said. Which is why it's most dangerous outside your own expertise.</a:t>
            </a:r>
          </a:p>
          <a:p/>
          <a:p>
            <a:r>
              <a:t>And running underneath all three: overconfidence. Not a separate failure so much as the property</a:t>
            </a:r>
          </a:p>
          <a:p>
            <a:r>
              <a:t>that makes the other three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part: failures of systems you build.</a:t>
            </a:r>
          </a:p>
          <a:p/>
          <a:p>
            <a:r>
              <a:t>Answered from memory. Your sources didn't contain it, so something adjacent was used instead.</a:t>
            </a:r>
          </a:p>
          <a:p>
            <a:r>
              <a:t>Detect it by the absence of a quotation, or a vague gesture where a sentence should be. Week</a:t>
            </a:r>
          </a:p>
          <a:p>
            <a:r>
              <a:t>seven.</a:t>
            </a:r>
          </a:p>
          <a:p/>
          <a:p>
            <a:r>
              <a:t>Wrong passage, and over-reading. The right words appearing in an unrelated place, or a claim</a:t>
            </a:r>
          </a:p>
          <a:p>
            <a:r>
              <a:t>stronger than the sentence it cites — "may" becoming "must," an example becoming a rule. Detect</a:t>
            </a:r>
          </a:p>
          <a:p>
            <a:r>
              <a:t>it by comparing the strength of the claim against the strength of the quote. If the answer is</a:t>
            </a:r>
          </a:p>
          <a:p>
            <a:r>
              <a:t>more confident than its evidence, something has been added. Week seven again, and it's the most</a:t>
            </a:r>
          </a:p>
          <a:p>
            <a:r>
              <a:t>common of the three.</a:t>
            </a:r>
          </a:p>
          <a:p/>
          <a:p>
            <a:r>
              <a:t>And silent failure. A step produces something wrong but plausible, nothing errors, and the chain</a:t>
            </a:r>
          </a:p>
          <a:p>
            <a:r>
              <a:t>continues confidently on bad input. The characteristic failure of anything multi-step, and the</a:t>
            </a:r>
          </a:p>
          <a:p>
            <a:r>
              <a:t>reason chains stay short and inspectable. Week nine.</a:t>
            </a:r>
          </a:p>
          <a:p/>
          <a:p>
            <a:r>
              <a:t>Notice the pattern across all six failures so far. Every single one is invisible in the output.</a:t>
            </a:r>
          </a:p>
          <a:p>
            <a:r>
              <a:t>That's not a coincidence — it's the same root cause each time. There's no truth check, so</a:t>
            </a:r>
          </a:p>
          <a:p>
            <a:r>
              <a:t>there's nothing to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part: failures with an author. Week twelve.</a:t>
            </a:r>
          </a:p>
          <a:p/>
          <a:p>
            <a:r>
              <a:t>Direct injection and jailbreaking. Someone types something to override the instructions. And you</a:t>
            </a:r>
          </a:p>
          <a:p>
            <a:r>
              <a:t>know why it works: safety behaviour is a trained tendency that shifts probabilities, not a gate</a:t>
            </a:r>
          </a:p>
          <a:p>
            <a:r>
              <a:t>that blocks.</a:t>
            </a:r>
          </a:p>
          <a:p/>
          <a:p>
            <a:r>
              <a:t>Indirect injection. Instructions hidden in content the system reads — a document, a page, an</a:t>
            </a:r>
          </a:p>
          <a:p>
            <a:r>
              <a:t>email. You never see it. There's no point at which you could have refused. This is the one that</a:t>
            </a:r>
          </a:p>
          <a:p>
            <a:r>
              <a:t>will actually reach you, and it's why "be careful what you upload" is insufficient advice.</a:t>
            </a:r>
          </a:p>
          <a:p/>
          <a:p>
            <a:r>
              <a:t>And leakage. Context shared more widely than intended — a shared link carries the whole history,</a:t>
            </a:r>
          </a:p>
          <a:p>
            <a:r>
              <a:t>not just the last message. Anonymisation is harder than removing names, because a rare</a:t>
            </a:r>
          </a:p>
          <a:p>
            <a:r>
              <a:t>condition, a date and a small department can identify someone precisely.</a:t>
            </a:r>
          </a:p>
          <a:p/>
          <a:p>
            <a:r>
              <a:t>Now step back and look at all nine failures together. Every one of them is invisible in the</a:t>
            </a:r>
          </a:p>
          <a:p>
            <a:r>
              <a:t>output. Not most. All of them.</a:t>
            </a:r>
          </a:p>
          <a:p/>
          <a:p>
            <a:r>
              <a:t>That's why this course is built the way it is. If any of these announced themselves, you'd need</a:t>
            </a:r>
          </a:p>
          <a:p>
            <a:r>
              <a:t>a warning, not a semester. The procedures exist because perception doesn't work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In several cases it wasn't what you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tell you what each artifact was actually for, because in several cases it wasn't what it</a:t>
            </a:r>
          </a:p>
          <a:p>
            <a:r>
              <a:t>looked like.</a:t>
            </a:r>
          </a:p>
          <a:p/>
          <a:p>
            <a:r>
              <a:t>The Micro-Tool was not about proving you can build software, although you can. It was to create</a:t>
            </a:r>
          </a:p>
          <a:p>
            <a:r>
              <a:t>a situation where you could see that something looked right and had no way to check whether it</a:t>
            </a:r>
          </a:p>
          <a:p>
            <a:r>
              <a:t>was right. The verification gap, made personal.</a:t>
            </a:r>
          </a:p>
          <a:p/>
          <a:p>
            <a:r>
              <a:t>The Grounded Assistant was not a tutorial in a document tool. It was to establish that you</a:t>
            </a:r>
          </a:p>
          <a:p>
            <a:r>
              <a:t>cannot prompt your way to absent information — you have to supply it. That's a negative result</a:t>
            </a:r>
          </a:p>
          <a:p>
            <a:r>
              <a:t>and negative results are hard to teach abstractly.</a:t>
            </a:r>
          </a:p>
          <a:p/>
          <a:p>
            <a:r>
              <a:t>The Test Set was not about testing methodology. It was so that three unanswerable questions</a:t>
            </a:r>
          </a:p>
          <a:p>
            <a:r>
              <a:t>would reveal something normal use never could. Most of you watched your own system answer a</a:t>
            </a:r>
          </a:p>
          <a:p>
            <a:r>
              <a:t>question it couldn't possibly answer. That's the moment the course was built around.</a:t>
            </a:r>
          </a:p>
          <a:p/>
          <a:p>
            <a:r>
              <a:t>The Automation Chain was not about automation. It was so you would notice that removing yourself</a:t>
            </a:r>
          </a:p>
          <a:p>
            <a:r>
              <a:t>removes the checking you were doing for free and never counted as work.</a:t>
            </a:r>
          </a:p>
          <a:p/>
          <a:p>
            <a:r>
              <a:t>And the last three: design is mostly constraint, formatting is not accuracy, and some failures</a:t>
            </a:r>
          </a:p>
          <a:p>
            <a:r>
              <a:t>have an author.</a:t>
            </a:r>
          </a:p>
          <a:p/>
          <a:p>
            <a:r>
              <a:t>None of the artifacts matter. What you noticed while building them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things. If you keep nothing else, keep this slide.</a:t>
            </a:r>
          </a:p>
          <a:p/>
          <a:p>
            <a:r>
              <a:t>Ask what is being measured, and what you're certifying. That covers academic integrity and most</a:t>
            </a:r>
          </a:p>
          <a:p>
            <a:r>
              <a:t>professional ethics.</a:t>
            </a:r>
          </a:p>
          <a:p/>
          <a:p>
            <a:r>
              <a:t>Supply sources rather than instructing accuracy. "Be accurate" adds authority, not facts.</a:t>
            </a:r>
          </a:p>
          <a:p/>
          <a:p>
            <a:r>
              <a:t>Ask for the basis of an answer, then check it. The quote test costs seconds and catches</a:t>
            </a:r>
          </a:p>
          <a:p>
            <a:r>
              <a:t>fabrication, over-reading and poisoned summaries all at once.</a:t>
            </a:r>
          </a:p>
          <a:p/>
          <a:p>
            <a:r>
              <a:t>Write three questions it cannot answer, before you trust any system. Three questions and five</a:t>
            </a:r>
          </a:p>
          <a:p>
            <a:r>
              <a:t>minutes tell you more than a month of ordinary use.</a:t>
            </a:r>
          </a:p>
          <a:p/>
          <a:p>
            <a:r>
              <a:t>Put the human before the irreversible action.</a:t>
            </a:r>
          </a:p>
          <a:p/>
          <a:p>
            <a:r>
              <a:t>Treat everything the system reads as instruction-carrying, not merely as data.</a:t>
            </a:r>
          </a:p>
          <a:p/>
          <a:p>
            <a:r>
              <a:t>Name the person who would be harmed — a category is not an answer.</a:t>
            </a:r>
          </a:p>
          <a:p/>
          <a:p>
            <a:r>
              <a:t>And keep one skill you practise unaided.</a:t>
            </a:r>
          </a:p>
          <a:p/>
          <a:p>
            <a:r>
              <a:t>Eight habits. None of them require a particular tool, and none of them will be obsolete when the</a:t>
            </a:r>
          </a:p>
          <a:p>
            <a:r>
              <a:t>tools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No mysteries.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format: forty multiple-choice questions, two and a half points each, ninety minutes, closed</a:t>
            </a:r>
          </a:p>
          <a:p>
            <a:r>
              <a:t>book. Same shape as the midterm, so nothing about the format should surprise you.</a:t>
            </a:r>
          </a:p>
          <a:p/>
          <a:p>
            <a:r>
              <a:t>Coverage is the whole course, weighted towards weeks six to thirteen — because that's where the</a:t>
            </a:r>
          </a:p>
          <a:p>
            <a:r>
              <a:t>judgment lives, and judgment is what I'm assessing.</a:t>
            </a:r>
          </a:p>
          <a:p/>
          <a:p>
            <a:r>
              <a:t>Roughly a third is mechanism. Tokens, prediction, context windows, why hallucination happens.</a:t>
            </a:r>
          </a:p>
          <a:p>
            <a:r>
              <a:t>These are the questions you can prepare for by understanding rather than memorising.</a:t>
            </a:r>
          </a:p>
          <a:p/>
          <a:p>
            <a:r>
              <a:t>Roughly a third is diagnosis. I give you an answer and its source and ask what's wrong with it.</a:t>
            </a:r>
          </a:p>
          <a:p>
            <a:r>
              <a:t>Which of the failure modes is this? These are the questions the build weeks prepared you for,</a:t>
            </a:r>
          </a:p>
          <a:p>
            <a:r>
              <a:t>and if you did the building they'll feel easy.</a:t>
            </a:r>
          </a:p>
          <a:p/>
          <a:p>
            <a:r>
              <a:t>And roughly a third is design and judgment. Where does the human go? What should this system not</a:t>
            </a:r>
          </a:p>
          <a:p>
            <a:r>
              <a:t>do? Which design rule does this workflow violate?</a:t>
            </a:r>
          </a:p>
          <a:p/>
          <a:p>
            <a:r>
              <a:t>And the bold line: every "concepts you must be able to define and diagnose" slide is examinable</a:t>
            </a:r>
          </a:p>
          <a:p>
            <a:r>
              <a:t>in full. There are seven of them, one per build week. That is your revision list, and it's</a:t>
            </a:r>
          </a:p>
          <a:p>
            <a:r>
              <a:t>deliberately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pieces of revision advice.</a:t>
            </a:r>
          </a:p>
          <a:p/>
          <a:p>
            <a:r>
              <a:t>Learn the taxonomy by name. Nine failure modes across three groups — failures of the answer,</a:t>
            </a:r>
          </a:p>
          <a:p>
            <a:r>
              <a:t>failures of built systems, failures with an author. Most diagnosis questions are asking you to</a:t>
            </a:r>
          </a:p>
          <a:p>
            <a:r>
              <a:t>name one. If you can name them reliably, that third of the paper is straightforward.</a:t>
            </a:r>
          </a:p>
          <a:p/>
          <a:p>
            <a:r>
              <a:t>Be able to explain mechanisms, not just state them. Not "it hallucinates" but why — there's no</a:t>
            </a:r>
          </a:p>
          <a:p>
            <a:r>
              <a:t>truth check, it optimises plausibility, and in thin coverage plausible and true come apart. The</a:t>
            </a:r>
          </a:p>
          <a:p>
            <a:r>
              <a:t>distractors on the mechanism questions are designed to catch people who memorised the label</a:t>
            </a:r>
          </a:p>
          <a:p>
            <a:r>
              <a:t>without the reason.</a:t>
            </a:r>
          </a:p>
          <a:p/>
          <a:p>
            <a:r>
              <a:t>And practise on your own artifacts. Take your week ten worksheet and ask: which of the nine could</a:t>
            </a:r>
          </a:p>
          <a:p>
            <a:r>
              <a:t>hit this system? Where's the human? What did I constrain and why? That's the exam. If you can do</a:t>
            </a:r>
          </a:p>
          <a:p>
            <a:r>
              <a:t>that for your own design, you can do it for one I hand you.</a:t>
            </a:r>
          </a:p>
          <a:p/>
          <a:p>
            <a:r>
              <a:t>That's genuinely the most efficient revision available, and it takes about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you started and where you are.</a:t>
            </a:r>
          </a:p>
          <a:p/>
          <a:p>
            <a:r>
              <a:t>In week one, most of you could use these tools. Now you can explain how they work, in plain</a:t>
            </a:r>
          </a:p>
          <a:p>
            <a:r>
              <a:t>language, to anyone — a colleague, a supervisor, a patient who asks whether the AI wrote their</a:t>
            </a:r>
          </a:p>
          <a:p>
            <a:r>
              <a:t>letter.</a:t>
            </a:r>
          </a:p>
          <a:p/>
          <a:p>
            <a:r>
              <a:t>You've built four things and broken three of them, which is a better ratio than most</a:t>
            </a:r>
          </a:p>
          <a:p>
            <a:r>
              <a:t>professional training manages.</a:t>
            </a:r>
          </a:p>
          <a:p/>
          <a:p>
            <a:r>
              <a:t>You know that every failure that matters is invisible in the output. That's the sentence I'd</a:t>
            </a:r>
          </a:p>
          <a:p>
            <a:r>
              <a:t>most like to survive this course, because it's what stops you relying on your own perception in</a:t>
            </a:r>
          </a:p>
          <a:p>
            <a:r>
              <a:t>a situation where perception doesn't work.</a:t>
            </a:r>
          </a:p>
          <a:p/>
          <a:p>
            <a:r>
              <a:t>And you know what to do about it. Supply sources. Ask for the basis. Test what it cannot know.</a:t>
            </a:r>
          </a:p>
          <a:p>
            <a:r>
              <a:t>Keep the human before the irreversible step.</a:t>
            </a:r>
          </a:p>
          <a:p/>
          <a:p>
            <a:r>
              <a:t>The tools will change. Everything in that list survives them, because none of it depends on</a:t>
            </a:r>
          </a:p>
          <a:p>
            <a:r>
              <a:t>which product you're using.</a:t>
            </a:r>
          </a:p>
          <a:p/>
          <a:p>
            <a:r>
              <a:t>Thank you for the semester. It's been a genuinely good group, and the cross-disciplinary mix did</a:t>
            </a:r>
          </a:p>
          <a:p>
            <a:r>
              <a:t>what I hoped it would — the best questions this term came from people asking about fields that</a:t>
            </a:r>
          </a:p>
          <a:p>
            <a:r>
              <a:t>weren't their own.</a:t>
            </a:r>
          </a:p>
          <a:p/>
          <a:p>
            <a:r>
              <a:t>Good luck in the exam. My email is on the next slide and it stays open after the course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final questions.</a:t>
            </a:r>
          </a:p>
          <a:p/>
          <a:p>
            <a:r>
              <a:t>Common ones:</a:t>
            </a:r>
          </a:p>
          <a:p/>
          <a:p>
            <a:r>
              <a:t>"Will the exam have questions about specific tools?" — No. Nothing product-specific. Concepts,</a:t>
            </a:r>
          </a:p>
          <a:p>
            <a:r>
              <a:t>mechanisms, diagnosis and design only.</a:t>
            </a:r>
          </a:p>
          <a:p/>
          <a:p>
            <a:r>
              <a:t>"Can we see a sample question?" — Yes, and you should have the midterm back to look at. The</a:t>
            </a:r>
          </a:p>
          <a:p>
            <a:r>
              <a:t>final is the same style, with more diagnosis and design.</a:t>
            </a:r>
          </a:p>
          <a:p/>
          <a:p>
            <a:r>
              <a:t>"What should I do next if I want to go further?" — Build something real, in your own field, with</a:t>
            </a:r>
          </a:p>
          <a:p>
            <a:r>
              <a:t>someone senior aware of it. That will teach you more than any further course, and you now have</a:t>
            </a:r>
          </a:p>
          <a:p>
            <a:r>
              <a:t>the worksheet and the taxonomy to do it responsibly.</a:t>
            </a:r>
          </a:p>
          <a:p/>
          <a:p>
            <a:r>
              <a:t>"Can I contact you after the course?" — Yes. Genuinely. If you're building something in your</a:t>
            </a:r>
          </a:p>
          <a:p>
            <a:r>
              <a:t>department and want a second opinion on the design, that's exactly the thing I'd like to hear</a:t>
            </a:r>
          </a:p>
          <a:p>
            <a:r>
              <a:t>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Synthesis and Course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What holds it all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through-line — one idea, fourteen weeks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consolidated failure taxonomy: every way these systems go wrong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each artifact was actually teaching you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to carry into professional practice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Exactly what the final exam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Through-Line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This is a course about working with a system that is capable, confident, and sometimes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Week 1. Everything since has been an answer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Argument in Four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Understand the mechanism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Weeks 1–5. Why it is confident, why it hallucinates, what actually improves output.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Constrain what it works from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Weeks 6–7. Build small, ground in sources you chose, demand quotations.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Test rather than trust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Weeks 8–9. Find how it fails before it matters. Keep chains short and inspectable.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Assume adversaries and consequences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Weeks 10–13. Design deliberately, adapt to your field, expect attacks, act ethically.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Each move exists because the previous one is insufficient on its 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Consolidated Failure Taxonomy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Failures of the Answer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Fabrication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specific detail invented inside an otherwise correct answer — a citation, a statistic, a study. The format is easy to imitate; the content is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Correct somewhere else — another country, era or context. Nothing is false; nothing applies. The most common failure for work in Turkey.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Omission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Everything present is true; the thing that mattered most is absent. The hardest to catch, because there is no wrong sentence to point 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Failures of Grounded and Built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Answered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Your sources did not contain it; something adjacent was used instead. Detect it: no quotation, or a vague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Wrong passage · over-read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right words in an unrelated place, or a claim stronger than the sentence it cites. "May" becomes "must". Detect it: compare claim strength against quote strength.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Silent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step produces something wrong but plausible; nothing errors; the chain continues confidently. The characteristic failure of anything multi-step.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Failures With an Author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Direct injection · jailbreaking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Someone types something to override the system's instructions. Safety behaviour is a trained tendency, not a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Indirect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Instructions hidden in content the system reads. You never see it and there is no point at which you could refuse. The one that will actually reach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Context is shared more widely than intended — a shared link carries the whole history. Anonymisation is harder than removing names.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the Artifacts Were Teaching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Artifacts, Reconsidered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Micro-Tool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"you can build software". That the surface is not evidence — you could see it looked right and not whether it was right.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Grounded Assistant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"how to use a document tool". That you cannot prompt your way to absent information — you must supply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Test Set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"how to test". That the three unanswerable questions reveal what normal use cannot.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Automation Chain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"how to automate". That removing yourself removes the checking you were doing for free.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Field Build · Domain Pack · Attack Report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That design is mostly constraint, that formatting is not accuracy, and that some failures have an author.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to Carry Into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Ask what is being measured, and what you are certifying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Supply sources rather than instructing accuracy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Ask for the basis of an answer, then check it — the quote test costs seconds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Write three questions it cannot answer, before you trust any system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Put the human before the irreversible action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Treat everything the system reads as instruction-carrying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Name the person who would be harmed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Keep one skill you practise unaided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Final Exam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the Final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Format: 40 multiple-choice questions · 2.5 points each · 90 minutes · closed book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Coverage: the whole course, weighted towards Weeks 6–13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Roughly one third mechanism — tokens, prediction, context, why hallucination happens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Roughly one third diagnosis — here is an answer and its source; what is wrong with it?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Roughly one third design and judgment — where does the human go, what should this system not 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Every "concepts you must be able to define and diagnose" slide is examinable in full.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How to Revise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Learn the taxonomy by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Nine failure modes across three groups. Most diagnosis questions are asking you to name one. If you can name them, you can answer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Be able to explain mechanisms, not just state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Not "it hallucinates" but why — no truth check, plausibility optimised, thin coverage where plausible and true come apart.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Practise on your own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Take your Field Build worksheet and ask: which of the nine could hit this? Where is the human? What did I constrain? That is the exam.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 can explain how these systems work, in plain language, to anyone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 have built four things and broken three of them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You know that every failure that matters is invisible in the output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And you know what to do about it: supply sources, ask for the basis, test what it cannot know, keep the human before the irreversible step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tools will change. All of that survives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14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