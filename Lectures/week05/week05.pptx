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This is the last of the foundation weeks — from next week you start building</a:t>
            </a:r>
          </a:p>
          <a:p>
            <a:r>
              <a:t>things.</a:t>
            </a:r>
          </a:p>
          <a:p/>
          <a:p>
            <a:r>
              <a:t>Last week we did four levers, and Format was one of them. Today we spend the whole session</a:t>
            </a:r>
          </a:p>
          <a:p>
            <a:r>
              <a:t>on the third lever plus its neighbours, because it deserves it.</a:t>
            </a:r>
          </a:p>
          <a:p/>
          <a:p>
            <a:r>
              <a:t>Here's why. In professional life, most documents don't fail because the facts are wrong.</a:t>
            </a:r>
          </a:p>
          <a:p>
            <a:r>
              <a:t>They fail because the register is wrong. The letter to the family reads like a discharge</a:t>
            </a:r>
          </a:p>
          <a:p>
            <a:r>
              <a:t>summary. The message to the board reads like a message to a colleague. The patient</a:t>
            </a:r>
          </a:p>
          <a:p>
            <a:r>
              <a:t>information leaflet is written at a level no patient can read.</a:t>
            </a:r>
          </a:p>
          <a:p/>
          <a:p>
            <a:r>
              <a:t>Those failures are invisible to the person who wrote them, because the writer knows what</a:t>
            </a:r>
          </a:p>
          <a:p>
            <a:r>
              <a:t>they meant. And they're the difference between work that gets used and work that gets</a:t>
            </a:r>
          </a:p>
          <a:p>
            <a:r>
              <a:t>rewritten by somebody else.</a:t>
            </a:r>
          </a:p>
          <a:p/>
          <a:p>
            <a:r>
              <a:t>These systems are unusually good at this — better than they are at facts, honestly, because</a:t>
            </a:r>
          </a:p>
          <a:p>
            <a:r>
              <a:t>register is a property of language and facts are a property of the world. This is a week</a:t>
            </a:r>
          </a:p>
          <a:p>
            <a:r>
              <a:t>where you get a lot of value for very little effort.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we're going.</a:t>
            </a:r>
          </a:p>
          <a:p/>
          <a:p>
            <a:r>
              <a:t>First, why vague style instructions fail. "Be professional" is the single most common style</a:t>
            </a:r>
          </a:p>
          <a:p>
            <a:r>
              <a:t>instruction and one of the least effective, and I want to show you exactly why.</a:t>
            </a:r>
          </a:p>
          <a:p/>
          <a:p>
            <a:r>
              <a:t>Then three dimensions of register — this is borrowed from linguistics and it gives you</a:t>
            </a:r>
          </a:p>
          <a:p>
            <a:r>
              <a:t>vocabulary for describing tone precisely instead of gesturing at it.</a:t>
            </a:r>
          </a:p>
          <a:p/>
          <a:p>
            <a:r>
              <a:t>Then reading level, which matters more in healthcare and law than in any other field</a:t>
            </a:r>
          </a:p>
          <a:p>
            <a:r>
              <a:t>represented in this room, and which is genuinely measurable.</a:t>
            </a:r>
          </a:p>
          <a:p/>
          <a:p>
            <a:r>
              <a:t>Then tone as observable behaviour rather than adjectives — the single most useful reframe in</a:t>
            </a:r>
          </a:p>
          <a:p>
            <a:r>
              <a:t>this session.</a:t>
            </a:r>
          </a:p>
          <a:p/>
          <a:p>
            <a:r>
              <a:t>Then structural contracts: how to specify output you can actually use downstream.</a:t>
            </a:r>
          </a:p>
          <a:p/>
          <a:p>
            <a:r>
              <a:t>Then negative constraints, which are underrated.</a:t>
            </a:r>
          </a:p>
          <a:p/>
          <a:p>
            <a:r>
              <a:t>Then the tone ladder activity, which works with or without a device.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Let's start with the instruction everybody gives and nobody examines.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"Professional" describes a feeling. It does not describe a text.</a:t>
            </a:r>
          </a:p>
          <a:p/>
          <a:p>
            <a:r>
              <a:t>Think about what happens when you give that instruction to a person. A lawyer's</a:t>
            </a:r>
          </a:p>
          <a:p>
            <a:r>
              <a:t>professional is formal, hedged, precise, and dense. A nurse's professional is warm, clear,</a:t>
            </a:r>
          </a:p>
          <a:p>
            <a:r>
              <a:t>and direct. A consultant's professional has bullet points and confidence. All three are</a:t>
            </a:r>
          </a:p>
          <a:p>
            <a:r>
              <a:t>correct. All three are different documents.</a:t>
            </a:r>
          </a:p>
          <a:p/>
          <a:p>
            <a:r>
              <a:t>Now give it to a system that predicts likely continuations. It has read all three, and</a:t>
            </a:r>
          </a:p>
          <a:p>
            <a:r>
              <a:t>thousands of other things called professional. The instruction doesn't narrow much, so you</a:t>
            </a:r>
          </a:p>
          <a:p>
            <a:r>
              <a:t>get something averaged — and from last week, you know there's randomness in the selection</a:t>
            </a:r>
          </a:p>
          <a:p>
            <a:r>
              <a:t>too. So two runs give you two different answers, and neither is wrong, and you can't say why</a:t>
            </a:r>
          </a:p>
          <a:p>
            <a:r>
              <a:t>you don't like either.</a:t>
            </a:r>
          </a:p>
          <a:p/>
          <a:p>
            <a:r>
              <a:t>This is the under-specification problem from last week, applied to style rather than</a:t>
            </a:r>
          </a:p>
          <a:p>
            <a:r>
              <a:t>content. Same diagnosis, same cure: work out what you actually meant and say that instead.</a:t>
            </a:r>
          </a:p>
          <a:p/>
          <a:p>
            <a:r>
              <a:t>The rest of today is the vocabulary for saying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comes from linguistics and it's the most useful thing in today's session. Three</a:t>
            </a:r>
          </a:p>
          <a:p>
            <a:r>
              <a:t>dimensions. Any register is a point in this space.</a:t>
            </a:r>
          </a:p>
          <a:p/>
          <a:p>
            <a:r>
              <a:t>Field: the subject and its vocabulary. How much specialist terminology, at what density.</a:t>
            </a:r>
          </a:p>
          <a:p>
            <a:r>
              <a:t>"Myocardial infarction" versus "heart attack." "Force majeure" versus "events outside</a:t>
            </a:r>
          </a:p>
          <a:p>
            <a:r>
              <a:t>anyone's control." Same referent, different field setting.</a:t>
            </a:r>
          </a:p>
          <a:p/>
          <a:p>
            <a:r>
              <a:t>Tenor: the relationship between writer and reader. Social distance, and who has standing to</a:t>
            </a:r>
          </a:p>
          <a:p>
            <a:r>
              <a:t>tell whom what to do. Look at the three examples: "you must submit," "I'd recommend," "would</a:t>
            </a:r>
          </a:p>
          <a:p>
            <a:r>
              <a:t>it be possible." Identical information content. Three completely different relationships,</a:t>
            </a:r>
          </a:p>
          <a:p>
            <a:r>
              <a:t>and using the wrong one is how people cause offence without noticing.</a:t>
            </a:r>
          </a:p>
          <a:p/>
          <a:p>
            <a:r>
              <a:t>Mode: the channel. Written to be read, or written to be spoken aloud? Planned or</a:t>
            </a:r>
          </a:p>
          <a:p>
            <a:r>
              <a:t>spontaneous? A policy document, an email, a text message and a script for a video are</a:t>
            </a:r>
          </a:p>
          <a:p>
            <a:r>
              <a:t>different modes even when the content is identical.</a:t>
            </a:r>
          </a:p>
          <a:p/>
          <a:p>
            <a:r>
              <a:t>Now — here's why this is worth learning. Instead of "be professional," you can now say:</a:t>
            </a:r>
          </a:p>
          <a:p>
            <a:r>
              <a:t>technical field, peer tenor, written-planned mode. That specifies something. It's</a:t>
            </a:r>
          </a:p>
          <a:p>
            <a:r>
              <a:t>reproducible. And you can change one dimension at a time and see what happens, which is the</a:t>
            </a:r>
          </a:p>
          <a:p>
            <a:r>
              <a:t>method from last week.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difference in practice.</a:t>
            </a:r>
          </a:p>
          <a:p/>
          <a:p>
            <a:r>
              <a:t>Instead of "make it professional," "make it friendly," "make it more formal" — three</a:t>
            </a:r>
          </a:p>
          <a:p>
            <a:r>
              <a:t>instructions that could mean almost anything —</a:t>
            </a:r>
          </a:p>
          <a:p/>
          <a:p>
            <a:r>
              <a:t>Say what you actually want. Look at the three examples.</a:t>
            </a:r>
          </a:p>
          <a:p/>
          <a:p>
            <a:r>
              <a:t>First: everyday vocabulary, no medical terms without a plain-language gloss, warm but not</a:t>
            </a:r>
          </a:p>
          <a:p>
            <a:r>
              <a:t>casual, written to be read aloud to a patient. Field, tenor, and mode, all specified. And</a:t>
            </a:r>
          </a:p>
          <a:p>
            <a:r>
              <a:t>notice "written to be read aloud" — that's a mode instruction that changes sentence length,</a:t>
            </a:r>
          </a:p>
          <a:p>
            <a:r>
              <a:t>punctuation, and rhythm.</a:t>
            </a:r>
          </a:p>
          <a:p/>
          <a:p>
            <a:r>
              <a:t>Second: full legal terminology, addressed to opposing counsel as an equal, formal written</a:t>
            </a:r>
          </a:p>
          <a:p>
            <a:r>
              <a:t>register, no contractions. Notice "as an equal" — that's tenor, and it's the difference</a:t>
            </a:r>
          </a:p>
          <a:p>
            <a:r>
              <a:t>between a letter that reads as confident and one that reads as either deferential or</a:t>
            </a:r>
          </a:p>
          <a:p>
            <a:r>
              <a:t>aggressive.</a:t>
            </a:r>
          </a:p>
          <a:p/>
          <a:p>
            <a:r>
              <a:t>Third: plain language, you are advising someone senior to you, short email, no preamble.</a:t>
            </a:r>
          </a:p>
          <a:p>
            <a:r>
              <a:t>That tenor setting — advising upward — is genuinely hard to describe any other way, and it</a:t>
            </a:r>
          </a:p>
          <a:p>
            <a:r>
              <a:t>completely changes the output.</a:t>
            </a:r>
          </a:p>
          <a:p/>
          <a:p>
            <a:r>
              <a:t>Last line, and this is the practical payoff. Yes, it's longer to write. You write it once.</a:t>
            </a:r>
          </a:p>
          <a:p>
            <a:r>
              <a:t>These become templates you keep and reuse, and after a month you have a small library of</a:t>
            </a:r>
          </a:p>
          <a:p>
            <a:r>
              <a:t>register specifications for the situations you actually 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level. In this room, I'd argue this is the most consequential style setting there</a:t>
            </a:r>
          </a:p>
          <a:p>
            <a:r>
              <a:t>is.</a:t>
            </a:r>
          </a:p>
          <a:p/>
          <a:p>
            <a:r>
              <a:t>Patient information routinely fails because it's written at the level of the person who</a:t>
            </a:r>
          </a:p>
          <a:p>
            <a:r>
              <a:t>wrote it. So do consent forms — where it has genuine ethical weight, because consent that</a:t>
            </a:r>
          </a:p>
          <a:p>
            <a:r>
              <a:t>isn't understood isn't consent. So do contracts, and letters to families.</a:t>
            </a:r>
          </a:p>
          <a:p/>
          <a:p>
            <a:r>
              <a:t>Three ways to specify it.</a:t>
            </a:r>
          </a:p>
          <a:p/>
          <a:p>
            <a:r>
              <a:t>By audience: a reader who left school at fifteen, a first-year undergraduate, a parent with</a:t>
            </a:r>
          </a:p>
          <a:p>
            <a:r>
              <a:t>no medical background. Intuitive and usually enough.</a:t>
            </a:r>
          </a:p>
          <a:p/>
          <a:p>
            <a:r>
              <a:t>By language level: CEFR A2, B1, B2. Precise, widely understood, and useful when your readers</a:t>
            </a:r>
          </a:p>
          <a:p>
            <a:r>
              <a:t>are reading in a second language — which matters here.</a:t>
            </a:r>
          </a:p>
          <a:p/>
          <a:p>
            <a:r>
              <a:t>By constraint: sentences under fifteen words, no word longer than three syllables where a</a:t>
            </a:r>
          </a:p>
          <a:p>
            <a:r>
              <a:t>shorter one exists. Blunt, but it works, and it's checkable.</a:t>
            </a:r>
          </a:p>
          <a:p/>
          <a:p>
            <a:r>
              <a:t>And the bold line, which is the part people skip: verify it. Ask the model to list every word</a:t>
            </a:r>
          </a:p>
          <a:p>
            <a:r>
              <a:t>in its own output that the target reader might not know. It's surprisingly good at this, and</a:t>
            </a:r>
          </a:p>
          <a:p>
            <a:r>
              <a:t>it turns an invisible property into a list you can look at.</a:t>
            </a:r>
          </a:p>
          <a:p/>
          <a:p>
            <a:r>
              <a:t>That's the same move as last week — make the basis visible so you can check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The single most useful reframe in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reframe. An adjective is a label for a feeling. A behaviour is something the text</a:t>
            </a:r>
          </a:p>
          <a:p>
            <a:r>
              <a:t>actually does — and therefore something you can check.</a:t>
            </a:r>
          </a:p>
          <a:p/>
          <a:p>
            <a:r>
              <a:t>Warm. What does warm text do? It uses the reader's name. It acknowledges their situation.</a:t>
            </a:r>
          </a:p>
          <a:p>
            <a:r>
              <a:t>It thanks them for something specific rather than generically. Now "warm" is three</a:t>
            </a:r>
          </a:p>
          <a:p>
            <a:r>
              <a:t>instructions instead of one vague one, and you can look at the output and see whether it did</a:t>
            </a:r>
          </a:p>
          <a:p>
            <a:r>
              <a:t>them.</a:t>
            </a:r>
          </a:p>
          <a:p/>
          <a:p>
            <a:r>
              <a:t>Urgent. Short sentences. The deadline in the first line, not the fourth paragraph. The</a:t>
            </a:r>
          </a:p>
          <a:p>
            <a:r>
              <a:t>consequence of inaction stated plainly. That's what urgency is made of.</a:t>
            </a:r>
          </a:p>
          <a:p/>
          <a:p>
            <a:r>
              <a:t>Neutral. No evaluative adjectives. No exclamation marks. Attribute claims rather than</a:t>
            </a:r>
          </a:p>
          <a:p>
            <a:r>
              <a:t>asserting them — "the report states" rather than "it is clear that."</a:t>
            </a:r>
          </a:p>
          <a:p/>
          <a:p>
            <a:r>
              <a:t>Reassuring, which is the hardest and the most needed in clinical communication. Say what is</a:t>
            </a:r>
          </a:p>
          <a:p>
            <a:r>
              <a:t>known before what is uncertain — that ordering alone does most of the work. Name the next</a:t>
            </a:r>
          </a:p>
          <a:p>
            <a:r>
              <a:t>concrete step, because uncertainty is more tolerable when there's an action. And avoid</a:t>
            </a:r>
          </a:p>
          <a:p>
            <a:r>
              <a:t>absolute promises, because reassurance that turns out to be false is worse than none.</a:t>
            </a:r>
          </a:p>
          <a:p/>
          <a:p>
            <a:r>
              <a:t>Do this translation once for the tones you use often, and you'll never write "make it warmer"</a:t>
            </a:r>
          </a:p>
          <a:p>
            <a:r>
              <a:t>again.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house style specifically — the way your institution actually writes — showing beats</a:t>
            </a:r>
          </a:p>
          <a:p>
            <a:r>
              <a:t>describing, exactly as we said last week about examples generally.</a:t>
            </a:r>
          </a:p>
          <a:p/>
          <a:p>
            <a:r>
              <a:t>Paste two or three short pieces of approved writing and say "match this voice." It will pick</a:t>
            </a:r>
          </a:p>
          <a:p>
            <a:r>
              <a:t>up sentence length, level of formality, how you open, how you close, how much you hedge.</a:t>
            </a:r>
          </a:p>
          <a:p>
            <a:r>
              <a:t>Those are precisely the features nobody can articulate but everyone recognises when they're</a:t>
            </a:r>
          </a:p>
          <a:p>
            <a:r>
              <a:t>wrong.</a:t>
            </a:r>
          </a:p>
          <a:p/>
          <a:p>
            <a:r>
              <a:t>Now the useful trick in bold. Ask it: before writing, list the five features of this voice</a:t>
            </a:r>
          </a:p>
          <a:p>
            <a:r>
              <a:t>you intend to reproduce.</a:t>
            </a:r>
          </a:p>
          <a:p/>
          <a:p>
            <a:r>
              <a:t>Two benefits. You can check whether it identified the right things before it writes anything</a:t>
            </a:r>
          </a:p>
          <a:p>
            <a:r>
              <a:t>— which is much cheaper than reading a finished draft and feeling vaguely dissatisfied. And</a:t>
            </a:r>
          </a:p>
          <a:p>
            <a:r>
              <a:t>you end up with a written description of your own house style, which many institutions have</a:t>
            </a:r>
          </a:p>
          <a:p>
            <a:r>
              <a:t>never actually produced. I've seen that output become a real style guide.</a:t>
            </a:r>
          </a:p>
          <a:p/>
          <a:p>
            <a:r>
              <a:t>And the last line, which by now you can predict: use approved published material. Do not</a:t>
            </a:r>
          </a:p>
          <a:p>
            <a:r>
              <a:t>paste confidential documents in order to demonstrate tone. Your annual report is fine. A</a:t>
            </a:r>
          </a:p>
          <a:p>
            <a:r>
              <a:t>client letter is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Format, but specified tightly enough to rely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structural contract is a description of the output precise enough that you could check</a:t>
            </a:r>
          </a:p>
          <a:p>
            <a:r>
              <a:t>compliance mechanically — someone else could look at the result and say yes or no, without</a:t>
            </a:r>
          </a:p>
          <a:p>
            <a:r>
              <a:t>judgment.</a:t>
            </a:r>
          </a:p>
          <a:p/>
          <a:p>
            <a:r>
              <a:t>Named sections in a fixed order. A table with named columns and stated types — date as</a:t>
            </a:r>
          </a:p>
          <a:p>
            <a:r>
              <a:t>day-month-year, risk as one of low, medium, high. Hard limits: exactly three bullets, under</a:t>
            </a:r>
          </a:p>
          <a:p>
            <a:r>
              <a:t>400 words, one sentence. And a stated fallback.</a:t>
            </a:r>
          </a:p>
          <a:p/>
          <a:p>
            <a:r>
              <a:t>The fallback is the important one and it's the one everybody forgets. Read the bold line,</a:t>
            </a:r>
          </a:p>
          <a:p>
            <a:r>
              <a:t>and then let me explain why it matters so much.</a:t>
            </a:r>
          </a:p>
          <a:p/>
          <a:p>
            <a:r>
              <a:t>If you ask for a table with a "deadline" column and the source document doesn't state a</a:t>
            </a:r>
          </a:p>
          <a:p>
            <a:r>
              <a:t>deadline, what happens? The model has a column to fill. Empty cells are unlikely</a:t>
            </a:r>
          </a:p>
          <a:p>
            <a:r>
              <a:t>continuations — tables in its training data are mostly full. So it will tend to produce</a:t>
            </a:r>
          </a:p>
          <a:p>
            <a:r>
              <a:t>something plausible.</a:t>
            </a:r>
          </a:p>
          <a:p/>
          <a:p>
            <a:r>
              <a:t>Unless you give it somewhere else to go. "If a field cannot be filled from the source, write</a:t>
            </a:r>
          </a:p>
          <a:p>
            <a:r>
              <a:t>NOT STATED." Now there's a likely, legitimate continuation for the missing case.</a:t>
            </a:r>
          </a:p>
          <a:p/>
          <a:p>
            <a:r>
              <a:t>That's the general principle, and it's the same one from the legal example last week: give</a:t>
            </a:r>
          </a:p>
          <a:p>
            <a:r>
              <a:t>the model a designated place to put the absent or uncertain material, and it will usually</a:t>
            </a:r>
          </a:p>
          <a:p>
            <a:r>
              <a:t>use it. Without one, the gap gets filled.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draw that, because it's one of the most useful ideas in the whole course.</a:t>
            </a:r>
          </a:p>
          <a:p/>
          <a:p>
            <a:r>
              <a:t>You ask for a table with columns: obligation, clause, deadline. The source document doesn't</a:t>
            </a:r>
          </a:p>
          <a:p>
            <a:r>
              <a:t>state a deadline for one of the rows. Without a fallback, an empty cell is an unlikely</a:t>
            </a:r>
          </a:p>
          <a:p>
            <a:r>
              <a:t>continuation — the model has read a great many tables, and they're mostly full. So something</a:t>
            </a:r>
          </a:p>
          <a:p>
            <a:r>
              <a:t>plausible appears in the gap.</a:t>
            </a:r>
          </a:p>
          <a:p/>
          <a:p>
            <a:r>
              <a:t>With a fallback — "if not stated, write NOT STATED" — you've made an honest answer into a</a:t>
            </a:r>
          </a:p>
          <a:p>
            <a:r>
              <a:t>likely one.</a:t>
            </a:r>
          </a:p>
          <a:p/>
          <a:p>
            <a:r>
              <a:t>And read the caption, because it generalises far beyond tables.</a:t>
            </a:r>
          </a:p>
          <a:p/>
          <a:p>
            <a:r>
              <a:t>You are not appealing to the model's honesty. It doesn't have any, in the sense you'd mean</a:t>
            </a:r>
          </a:p>
          <a:p>
            <a:r>
              <a:t>that word about a person. You are making the honest answer the probable one.</a:t>
            </a:r>
          </a:p>
          <a:p/>
          <a:p>
            <a:r>
              <a:t>That is the entire design philosophy of everything we do from week seven onwards. You don't</a:t>
            </a:r>
          </a:p>
          <a:p>
            <a:r>
              <a:t>ask the system to be truthful. You arrange the situation so that truthful output is what the</a:t>
            </a:r>
          </a:p>
          <a:p>
            <a:r>
              <a:t>mechanism produces. That's a much more reliable strategy than trust, and it follows directly</a:t>
            </a:r>
          </a:p>
          <a:p>
            <a:r>
              <a:t>from week three.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Negative constraints. Saying what not to do, which is often more effective than adding more</a:t>
            </a:r>
          </a:p>
          <a:p>
            <a:r>
              <a:t>of what to do.</a:t>
            </a:r>
          </a:p>
          <a:p/>
          <a:p>
            <a:r>
              <a:t>Four examples worth stealing.</a:t>
            </a:r>
          </a:p>
          <a:p/>
          <a:p>
            <a:r>
              <a:t>"Do not add any recommendation that is not in the source document." This is a safety</a:t>
            </a:r>
          </a:p>
          <a:p>
            <a:r>
              <a:t>constraint and I'd use it whenever the output could be acted on. Models asked to improve</a:t>
            </a:r>
          </a:p>
          <a:p>
            <a:r>
              <a:t>instructions tend to helpfully add advice.</a:t>
            </a:r>
          </a:p>
          <a:p/>
          <a:p>
            <a:r>
              <a:t>"Do not cite any law, regulation or case. If one is relevant, say so without naming it."</a:t>
            </a:r>
          </a:p>
          <a:p>
            <a:r>
              <a:t>This one is precisely calibrated to what you learned in week three — the format of a</a:t>
            </a:r>
          </a:p>
          <a:p>
            <a:r>
              <a:t>citation is easy to imitate, the content is not. So forbid the citation and keep the signal.</a:t>
            </a:r>
          </a:p>
          <a:p/>
          <a:p>
            <a:r>
              <a:t>"Do not use headings or bullet points" — when you want prose and keep getting structure.</a:t>
            </a:r>
          </a:p>
          <a:p/>
          <a:p>
            <a:r>
              <a:t>"Do not soften the findings. Report them as stated." Models trained to be helpful and</a:t>
            </a:r>
          </a:p>
          <a:p>
            <a:r>
              <a:t>agreeable tend to smooth uncomfortable material.</a:t>
            </a:r>
          </a:p>
          <a:p/>
          <a:p>
            <a:r>
              <a:t>And the bold line: negative constraints work when they're specific and checkable. "Don't be</a:t>
            </a:r>
          </a:p>
          <a:p>
            <a:r>
              <a:t>boring" isn't a constraint, it's a complaint. "No sentence longer than twenty words" is a</a:t>
            </a:r>
          </a:p>
          <a:p>
            <a:r>
              <a:t>constraint — you can count.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format specifications you can steal today. I use all three regularly and they cover most</a:t>
            </a:r>
          </a:p>
          <a:p>
            <a:r>
              <a:t>professional situations.</a:t>
            </a:r>
          </a:p>
          <a:p/>
          <a:p>
            <a:r>
              <a:t>The extraction table. A table with columns: finding, exact quoted wording, source location,</a:t>
            </a:r>
          </a:p>
          <a:p>
            <a:r>
              <a:t>confidence — and the fallback. Use this whenever you're pulling facts out of a document. Notice</a:t>
            </a:r>
          </a:p>
          <a:p>
            <a:r>
              <a:t>it combines everything from today: named columns, a quoted-wording column that makes claims</a:t>
            </a:r>
          </a:p>
          <a:p>
            <a:r>
              <a:t>checkable, and a fallback so gaps don't get filled.</a:t>
            </a:r>
          </a:p>
          <a:p/>
          <a:p>
            <a:r>
              <a:t>The bounded summary. Three bullets, fifteen words maximum each, in order of importance. Then one</a:t>
            </a:r>
          </a:p>
          <a:p>
            <a:r>
              <a:t>sentence naming anything important that had to be left out.</a:t>
            </a:r>
          </a:p>
          <a:p/>
          <a:p>
            <a:r>
              <a:t>That last sentence is what makes the summary safe to skim, and I'd argue it's the single most</a:t>
            </a:r>
          </a:p>
          <a:p>
            <a:r>
              <a:t>valuable line in this slide. A summary without it hides its own omissions — and omission, from</a:t>
            </a:r>
          </a:p>
          <a:p>
            <a:r>
              <a:t>week one, is the failure you cannot detect by reading.</a:t>
            </a:r>
          </a:p>
          <a:p/>
          <a:p>
            <a:r>
              <a:t>And the two-audience pair. Two versions under explicit headings, same facts, different register,</a:t>
            </a:r>
          </a:p>
          <a:p>
            <a:r>
              <a:t>with a constraint that the second must not add anything the first didn't contain. That last</a:t>
            </a:r>
          </a:p>
          <a:p>
            <a:r>
              <a:t>clause matters: without it, the family version tends to acquire reassurance that nobody</a:t>
            </a:r>
          </a:p>
          <a:p>
            <a:r>
              <a:t>authorised.</a:t>
            </a:r>
          </a:p>
          <a:p/>
          <a:p>
            <a:r>
              <a:t>Write these down. They're reusable across every field in this room.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situation most of you will face, and it's under-discussed: writing in English for</a:t>
            </a:r>
          </a:p>
          <a:p>
            <a:r>
              <a:t>readers whose first language is not English.</a:t>
            </a:r>
          </a:p>
          <a:p/>
          <a:p>
            <a:r>
              <a:t>The key insight is that this is a register problem, not a translation problem. The text stays in</a:t>
            </a:r>
          </a:p>
          <a:p>
            <a:r>
              <a:t>English. What changes is field, and to some extent mode.</a:t>
            </a:r>
          </a:p>
          <a:p/>
          <a:p>
            <a:r>
              <a:t>Three moves. Ask for shorter sentences than you'd use for first-language readers. Ask it to</a:t>
            </a:r>
          </a:p>
          <a:p>
            <a:r>
              <a:t>avoid idiom and phrasal verbs — "postpone" rather than "put off," "tolerate" rather than "put up</a:t>
            </a:r>
          </a:p>
          <a:p>
            <a:r>
              <a:t>with." Phrasal verbs are one of the hardest parts of English for second-language readers and</a:t>
            </a:r>
          </a:p>
          <a:p>
            <a:r>
              <a:t>they're everywhere in natural writing. And ask for the main point before the qualifications,</a:t>
            </a:r>
          </a:p>
          <a:p>
            <a:r>
              <a:t>because a reader working harder to decode has less capacity left for holding a suspended clause.</a:t>
            </a:r>
          </a:p>
          <a:p/>
          <a:p>
            <a:r>
              <a:t>The instruction on the slide does all three at once: "the reader is a competent professional</a:t>
            </a:r>
          </a:p>
          <a:p>
            <a:r>
              <a:t>reading in their second language. Avoid idiom. One idea per sentence."</a:t>
            </a:r>
          </a:p>
          <a:p/>
          <a:p>
            <a:r>
              <a:t>And read the last line carefully, because it's the part people get wrong. This is not</a:t>
            </a:r>
          </a:p>
          <a:p>
            <a:r>
              <a:t>simplification, and it is not writing down to anyone. The reader is a competent professional —</a:t>
            </a:r>
          </a:p>
          <a:p>
            <a:r>
              <a:t>you're removing incidental difficulty, not content. Getting that distinction wrong produces</a:t>
            </a:r>
          </a:p>
          <a:p>
            <a:r>
              <a:t>patronising text, which is worse than difficult text.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corrective, because today has been an argument for specificity and specificity has a limit.</a:t>
            </a:r>
          </a:p>
          <a:p/>
          <a:p>
            <a:r>
              <a:t>Every constraint narrows the output. Enough of them and you narrow it to something useless.</a:t>
            </a:r>
          </a:p>
          <a:p/>
          <a:p>
            <a:r>
              <a:t>Three ways this bites. Fifteen simultaneous constraints tend to produce cautious, hedged,</a:t>
            </a:r>
          </a:p>
          <a:p>
            <a:r>
              <a:t>lifeless text — the model is satisfying rules rather than doing the job, and you can feel it in</a:t>
            </a:r>
          </a:p>
          <a:p>
            <a:r>
              <a:t>the result.</a:t>
            </a:r>
          </a:p>
          <a:p/>
          <a:p>
            <a:r>
              <a:t>Conflicting constraints force an arbitrary choice you didn't make. "Be comprehensive" and "under</a:t>
            </a:r>
          </a:p>
          <a:p>
            <a:r>
              <a:t>100 words" cannot both be honoured. Something gets dropped, and you don't get to choose what,</a:t>
            </a:r>
          </a:p>
          <a:p>
            <a:r>
              <a:t>and you may not notice what went.</a:t>
            </a:r>
          </a:p>
          <a:p/>
          <a:p>
            <a:r>
              <a:t>And over-specifying format can suppress something you'd have wanted. If you demand exactly three</a:t>
            </a:r>
          </a:p>
          <a:p>
            <a:r>
              <a:t>bullets and there were four important things, one is gone. The format won.</a:t>
            </a:r>
          </a:p>
          <a:p/>
          <a:p>
            <a:r>
              <a:t>The practical guide: three or four targeted constraints beat fifteen. And add them as problems</a:t>
            </a:r>
          </a:p>
          <a:p>
            <a:r>
              <a:t>appear rather than in advance — which is the loop from last week. Diagnose, then constrain. Don't</a:t>
            </a:r>
          </a:p>
          <a:p>
            <a:r>
              <a:t>pre-emptively defend against every failure you can imagine; you'll strangle the output before you</a:t>
            </a:r>
          </a:p>
          <a:p>
            <a:r>
              <a:t>find out which failures actually happen.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need that comes up constantly in professional work: the same content, correctly</a:t>
            </a:r>
          </a:p>
          <a:p>
            <a:r>
              <a:t>pitched to different readers.</a:t>
            </a:r>
          </a:p>
          <a:p/>
          <a:p>
            <a:r>
              <a:t>A clinical finding goes into the notes, into a referral letter, and into an explanation for</a:t>
            </a:r>
          </a:p>
          <a:p>
            <a:r>
              <a:t>the family. Three registers. Three vocabularies. Same facts.</a:t>
            </a:r>
          </a:p>
          <a:p/>
          <a:p>
            <a:r>
              <a:t>A contract review becomes a memo to the partner and an email to the client. An exam result</a:t>
            </a:r>
          </a:p>
          <a:p>
            <a:r>
              <a:t>becomes a transcript entry, a report to parents, and feedback to the student.</a:t>
            </a:r>
          </a:p>
          <a:p/>
          <a:p>
            <a:r>
              <a:t>The bold line is the practical advice: do these as separate turns from the same source, not</a:t>
            </a:r>
          </a:p>
          <a:p>
            <a:r>
              <a:t>as one request.</a:t>
            </a:r>
          </a:p>
          <a:p/>
          <a:p>
            <a:r>
              <a:t>Why? Two reasons. If you ask for all three at once, they drift towards each other — the</a:t>
            </a:r>
          </a:p>
          <a:p>
            <a:r>
              <a:t>model is producing one response, and there's a pull toward internal consistency of voice</a:t>
            </a:r>
          </a:p>
          <a:p>
            <a:r>
              <a:t>across it. You get three versions that are more similar than they should be, which defeats</a:t>
            </a:r>
          </a:p>
          <a:p>
            <a:r>
              <a:t>the point.</a:t>
            </a:r>
          </a:p>
          <a:p/>
          <a:p>
            <a:r>
              <a:t>And separate turns let you check each one before it goes anywhere. The family explanation</a:t>
            </a:r>
          </a:p>
          <a:p>
            <a:r>
              <a:t>needs different scrutiny from the file note, and you want to give it that scrutiny</a:t>
            </a:r>
          </a:p>
          <a:p>
            <a:r>
              <a:t>separately.</a:t>
            </a:r>
          </a:p>
          <a:p/>
          <a:p>
            <a:r>
              <a:t>This, incidentally, is one of the highest-value uses of these tools in professional practice.</a:t>
            </a:r>
          </a:p>
          <a:p>
            <a:r>
              <a:t>Not writing things from nothing — re-pitching things you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Ten minutes. This one works fine with no device.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The situation: a patient has missed two appointments and you need to contact</a:t>
            </a:r>
          </a:p>
          <a:p>
            <a:r>
              <a:t>them. This is a real task, and getting it wrong in either direction has real consequences —</a:t>
            </a:r>
          </a:p>
          <a:p>
            <a:r>
              <a:t>too soft and they miss a third, too hard and they disengage entirely.</a:t>
            </a:r>
          </a:p>
          <a:p/>
          <a:p>
            <a:r>
              <a:t>Step one. Write the same message at three points on a ladder. Rung one: warm, no pressure.</a:t>
            </a:r>
          </a:p>
          <a:p>
            <a:r>
              <a:t>Rung two: neutral and factual. Rung three: firm, with consequences stated.</a:t>
            </a:r>
          </a:p>
          <a:p/>
          <a:p>
            <a:r>
              <a:t>Step two, and this is the actual learning. For each rung, write down the behaviours, not the</a:t>
            </a:r>
          </a:p>
          <a:p>
            <a:r>
              <a:t>adjectives. What does the text do differently? Sentence length? How it opens? What</a:t>
            </a:r>
          </a:p>
          <a:p>
            <a:r>
              <a:t>information comes first? Whether it asks or tells?</a:t>
            </a:r>
          </a:p>
          <a:p/>
          <a:p>
            <a:r>
              <a:t>Step three. If you have a device, generate all three and compare them with yours — you'll</a:t>
            </a:r>
          </a:p>
          <a:p>
            <a:r>
              <a:t>often find it makes a choice you didn't consider.</a:t>
            </a:r>
          </a:p>
          <a:p/>
          <a:p>
            <a:r>
              <a:t>[If nobody has a device this still works completely; the comparison is on the next slide.</a:t>
            </a:r>
          </a:p>
          <a:p>
            <a:r>
              <a:t>Two minutes of writing,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actually moves between the rungs, and none of it is the words people expect.</a:t>
            </a:r>
          </a:p>
          <a:p/>
          <a:p>
            <a:r>
              <a:t>What comes first. The warm version opens with the person — "we hope you're well." The firm</a:t>
            </a:r>
          </a:p>
          <a:p>
            <a:r>
              <a:t>version opens with the fact — "you have missed two appointments." Ordering carries more tone</a:t>
            </a:r>
          </a:p>
          <a:p>
            <a:r>
              <a:t>than vocabulary does. You can write a firm message in gentle words if you lead with the</a:t>
            </a:r>
          </a:p>
          <a:p>
            <a:r>
              <a:t>problem, and a soft message in blunt words if you lead with the person.</a:t>
            </a:r>
          </a:p>
          <a:p/>
          <a:p>
            <a:r>
              <a:t>Who is the subject. "We would love to see you" versus "You have not attended." The warm</a:t>
            </a:r>
          </a:p>
          <a:p>
            <a:r>
              <a:t>version makes the institution the actor; the firm version makes the reader the actor. This</a:t>
            </a:r>
          </a:p>
          <a:p>
            <a:r>
              <a:t>single grammatical shift moves the tone further than any adjective you could add. Watch for</a:t>
            </a:r>
          </a:p>
          <a:p>
            <a:r>
              <a:t>it in your own writing — it's how letters accidentally become accusatory.</a:t>
            </a:r>
          </a:p>
          <a:p/>
          <a:p>
            <a:r>
              <a:t>And what is left implicit. The warm version implies the consequence and trusts you to infer</a:t>
            </a:r>
          </a:p>
          <a:p>
            <a:r>
              <a:t>it. The firm version states it. Neutral usually states it once, without elaboration.</a:t>
            </a:r>
          </a:p>
          <a:p/>
          <a:p>
            <a:r>
              <a:t>That last one is the insight I'd want you to leave with: explicitness, not harshness, is</a:t>
            </a:r>
          </a:p>
          <a:p>
            <a:r>
              <a:t>what people read as firm. If you want a message to land harder, you usually don't need</a:t>
            </a:r>
          </a:p>
          <a:p>
            <a:r>
              <a:t>stronger words. You need to say the thing you were hinting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a:t>
            </a:r>
          </a:p>
          <a:p/>
          <a:p>
            <a:r>
              <a:t>"Professional" describes a feeling, not a text. Specify field, tenor and mode — subject</a:t>
            </a:r>
          </a:p>
          <a:p>
            <a:r>
              <a:t>vocabulary, relationship, and channel.</a:t>
            </a:r>
          </a:p>
          <a:p/>
          <a:p>
            <a:r>
              <a:t>Translate tone adjectives into behaviours you can check. Warm means: use the name,</a:t>
            </a:r>
          </a:p>
          <a:p>
            <a:r>
              <a:t>acknowledge the situation, thank them for something specific.</a:t>
            </a:r>
          </a:p>
          <a:p/>
          <a:p>
            <a:r>
              <a:t>Reading level is the highest-value style setting in clinical and legal communication, and</a:t>
            </a:r>
          </a:p>
          <a:p>
            <a:r>
              <a:t>you can verify it by asking for a list of words the reader might not know.</a:t>
            </a:r>
          </a:p>
          <a:p/>
          <a:p>
            <a:r>
              <a:t>Always give a fallback. And remember why: you are not appealing to the model's honesty,</a:t>
            </a:r>
          </a:p>
          <a:p>
            <a:r>
              <a:t>you're making the honest answer the probable one. That idea runs through the rest of the</a:t>
            </a:r>
          </a:p>
          <a:p>
            <a:r>
              <a:t>course.</a:t>
            </a:r>
          </a:p>
          <a:p/>
          <a:p>
            <a:r>
              <a:t>Negative constraints work when they're specific and countable.</a:t>
            </a:r>
          </a:p>
          <a:p/>
          <a:p>
            <a:r>
              <a:t>Now — that's the foundation done. Five weeks of it. From next week the shape of the session</a:t>
            </a:r>
          </a:p>
          <a:p>
            <a:r>
              <a:t>changes completely. I'll show you something working, we'll take it apart, and then you build</a:t>
            </a:r>
          </a:p>
          <a:p>
            <a:r>
              <a:t>one. Next week you make a tool that runs in a browser, without writing code, and you'll be</a:t>
            </a:r>
          </a:p>
          <a:p>
            <a:r>
              <a:t>able to send someone a link to it.</a:t>
            </a:r>
          </a:p>
          <a:p/>
          <a:p>
            <a:r>
              <a:t>Nothing to prepare. Bring a laptop if you have one.</a:t>
            </a:r>
          </a:p>
          <a:p/>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questions here.</a:t>
            </a:r>
          </a:p>
          <a:p/>
          <a:p>
            <a:r>
              <a:t>Common ones:</a:t>
            </a:r>
          </a:p>
          <a:p/>
          <a:p>
            <a:r>
              <a:t>"Is CEFR better than saying 'simple language'?" — More precise and more reproducible,</a:t>
            </a:r>
          </a:p>
          <a:p>
            <a:r>
              <a:t>especially for readers working in a second language. But "explain it to a parent with no</a:t>
            </a:r>
          </a:p>
          <a:p>
            <a:r>
              <a:t>medical background" is often just as effective and easier to remember. Use whichever you'll</a:t>
            </a:r>
          </a:p>
          <a:p>
            <a:r>
              <a:t>actually use.</a:t>
            </a:r>
          </a:p>
          <a:p/>
          <a:p>
            <a:r>
              <a:t>"What if I don't have approved samples for house style?" — Then describe behaviours instead,</a:t>
            </a:r>
          </a:p>
          <a:p>
            <a:r>
              <a:t>and build the samples over time. The output you approve today becomes the example you paste</a:t>
            </a:r>
          </a:p>
          <a:p>
            <a:r>
              <a:t>next month.</a:t>
            </a:r>
          </a:p>
          <a:p/>
          <a:p>
            <a:r>
              <a:t>"Can it imitate a specific person's writing?" — Technically yes, to a degree. There are</a:t>
            </a:r>
          </a:p>
          <a:p>
            <a:r>
              <a:t>consent and impersonation questions attached, and we handle those properly in week thirteen.</a:t>
            </a:r>
          </a:p>
          <a:p>
            <a:r>
              <a:t>For institutional voice, no issue. For a named individual, think first.</a:t>
            </a:r>
          </a:p>
          <a:p/>
          <a:p>
            <a:r>
              <a:t>"Do negative constraints ever backfire?" — Occasionally, if you pile up many of them —</a:t>
            </a:r>
          </a:p>
          <a:p>
            <a:r>
              <a:t>you can end up with output that's cautious to the point of uselessness. Three or four</a:t>
            </a:r>
          </a:p>
          <a:p>
            <a:r>
              <a:t>targeted ones beat a list of fifteen.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605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371600"/>
            <a:ext cx="1051560" cy="50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10637215" cy="411480"/>
          </a:xfrm>
          <a:prstGeom prst="rect">
            <a:avLst/>
          </a:prstGeom>
          <a:noFill/>
        </p:spPr>
        <p:txBody>
          <a:bodyPr wrap="square" lIns="0" rIns="0" tIns="0" bIns="0">
            <a:spAutoFit/>
          </a:bodyPr>
          <a:lstStyle/>
          <a:p>
            <a:r>
              <a:rPr sz="1500" b="1" i="0" spc="220">
                <a:solidFill>
                  <a:srgbClr val="0F766E"/>
                </a:solidFill>
                <a:latin typeface="Calibri"/>
              </a:rPr>
              <a:t>WEEK 5</a:t>
            </a:r>
          </a:p>
        </p:txBody>
      </p:sp>
      <p:sp>
        <p:nvSpPr>
          <p:cNvPr id="5" name="TextBox 4"/>
          <p:cNvSpPr txBox="1"/>
          <p:nvPr/>
        </p:nvSpPr>
        <p:spPr>
          <a:xfrm>
            <a:off x="777240" y="1783080"/>
            <a:ext cx="9692640" cy="1371600"/>
          </a:xfrm>
          <a:prstGeom prst="rect">
            <a:avLst/>
          </a:prstGeom>
          <a:noFill/>
        </p:spPr>
        <p:txBody>
          <a:bodyPr wrap="square" lIns="0" rIns="0" tIns="0" bIns="0">
            <a:spAutoFit/>
          </a:bodyPr>
          <a:lstStyle/>
          <a:p>
            <a:r>
              <a:rPr sz="4000" b="1" i="0">
                <a:solidFill>
                  <a:srgbClr val="FFFFFF"/>
                </a:solidFill>
                <a:latin typeface="Calibri Light"/>
              </a:rPr>
              <a:t>Controlling Style, Tone and Format</a:t>
            </a:r>
          </a:p>
        </p:txBody>
      </p:sp>
      <p:sp>
        <p:nvSpPr>
          <p:cNvPr id="6" name="TextBox 5"/>
          <p:cNvSpPr txBox="1"/>
          <p:nvPr/>
        </p:nvSpPr>
        <p:spPr>
          <a:xfrm>
            <a:off x="777240" y="3063240"/>
            <a:ext cx="9692640" cy="548640"/>
          </a:xfrm>
          <a:prstGeom prst="rect">
            <a:avLst/>
          </a:prstGeom>
          <a:noFill/>
        </p:spPr>
        <p:txBody>
          <a:bodyPr wrap="square" lIns="0" rIns="0" tIns="0" bIns="0">
            <a:spAutoFit/>
          </a:bodyPr>
          <a:lstStyle/>
          <a:p>
            <a:r>
              <a:rPr sz="1900" b="0" i="0">
                <a:solidFill>
                  <a:srgbClr val="C3D0DB"/>
                </a:solidFill>
                <a:latin typeface="Calibri"/>
              </a:rPr>
              <a:t>Getting the register right — the part that decides whether work is usable</a:t>
            </a:r>
          </a:p>
        </p:txBody>
      </p:sp>
      <p:sp>
        <p:nvSpPr>
          <p:cNvPr id="7" name="TextBox 6"/>
          <p:cNvSpPr txBox="1"/>
          <p:nvPr/>
        </p:nvSpPr>
        <p:spPr>
          <a:xfrm>
            <a:off x="777240" y="4709160"/>
            <a:ext cx="10637215" cy="1280160"/>
          </a:xfrm>
          <a:prstGeom prst="rect">
            <a:avLst/>
          </a:prstGeom>
          <a:noFill/>
        </p:spPr>
        <p:txBody>
          <a:bodyPr wrap="square" lIns="0" rIns="0" tIns="0" bIns="0">
            <a:spAutoFit/>
          </a:bodyPr>
          <a:lstStyle/>
          <a:p>
            <a:pPr>
              <a:spcAft>
                <a:spcPts val="400"/>
              </a:spcAft>
            </a:pPr>
            <a:r>
              <a:rPr sz="1600" b="1" i="0">
                <a:solidFill>
                  <a:srgbClr val="1F2937"/>
                </a:solidFill>
                <a:latin typeface="Calibri"/>
              </a:rPr>
              <a:t>Prompt Engineering and Large Language Models</a:t>
            </a:r>
          </a:p>
          <a:p>
            <a:pPr>
              <a:spcAft>
                <a:spcPts val="400"/>
              </a:spcAft>
            </a:pPr>
            <a:r>
              <a:rPr sz="1500" b="0" i="0">
                <a:solidFill>
                  <a:srgbClr val="6B7787"/>
                </a:solidFill>
                <a:latin typeface="Calibri"/>
              </a:rPr>
              <a:t>Mehmet Ali Akyol, PhD</a:t>
            </a:r>
          </a:p>
          <a:p>
            <a:pPr>
              <a:spcAft>
                <a:spcPts val="400"/>
              </a:spcAft>
            </a:pPr>
            <a:r>
              <a:rPr sz="1500" b="0" i="0">
                <a:solidFill>
                  <a:srgbClr val="6B7787"/>
                </a:solidFill>
                <a:latin typeface="Calibri"/>
              </a:rPr>
              <a:t>Ankara Medipol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Today: What We'll Explore</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Why "be professional" produces inconsistent results</a:t>
            </a:r>
          </a:p>
          <a:p>
            <a:pPr>
              <a:lnSpc>
                <a:spcPct val="115000"/>
              </a:lnSpc>
              <a:spcAft>
                <a:spcPts val="1000"/>
              </a:spcAft>
            </a:pPr>
            <a:r>
              <a:rPr sz="1900" b="0" i="0">
                <a:solidFill>
                  <a:srgbClr val="1F2937"/>
                </a:solidFill>
                <a:latin typeface="Calibri"/>
              </a:rPr>
              <a:t>•  Three dimensions of register — the vocabulary that makes tone specifiable</a:t>
            </a:r>
          </a:p>
          <a:p>
            <a:pPr>
              <a:lnSpc>
                <a:spcPct val="115000"/>
              </a:lnSpc>
              <a:spcAft>
                <a:spcPts val="1000"/>
              </a:spcAft>
            </a:pPr>
            <a:r>
              <a:rPr sz="1900" b="0" i="0">
                <a:solidFill>
                  <a:srgbClr val="1F2937"/>
                </a:solidFill>
                <a:latin typeface="Calibri"/>
              </a:rPr>
              <a:t>•  Reading level, and why it matters more in healthcare and law than anywhere else</a:t>
            </a:r>
          </a:p>
          <a:p>
            <a:pPr>
              <a:lnSpc>
                <a:spcPct val="115000"/>
              </a:lnSpc>
              <a:spcAft>
                <a:spcPts val="1000"/>
              </a:spcAft>
            </a:pPr>
            <a:r>
              <a:rPr sz="1900" b="0" i="0">
                <a:solidFill>
                  <a:srgbClr val="1F2937"/>
                </a:solidFill>
                <a:latin typeface="Calibri"/>
              </a:rPr>
              <a:t>•  Tone as observable behaviour rather than adjectives</a:t>
            </a:r>
          </a:p>
          <a:p>
            <a:pPr>
              <a:lnSpc>
                <a:spcPct val="115000"/>
              </a:lnSpc>
              <a:spcAft>
                <a:spcPts val="1000"/>
              </a:spcAft>
            </a:pPr>
            <a:r>
              <a:rPr sz="1900" b="0" i="0">
                <a:solidFill>
                  <a:srgbClr val="1F2937"/>
                </a:solidFill>
                <a:latin typeface="Calibri"/>
              </a:rPr>
              <a:t>•  Structural contracts: output you can actually use</a:t>
            </a:r>
          </a:p>
          <a:p>
            <a:pPr>
              <a:lnSpc>
                <a:spcPct val="115000"/>
              </a:lnSpc>
              <a:spcAft>
                <a:spcPts val="1000"/>
              </a:spcAft>
            </a:pPr>
            <a:r>
              <a:rPr sz="1900" b="0" i="0">
                <a:solidFill>
                  <a:srgbClr val="1F2937"/>
                </a:solidFill>
                <a:latin typeface="Calibri"/>
              </a:rPr>
              <a:t>•  Negative constraints — saying what not to do</a:t>
            </a:r>
          </a:p>
          <a:p>
            <a:pPr>
              <a:lnSpc>
                <a:spcPct val="115000"/>
              </a:lnSpc>
              <a:spcAft>
                <a:spcPts val="1000"/>
              </a:spcAft>
            </a:pPr>
            <a:r>
              <a:rPr sz="1900" b="0" i="0">
                <a:solidFill>
                  <a:srgbClr val="1F2937"/>
                </a:solidFill>
                <a:latin typeface="Calibri"/>
              </a:rPr>
              <a:t>•  Activity: The Tone Ladder</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743200"/>
            <a:ext cx="10058400" cy="457200"/>
          </a:xfrm>
          <a:prstGeom prst="rect">
            <a:avLst/>
          </a:prstGeom>
          <a:noFill/>
        </p:spPr>
        <p:txBody>
          <a:bodyPr wrap="square" lIns="0" rIns="0" tIns="0" bIns="0">
            <a:spAutoFit/>
          </a:bodyPr>
          <a:lstStyle/>
          <a:p>
            <a:r>
              <a:rPr sz="1400" b="1" i="0">
                <a:solidFill>
                  <a:srgbClr val="0F766E"/>
                </a:solidFill>
                <a:latin typeface="Calibri"/>
              </a:rPr>
              <a:t>PART 1</a:t>
            </a:r>
          </a:p>
        </p:txBody>
      </p:sp>
      <p:sp>
        <p:nvSpPr>
          <p:cNvPr id="4" name="TextBox 3"/>
          <p:cNvSpPr txBox="1"/>
          <p:nvPr/>
        </p:nvSpPr>
        <p:spPr>
          <a:xfrm>
            <a:off x="1280160" y="3200400"/>
            <a:ext cx="10058400" cy="1097280"/>
          </a:xfrm>
          <a:prstGeom prst="rect">
            <a:avLst/>
          </a:prstGeom>
          <a:noFill/>
        </p:spPr>
        <p:txBody>
          <a:bodyPr wrap="square" lIns="0" rIns="0" tIns="0" bIns="0">
            <a:spAutoFit/>
          </a:bodyPr>
          <a:lstStyle/>
          <a:p>
            <a:r>
              <a:rPr sz="3400" b="1" i="0">
                <a:solidFill>
                  <a:srgbClr val="1F2937"/>
                </a:solidFill>
                <a:latin typeface="Calibri Light"/>
              </a:rPr>
              <a:t>Why "Be Professional" Fails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31720"/>
            <a:ext cx="1051560" cy="50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697480"/>
            <a:ext cx="10241280" cy="1828800"/>
          </a:xfrm>
          <a:prstGeom prst="rect">
            <a:avLst/>
          </a:prstGeom>
          <a:noFill/>
        </p:spPr>
        <p:txBody>
          <a:bodyPr wrap="square" lIns="0" rIns="0" tIns="0" bIns="0">
            <a:spAutoFit/>
          </a:bodyPr>
          <a:lstStyle/>
          <a:p>
            <a:r>
              <a:rPr sz="3200" b="1" i="0">
                <a:solidFill>
                  <a:srgbClr val="1F2937"/>
                </a:solidFill>
                <a:latin typeface="Calibri Light"/>
              </a:rPr>
              <a:t>"Professional" describes a feeling. It does not describe a text.</a:t>
            </a:r>
          </a:p>
        </p:txBody>
      </p:sp>
      <p:sp>
        <p:nvSpPr>
          <p:cNvPr id="5" name="TextBox 4"/>
          <p:cNvSpPr txBox="1"/>
          <p:nvPr/>
        </p:nvSpPr>
        <p:spPr>
          <a:xfrm>
            <a:off x="777240" y="4434840"/>
            <a:ext cx="10241280" cy="731520"/>
          </a:xfrm>
          <a:prstGeom prst="rect">
            <a:avLst/>
          </a:prstGeom>
          <a:noFill/>
        </p:spPr>
        <p:txBody>
          <a:bodyPr wrap="square" lIns="0" rIns="0" tIns="0" bIns="0">
            <a:spAutoFit/>
          </a:bodyPr>
          <a:lstStyle/>
          <a:p>
            <a:r>
              <a:rPr sz="1800" b="0" i="0">
                <a:solidFill>
                  <a:srgbClr val="333D4B"/>
                </a:solidFill>
                <a:latin typeface="Calibri"/>
              </a:rPr>
              <a:t>Two people asked to write professionally will produce different documents — and so will two runs.</a:t>
            </a:r>
          </a:p>
        </p:txBody>
      </p:sp>
      <p:sp>
        <p:nvSpPr>
          <p:cNvPr id="6" name="TextBox 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7" name="TextBox 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Three Dimensions of Register</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8408"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Field — the subject and its vocabulary</a:t>
            </a:r>
          </a:p>
        </p:txBody>
      </p:sp>
      <p:sp>
        <p:nvSpPr>
          <p:cNvPr id="7" name="TextBox 6"/>
          <p:cNvSpPr txBox="1"/>
          <p:nvPr/>
        </p:nvSpPr>
        <p:spPr>
          <a:xfrm>
            <a:off x="978408"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How much specialist terminology, and at what density. "Myocardial infarction" or "heart attack". "Force majeure" or "events outside anyone's control".</a:t>
            </a:r>
          </a:p>
        </p:txBody>
      </p:sp>
      <p:sp>
        <p:nvSpPr>
          <p:cNvPr id="8" name="Rounded Rectangle 7"/>
          <p:cNvSpPr/>
          <p:nvPr/>
        </p:nvSpPr>
        <p:spPr>
          <a:xfrm>
            <a:off x="4444898"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46066"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6066"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Tenor — the relationship</a:t>
            </a:r>
          </a:p>
        </p:txBody>
      </p:sp>
      <p:sp>
        <p:nvSpPr>
          <p:cNvPr id="11" name="TextBox 10"/>
          <p:cNvSpPr txBox="1"/>
          <p:nvPr/>
        </p:nvSpPr>
        <p:spPr>
          <a:xfrm>
            <a:off x="4646066"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The social distance between writer and reader, and who has standing. "You must submit" · "I'd recommend" · "Would it be possible". Same information, three relationships.</a:t>
            </a:r>
          </a:p>
        </p:txBody>
      </p:sp>
      <p:sp>
        <p:nvSpPr>
          <p:cNvPr id="12" name="Rounded Rectangle 11"/>
          <p:cNvSpPr/>
          <p:nvPr/>
        </p:nvSpPr>
        <p:spPr>
          <a:xfrm>
            <a:off x="8112556"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13724"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3724"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Mode — the channel</a:t>
            </a:r>
          </a:p>
        </p:txBody>
      </p:sp>
      <p:sp>
        <p:nvSpPr>
          <p:cNvPr id="15" name="TextBox 14"/>
          <p:cNvSpPr txBox="1"/>
          <p:nvPr/>
        </p:nvSpPr>
        <p:spPr>
          <a:xfrm>
            <a:off x="8313724"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Written to be read, or written to be spoken. Planned or spontaneous. A policy document, an email, a text message and a script are different modes even with identical content.</a:t>
            </a:r>
          </a:p>
        </p:txBody>
      </p:sp>
      <p:sp>
        <p:nvSpPr>
          <p:cNvPr id="16" name="TextBox 1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17" name="TextBox 1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Specifying Register Precisely</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1" i="0">
                <a:solidFill>
                  <a:srgbClr val="1F2937"/>
                </a:solidFill>
                <a:latin typeface="Calibri"/>
              </a:rPr>
              <a:t>•  Instead of:</a:t>
            </a:r>
          </a:p>
          <a:p>
            <a:pPr lvl="1">
              <a:lnSpc>
                <a:spcPct val="115000"/>
              </a:lnSpc>
              <a:spcAft>
                <a:spcPts val="500"/>
              </a:spcAft>
            </a:pPr>
            <a:r>
              <a:rPr sz="1600" b="0" i="0">
                <a:solidFill>
                  <a:srgbClr val="333D4B"/>
                </a:solidFill>
                <a:latin typeface="Calibri"/>
              </a:rPr>
              <a:t>—  "Make it professional."    "Make it friendly."    "Make it more formal."</a:t>
            </a:r>
          </a:p>
          <a:p>
            <a:pPr>
              <a:lnSpc>
                <a:spcPct val="115000"/>
              </a:lnSpc>
              <a:spcAft>
                <a:spcPts val="1000"/>
              </a:spcAft>
            </a:pPr>
          </a:p>
          <a:p>
            <a:pPr>
              <a:lnSpc>
                <a:spcPct val="115000"/>
              </a:lnSpc>
              <a:spcAft>
                <a:spcPts val="1000"/>
              </a:spcAft>
            </a:pPr>
            <a:r>
              <a:rPr sz="1900" b="1" i="0">
                <a:solidFill>
                  <a:srgbClr val="1F2937"/>
                </a:solidFill>
                <a:latin typeface="Calibri"/>
              </a:rPr>
              <a:t>•  Say:</a:t>
            </a:r>
          </a:p>
          <a:p>
            <a:pPr lvl="1">
              <a:lnSpc>
                <a:spcPct val="115000"/>
              </a:lnSpc>
              <a:spcAft>
                <a:spcPts val="500"/>
              </a:spcAft>
            </a:pPr>
            <a:r>
              <a:rPr sz="1600" b="0" i="0">
                <a:solidFill>
                  <a:srgbClr val="333D4B"/>
                </a:solidFill>
                <a:latin typeface="Calibri"/>
              </a:rPr>
              <a:t>—  "Everyday vocabulary, no medical terms without a plain-language gloss; warm but not casual; written to be read aloud to a patient."</a:t>
            </a:r>
          </a:p>
          <a:p>
            <a:pPr lvl="1">
              <a:lnSpc>
                <a:spcPct val="115000"/>
              </a:lnSpc>
              <a:spcAft>
                <a:spcPts val="500"/>
              </a:spcAft>
            </a:pPr>
            <a:r>
              <a:rPr sz="1600" b="0" i="0">
                <a:solidFill>
                  <a:srgbClr val="333D4B"/>
                </a:solidFill>
                <a:latin typeface="Calibri"/>
              </a:rPr>
              <a:t>—  "Full legal terminology; addressed to opposing counsel as an equal; formal written register, no contractions."</a:t>
            </a:r>
          </a:p>
          <a:p>
            <a:pPr lvl="1">
              <a:lnSpc>
                <a:spcPct val="115000"/>
              </a:lnSpc>
              <a:spcAft>
                <a:spcPts val="500"/>
              </a:spcAft>
            </a:pPr>
            <a:r>
              <a:rPr sz="1600" b="0" i="0">
                <a:solidFill>
                  <a:srgbClr val="333D4B"/>
                </a:solidFill>
                <a:latin typeface="Calibri"/>
              </a:rPr>
              <a:t>—  "Plain language; you are advising someone senior to you; short email, no preamble."</a:t>
            </a:r>
          </a:p>
          <a:p>
            <a:pPr>
              <a:lnSpc>
                <a:spcPct val="115000"/>
              </a:lnSpc>
              <a:spcAft>
                <a:spcPts val="1000"/>
              </a:spcAft>
            </a:pPr>
          </a:p>
          <a:p>
            <a:pPr lvl="1">
              <a:lnSpc>
                <a:spcPct val="115000"/>
              </a:lnSpc>
              <a:spcAft>
                <a:spcPts val="500"/>
              </a:spcAft>
            </a:pPr>
            <a:r>
              <a:rPr sz="1600" b="0" i="0">
                <a:solidFill>
                  <a:srgbClr val="333D4B"/>
                </a:solidFill>
                <a:latin typeface="Calibri"/>
              </a:rPr>
              <a:t>—  Longer to write once. Reusable forever — these become templates you keep.</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Reading Level</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The most consequential style setting in healthcare, law and public communication</a:t>
            </a:r>
          </a:p>
          <a:p>
            <a:pPr lvl="1">
              <a:lnSpc>
                <a:spcPct val="115000"/>
              </a:lnSpc>
              <a:spcAft>
                <a:spcPts val="500"/>
              </a:spcAft>
            </a:pPr>
            <a:r>
              <a:rPr sz="1600" b="0" i="0">
                <a:solidFill>
                  <a:srgbClr val="333D4B"/>
                </a:solidFill>
                <a:latin typeface="Calibri"/>
              </a:rPr>
              <a:t>—  Patient information routinely fails because it is written at the level of the person who wrote it</a:t>
            </a:r>
          </a:p>
          <a:p>
            <a:pPr lvl="1">
              <a:lnSpc>
                <a:spcPct val="115000"/>
              </a:lnSpc>
              <a:spcAft>
                <a:spcPts val="500"/>
              </a:spcAft>
            </a:pPr>
            <a:r>
              <a:rPr sz="1600" b="0" i="0">
                <a:solidFill>
                  <a:srgbClr val="333D4B"/>
                </a:solidFill>
                <a:latin typeface="Calibri"/>
              </a:rPr>
              <a:t>—  So do consent forms, contracts, and letters to families</a:t>
            </a:r>
          </a:p>
          <a:p>
            <a:pPr>
              <a:lnSpc>
                <a:spcPct val="115000"/>
              </a:lnSpc>
              <a:spcAft>
                <a:spcPts val="1000"/>
              </a:spcAft>
            </a:pPr>
          </a:p>
          <a:p>
            <a:pPr>
              <a:lnSpc>
                <a:spcPct val="115000"/>
              </a:lnSpc>
              <a:spcAft>
                <a:spcPts val="1000"/>
              </a:spcAft>
            </a:pPr>
            <a:r>
              <a:rPr sz="1900" b="1" i="0">
                <a:solidFill>
                  <a:srgbClr val="1F2937"/>
                </a:solidFill>
                <a:latin typeface="Calibri"/>
              </a:rPr>
              <a:t>•  Ways to specify it:</a:t>
            </a:r>
          </a:p>
          <a:p>
            <a:pPr lvl="1">
              <a:lnSpc>
                <a:spcPct val="115000"/>
              </a:lnSpc>
              <a:spcAft>
                <a:spcPts val="500"/>
              </a:spcAft>
            </a:pPr>
            <a:r>
              <a:rPr sz="1600" b="0" i="0">
                <a:solidFill>
                  <a:srgbClr val="333D4B"/>
                </a:solidFill>
                <a:latin typeface="Calibri"/>
              </a:rPr>
              <a:t>—  By audience: "a reader who left school at 15", "a first-year undergraduate", "a parent with no medical background"</a:t>
            </a:r>
          </a:p>
          <a:p>
            <a:pPr lvl="1">
              <a:lnSpc>
                <a:spcPct val="115000"/>
              </a:lnSpc>
              <a:spcAft>
                <a:spcPts val="500"/>
              </a:spcAft>
            </a:pPr>
            <a:r>
              <a:rPr sz="1600" b="0" i="0">
                <a:solidFill>
                  <a:srgbClr val="333D4B"/>
                </a:solidFill>
                <a:latin typeface="Calibri"/>
              </a:rPr>
              <a:t>—  By language level: CEFR A2, B1, B2 — precise and widely understood</a:t>
            </a:r>
          </a:p>
          <a:p>
            <a:pPr lvl="1">
              <a:lnSpc>
                <a:spcPct val="115000"/>
              </a:lnSpc>
              <a:spcAft>
                <a:spcPts val="500"/>
              </a:spcAft>
            </a:pPr>
            <a:r>
              <a:rPr sz="1600" b="0" i="0">
                <a:solidFill>
                  <a:srgbClr val="333D4B"/>
                </a:solidFill>
                <a:latin typeface="Calibri"/>
              </a:rPr>
              <a:t>—  By constraint: "sentences under 15 words; no word longer than three syllables where a shorter one exists"</a:t>
            </a:r>
          </a:p>
          <a:p>
            <a:pPr>
              <a:lnSpc>
                <a:spcPct val="115000"/>
              </a:lnSpc>
              <a:spcAft>
                <a:spcPts val="1000"/>
              </a:spcAft>
            </a:pPr>
          </a:p>
          <a:p>
            <a:pPr>
              <a:lnSpc>
                <a:spcPct val="115000"/>
              </a:lnSpc>
              <a:spcAft>
                <a:spcPts val="1000"/>
              </a:spcAft>
            </a:pPr>
            <a:r>
              <a:rPr sz="1900" b="1" i="0">
                <a:solidFill>
                  <a:srgbClr val="1F2937"/>
                </a:solidFill>
                <a:latin typeface="Calibri"/>
              </a:rPr>
              <a:t>•  Then verify it. Ask it to list every word it thinks the reader might not know.</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743200"/>
            <a:ext cx="10058400" cy="457200"/>
          </a:xfrm>
          <a:prstGeom prst="rect">
            <a:avLst/>
          </a:prstGeom>
          <a:noFill/>
        </p:spPr>
        <p:txBody>
          <a:bodyPr wrap="square" lIns="0" rIns="0" tIns="0" bIns="0">
            <a:spAutoFit/>
          </a:bodyPr>
          <a:lstStyle/>
          <a:p>
            <a:r>
              <a:rPr sz="1400" b="1" i="0">
                <a:solidFill>
                  <a:srgbClr val="0F766E"/>
                </a:solidFill>
                <a:latin typeface="Calibri"/>
              </a:rPr>
              <a:t>PART 2</a:t>
            </a:r>
          </a:p>
        </p:txBody>
      </p:sp>
      <p:sp>
        <p:nvSpPr>
          <p:cNvPr id="4" name="TextBox 3"/>
          <p:cNvSpPr txBox="1"/>
          <p:nvPr/>
        </p:nvSpPr>
        <p:spPr>
          <a:xfrm>
            <a:off x="1280160" y="3200400"/>
            <a:ext cx="10058400" cy="1097280"/>
          </a:xfrm>
          <a:prstGeom prst="rect">
            <a:avLst/>
          </a:prstGeom>
          <a:noFill/>
        </p:spPr>
        <p:txBody>
          <a:bodyPr wrap="square" lIns="0" rIns="0" tIns="0" bIns="0">
            <a:spAutoFit/>
          </a:bodyPr>
          <a:lstStyle/>
          <a:p>
            <a:r>
              <a:rPr sz="3400" b="1" i="0">
                <a:solidFill>
                  <a:srgbClr val="1F2937"/>
                </a:solidFill>
                <a:latin typeface="Calibri Light"/>
              </a:rPr>
              <a:t>Tone as Behaviour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Translate Adjectives into Behaviours</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An adjective is a label for a feeling. A behaviour is something the text does — and can be checked.</a:t>
            </a:r>
          </a:p>
          <a:p>
            <a:pPr>
              <a:lnSpc>
                <a:spcPct val="115000"/>
              </a:lnSpc>
              <a:spcAft>
                <a:spcPts val="1000"/>
              </a:spcAft>
            </a:pPr>
          </a:p>
          <a:p>
            <a:pPr>
              <a:lnSpc>
                <a:spcPct val="115000"/>
              </a:lnSpc>
              <a:spcAft>
                <a:spcPts val="1000"/>
              </a:spcAft>
            </a:pPr>
            <a:r>
              <a:rPr sz="1900" b="1" i="0">
                <a:solidFill>
                  <a:srgbClr val="1F2937"/>
                </a:solidFill>
                <a:latin typeface="Calibri"/>
              </a:rPr>
              <a:t>•  Warm</a:t>
            </a:r>
          </a:p>
          <a:p>
            <a:pPr lvl="1">
              <a:lnSpc>
                <a:spcPct val="115000"/>
              </a:lnSpc>
              <a:spcAft>
                <a:spcPts val="500"/>
              </a:spcAft>
            </a:pPr>
            <a:r>
              <a:rPr sz="1600" b="0" i="0">
                <a:solidFill>
                  <a:srgbClr val="333D4B"/>
                </a:solidFill>
                <a:latin typeface="Calibri"/>
              </a:rPr>
              <a:t>—  → use the reader's name; acknowledge their situation; thank them for something specific</a:t>
            </a:r>
          </a:p>
          <a:p>
            <a:pPr>
              <a:lnSpc>
                <a:spcPct val="115000"/>
              </a:lnSpc>
              <a:spcAft>
                <a:spcPts val="1000"/>
              </a:spcAft>
            </a:pPr>
            <a:r>
              <a:rPr sz="1900" b="1" i="0">
                <a:solidFill>
                  <a:srgbClr val="1F2937"/>
                </a:solidFill>
                <a:latin typeface="Calibri"/>
              </a:rPr>
              <a:t>•  Urgent</a:t>
            </a:r>
          </a:p>
          <a:p>
            <a:pPr lvl="1">
              <a:lnSpc>
                <a:spcPct val="115000"/>
              </a:lnSpc>
              <a:spcAft>
                <a:spcPts val="500"/>
              </a:spcAft>
            </a:pPr>
            <a:r>
              <a:rPr sz="1600" b="0" i="0">
                <a:solidFill>
                  <a:srgbClr val="333D4B"/>
                </a:solidFill>
                <a:latin typeface="Calibri"/>
              </a:rPr>
              <a:t>—  → short sentences; the deadline in the first line; state the consequence of inaction</a:t>
            </a:r>
          </a:p>
          <a:p>
            <a:pPr>
              <a:lnSpc>
                <a:spcPct val="115000"/>
              </a:lnSpc>
              <a:spcAft>
                <a:spcPts val="1000"/>
              </a:spcAft>
            </a:pPr>
            <a:r>
              <a:rPr sz="1900" b="1" i="0">
                <a:solidFill>
                  <a:srgbClr val="1F2937"/>
                </a:solidFill>
                <a:latin typeface="Calibri"/>
              </a:rPr>
              <a:t>•  Neutral</a:t>
            </a:r>
          </a:p>
          <a:p>
            <a:pPr lvl="1">
              <a:lnSpc>
                <a:spcPct val="115000"/>
              </a:lnSpc>
              <a:spcAft>
                <a:spcPts val="500"/>
              </a:spcAft>
            </a:pPr>
            <a:r>
              <a:rPr sz="1600" b="0" i="0">
                <a:solidFill>
                  <a:srgbClr val="333D4B"/>
                </a:solidFill>
                <a:latin typeface="Calibri"/>
              </a:rPr>
              <a:t>—  → no evaluative adjectives; no exclamation marks; attribute claims rather than asserting them</a:t>
            </a:r>
          </a:p>
          <a:p>
            <a:pPr>
              <a:lnSpc>
                <a:spcPct val="115000"/>
              </a:lnSpc>
              <a:spcAft>
                <a:spcPts val="1000"/>
              </a:spcAft>
            </a:pPr>
            <a:r>
              <a:rPr sz="1900" b="1" i="0">
                <a:solidFill>
                  <a:srgbClr val="1F2937"/>
                </a:solidFill>
                <a:latin typeface="Calibri"/>
              </a:rPr>
              <a:t>•  Reassuring</a:t>
            </a:r>
          </a:p>
          <a:p>
            <a:pPr lvl="1">
              <a:lnSpc>
                <a:spcPct val="115000"/>
              </a:lnSpc>
              <a:spcAft>
                <a:spcPts val="500"/>
              </a:spcAft>
            </a:pPr>
            <a:r>
              <a:rPr sz="1600" b="0" i="0">
                <a:solidFill>
                  <a:srgbClr val="333D4B"/>
                </a:solidFill>
                <a:latin typeface="Calibri"/>
              </a:rPr>
              <a:t>—  → say what is known before what is uncertain; name the next concrete step; avoid absolute promises</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Style by Example</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For house style, showing beats describing — as with any example (Week 4)</a:t>
            </a:r>
          </a:p>
          <a:p>
            <a:pPr lvl="1">
              <a:lnSpc>
                <a:spcPct val="115000"/>
              </a:lnSpc>
              <a:spcAft>
                <a:spcPts val="500"/>
              </a:spcAft>
            </a:pPr>
            <a:r>
              <a:rPr sz="1600" b="0" i="0">
                <a:solidFill>
                  <a:srgbClr val="333D4B"/>
                </a:solidFill>
                <a:latin typeface="Calibri"/>
              </a:rPr>
              <a:t>—  Paste two or three short pieces of approved writing and say "match this voice"</a:t>
            </a:r>
          </a:p>
          <a:p>
            <a:pPr lvl="1">
              <a:lnSpc>
                <a:spcPct val="115000"/>
              </a:lnSpc>
              <a:spcAft>
                <a:spcPts val="500"/>
              </a:spcAft>
            </a:pPr>
            <a:r>
              <a:rPr sz="1600" b="0" i="0">
                <a:solidFill>
                  <a:srgbClr val="333D4B"/>
                </a:solidFill>
                <a:latin typeface="Calibri"/>
              </a:rPr>
              <a:t>—  It will pick up sentence length, formality, how you open, how you close, how much you hedge</a:t>
            </a:r>
          </a:p>
          <a:p>
            <a:pPr>
              <a:lnSpc>
                <a:spcPct val="115000"/>
              </a:lnSpc>
              <a:spcAft>
                <a:spcPts val="1000"/>
              </a:spcAft>
            </a:pPr>
          </a:p>
          <a:p>
            <a:pPr>
              <a:lnSpc>
                <a:spcPct val="115000"/>
              </a:lnSpc>
              <a:spcAft>
                <a:spcPts val="1000"/>
              </a:spcAft>
            </a:pPr>
            <a:r>
              <a:rPr sz="1900" b="1" i="0">
                <a:solidFill>
                  <a:srgbClr val="1F2937"/>
                </a:solidFill>
                <a:latin typeface="Calibri"/>
              </a:rPr>
              <a:t>•  Make it explicit if you want to know what it copied:</a:t>
            </a:r>
          </a:p>
          <a:p>
            <a:pPr lvl="1">
              <a:lnSpc>
                <a:spcPct val="115000"/>
              </a:lnSpc>
              <a:spcAft>
                <a:spcPts val="500"/>
              </a:spcAft>
            </a:pPr>
            <a:r>
              <a:rPr sz="1600" b="0" i="0">
                <a:solidFill>
                  <a:srgbClr val="333D4B"/>
                </a:solidFill>
                <a:latin typeface="Calibri"/>
              </a:rPr>
              <a:t>—  "Before writing, list the five features of this voice you intend to reproduce."</a:t>
            </a:r>
          </a:p>
          <a:p>
            <a:pPr lvl="1">
              <a:lnSpc>
                <a:spcPct val="115000"/>
              </a:lnSpc>
              <a:spcAft>
                <a:spcPts val="500"/>
              </a:spcAft>
            </a:pPr>
            <a:r>
              <a:rPr sz="1600" b="0" i="0">
                <a:solidFill>
                  <a:srgbClr val="333D4B"/>
                </a:solidFill>
                <a:latin typeface="Calibri"/>
              </a:rPr>
              <a:t>—  You get a description of your own house style — which is often useful on its own</a:t>
            </a:r>
          </a:p>
          <a:p>
            <a:pPr>
              <a:lnSpc>
                <a:spcPct val="115000"/>
              </a:lnSpc>
              <a:spcAft>
                <a:spcPts val="1000"/>
              </a:spcAft>
            </a:pPr>
          </a:p>
          <a:p>
            <a:pPr lvl="1">
              <a:lnSpc>
                <a:spcPct val="115000"/>
              </a:lnSpc>
              <a:spcAft>
                <a:spcPts val="500"/>
              </a:spcAft>
            </a:pPr>
            <a:r>
              <a:rPr sz="1600" b="0" i="0">
                <a:solidFill>
                  <a:srgbClr val="333D4B"/>
                </a:solidFill>
                <a:latin typeface="Calibri"/>
              </a:rPr>
              <a:t>—  Use approved published material. Do not paste confidential documents to demonstrate tone.</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743200"/>
            <a:ext cx="10058400" cy="457200"/>
          </a:xfrm>
          <a:prstGeom prst="rect">
            <a:avLst/>
          </a:prstGeom>
          <a:noFill/>
        </p:spPr>
        <p:txBody>
          <a:bodyPr wrap="square" lIns="0" rIns="0" tIns="0" bIns="0">
            <a:spAutoFit/>
          </a:bodyPr>
          <a:lstStyle/>
          <a:p>
            <a:r>
              <a:rPr sz="1400" b="1" i="0">
                <a:solidFill>
                  <a:srgbClr val="0F766E"/>
                </a:solidFill>
                <a:latin typeface="Calibri"/>
              </a:rPr>
              <a:t>PART 3</a:t>
            </a:r>
          </a:p>
        </p:txBody>
      </p:sp>
      <p:sp>
        <p:nvSpPr>
          <p:cNvPr id="4" name="TextBox 3"/>
          <p:cNvSpPr txBox="1"/>
          <p:nvPr/>
        </p:nvSpPr>
        <p:spPr>
          <a:xfrm>
            <a:off x="1280160" y="3200400"/>
            <a:ext cx="10058400" cy="1097280"/>
          </a:xfrm>
          <a:prstGeom prst="rect">
            <a:avLst/>
          </a:prstGeom>
          <a:noFill/>
        </p:spPr>
        <p:txBody>
          <a:bodyPr wrap="square" lIns="0" rIns="0" tIns="0" bIns="0">
            <a:spAutoFit/>
          </a:bodyPr>
          <a:lstStyle/>
          <a:p>
            <a:r>
              <a:rPr sz="3400" b="1" i="0">
                <a:solidFill>
                  <a:srgbClr val="1F2937"/>
                </a:solidFill>
                <a:latin typeface="Calibri Light"/>
              </a:rPr>
              <a:t>Structural Contracts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Specify the Shape, Not Just the Style</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A structural contract is a description of the output precise enough that you could check compliance mechanically</a:t>
            </a:r>
          </a:p>
          <a:p>
            <a:pPr>
              <a:lnSpc>
                <a:spcPct val="115000"/>
              </a:lnSpc>
              <a:spcAft>
                <a:spcPts val="1000"/>
              </a:spcAft>
            </a:pPr>
          </a:p>
          <a:p>
            <a:pPr lvl="1">
              <a:lnSpc>
                <a:spcPct val="115000"/>
              </a:lnSpc>
              <a:spcAft>
                <a:spcPts val="500"/>
              </a:spcAft>
            </a:pPr>
            <a:r>
              <a:rPr sz="1600" b="0" i="0">
                <a:solidFill>
                  <a:srgbClr val="333D4B"/>
                </a:solidFill>
                <a:latin typeface="Calibri"/>
              </a:rPr>
              <a:t>—  Named sections, in a fixed order</a:t>
            </a:r>
          </a:p>
          <a:p>
            <a:pPr lvl="1">
              <a:lnSpc>
                <a:spcPct val="115000"/>
              </a:lnSpc>
              <a:spcAft>
                <a:spcPts val="500"/>
              </a:spcAft>
            </a:pPr>
            <a:r>
              <a:rPr sz="1600" b="0" i="0">
                <a:solidFill>
                  <a:srgbClr val="333D4B"/>
                </a:solidFill>
                <a:latin typeface="Calibri"/>
              </a:rPr>
              <a:t>—  A table with named columns and stated types — "date as DD/MM/YYYY", "one of: low, medium, high"</a:t>
            </a:r>
          </a:p>
          <a:p>
            <a:pPr lvl="1">
              <a:lnSpc>
                <a:spcPct val="115000"/>
              </a:lnSpc>
              <a:spcAft>
                <a:spcPts val="500"/>
              </a:spcAft>
            </a:pPr>
            <a:r>
              <a:rPr sz="1600" b="0" i="0">
                <a:solidFill>
                  <a:srgbClr val="333D4B"/>
                </a:solidFill>
                <a:latin typeface="Calibri"/>
              </a:rPr>
              <a:t>—  Hard limits — "exactly three bullets", "under 400 words", "one sentence"</a:t>
            </a:r>
          </a:p>
          <a:p>
            <a:pPr lvl="1">
              <a:lnSpc>
                <a:spcPct val="115000"/>
              </a:lnSpc>
              <a:spcAft>
                <a:spcPts val="500"/>
              </a:spcAft>
            </a:pPr>
            <a:r>
              <a:rPr sz="1600" b="0" i="0">
                <a:solidFill>
                  <a:srgbClr val="333D4B"/>
                </a:solidFill>
                <a:latin typeface="Calibri"/>
              </a:rPr>
              <a:t>—  A stated fallback — "if a field cannot be filled from the source, write NOT STATED"</a:t>
            </a:r>
          </a:p>
          <a:p>
            <a:pPr>
              <a:lnSpc>
                <a:spcPct val="115000"/>
              </a:lnSpc>
              <a:spcAft>
                <a:spcPts val="1000"/>
              </a:spcAft>
            </a:pPr>
          </a:p>
          <a:p>
            <a:pPr>
              <a:lnSpc>
                <a:spcPct val="115000"/>
              </a:lnSpc>
              <a:spcAft>
                <a:spcPts val="1000"/>
              </a:spcAft>
            </a:pPr>
            <a:r>
              <a:rPr sz="1900" b="1" i="0">
                <a:solidFill>
                  <a:srgbClr val="1F2937"/>
                </a:solidFill>
                <a:latin typeface="Calibri"/>
              </a:rPr>
              <a:t>•  The fallback is the important one, and it is the one everybody forgets.</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Why the Fallback Matters</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You ask for a table</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Columns: obligation, clause, deadline.</a:t>
            </a:r>
          </a:p>
        </p:txBody>
      </p:sp>
      <p:sp>
        <p:nvSpPr>
          <p:cNvPr id="6" name="Right Arrow 5"/>
          <p:cNvSpPr/>
          <p:nvPr/>
        </p:nvSpPr>
        <p:spPr>
          <a:xfrm>
            <a:off x="3221659" y="3214115"/>
            <a:ext cx="237744" cy="201168"/>
          </a:xfrm>
          <a:prstGeom prst="rightArrow">
            <a:avLst/>
          </a:prstGeom>
          <a:solidFill>
            <a:srgbClr val="B6C4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32555"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97147"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The source has no deadline</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Nothing in the document states one.</a:t>
            </a:r>
          </a:p>
        </p:txBody>
      </p:sp>
      <p:sp>
        <p:nvSpPr>
          <p:cNvPr id="9" name="Right Arrow 8"/>
          <p:cNvSpPr/>
          <p:nvPr/>
        </p:nvSpPr>
        <p:spPr>
          <a:xfrm>
            <a:off x="5976975" y="3214115"/>
            <a:ext cx="237744" cy="201168"/>
          </a:xfrm>
          <a:prstGeom prst="rightArrow">
            <a:avLst/>
          </a:prstGeom>
          <a:solidFill>
            <a:srgbClr val="B6C4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87871"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3"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Without a fallback</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An empty cell is an unlikely continuation. Something plausible appears.</a:t>
            </a:r>
          </a:p>
        </p:txBody>
      </p:sp>
      <p:sp>
        <p:nvSpPr>
          <p:cNvPr id="12" name="Right Arrow 11"/>
          <p:cNvSpPr/>
          <p:nvPr/>
        </p:nvSpPr>
        <p:spPr>
          <a:xfrm>
            <a:off x="8732291" y="3214115"/>
            <a:ext cx="237744" cy="201168"/>
          </a:xfrm>
          <a:prstGeom prst="rightArrow">
            <a:avLst/>
          </a:prstGeom>
          <a:solidFill>
            <a:srgbClr val="B6C4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43187"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07779"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With a fallback</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"NOT STATED" is now a likely, legitimate thing to write.</a:t>
            </a:r>
          </a:p>
        </p:txBody>
      </p:sp>
      <p:sp>
        <p:nvSpPr>
          <p:cNvPr id="15" name="TextBox 14"/>
          <p:cNvSpPr txBox="1"/>
          <p:nvPr/>
        </p:nvSpPr>
        <p:spPr>
          <a:xfrm>
            <a:off x="777240" y="4663439"/>
            <a:ext cx="10637215" cy="457200"/>
          </a:xfrm>
          <a:prstGeom prst="rect">
            <a:avLst/>
          </a:prstGeom>
          <a:noFill/>
        </p:spPr>
        <p:txBody>
          <a:bodyPr wrap="square" lIns="0" rIns="0" tIns="0" bIns="0" anchor="ctr">
            <a:spAutoFit/>
          </a:bodyPr>
          <a:lstStyle/>
          <a:p>
            <a:pPr algn="l">
              <a:lnSpc>
                <a:spcPct val="105000"/>
              </a:lnSpc>
              <a:spcAft>
                <a:spcPts val="200"/>
              </a:spcAft>
            </a:pPr>
            <a:r>
              <a:rPr sz="1500" b="0" i="0">
                <a:solidFill>
                  <a:srgbClr val="6B7787"/>
                </a:solidFill>
                <a:latin typeface="Calibri"/>
              </a:rPr>
              <a:t>You are not appealing to the model's honesty. You are making the honest answer the probable one.</a:t>
            </a:r>
          </a:p>
        </p:txBody>
      </p:sp>
      <p:sp>
        <p:nvSpPr>
          <p:cNvPr id="16" name="TextBox 1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17" name="TextBox 1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Negative Constraints</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Saying what not to do is often more effective than adding more of what to do</a:t>
            </a:r>
          </a:p>
          <a:p>
            <a:pPr>
              <a:lnSpc>
                <a:spcPct val="115000"/>
              </a:lnSpc>
              <a:spcAft>
                <a:spcPts val="1000"/>
              </a:spcAft>
            </a:pPr>
          </a:p>
          <a:p>
            <a:pPr lvl="1">
              <a:lnSpc>
                <a:spcPct val="115000"/>
              </a:lnSpc>
              <a:spcAft>
                <a:spcPts val="500"/>
              </a:spcAft>
            </a:pPr>
            <a:r>
              <a:rPr sz="1600" b="0" i="0">
                <a:solidFill>
                  <a:srgbClr val="333D4B"/>
                </a:solidFill>
                <a:latin typeface="Calibri"/>
              </a:rPr>
              <a:t>—  "Do not add any recommendation that is not in the source document."</a:t>
            </a:r>
          </a:p>
          <a:p>
            <a:pPr lvl="1">
              <a:lnSpc>
                <a:spcPct val="115000"/>
              </a:lnSpc>
              <a:spcAft>
                <a:spcPts val="500"/>
              </a:spcAft>
            </a:pPr>
            <a:r>
              <a:rPr sz="1600" b="0" i="0">
                <a:solidFill>
                  <a:srgbClr val="333D4B"/>
                </a:solidFill>
                <a:latin typeface="Calibri"/>
              </a:rPr>
              <a:t>—  "Do not cite any law, regulation or case. If one is relevant, say so without naming it."</a:t>
            </a:r>
          </a:p>
          <a:p>
            <a:pPr lvl="1">
              <a:lnSpc>
                <a:spcPct val="115000"/>
              </a:lnSpc>
              <a:spcAft>
                <a:spcPts val="500"/>
              </a:spcAft>
            </a:pPr>
            <a:r>
              <a:rPr sz="1600" b="0" i="0">
                <a:solidFill>
                  <a:srgbClr val="333D4B"/>
                </a:solidFill>
                <a:latin typeface="Calibri"/>
              </a:rPr>
              <a:t>—  "Do not use headings or bullet points."</a:t>
            </a:r>
          </a:p>
          <a:p>
            <a:pPr lvl="1">
              <a:lnSpc>
                <a:spcPct val="115000"/>
              </a:lnSpc>
              <a:spcAft>
                <a:spcPts val="500"/>
              </a:spcAft>
            </a:pPr>
            <a:r>
              <a:rPr sz="1600" b="0" i="0">
                <a:solidFill>
                  <a:srgbClr val="333D4B"/>
                </a:solidFill>
                <a:latin typeface="Calibri"/>
              </a:rPr>
              <a:t>—  "Do not soften the findings. Report them as stated."</a:t>
            </a:r>
          </a:p>
          <a:p>
            <a:pPr>
              <a:lnSpc>
                <a:spcPct val="115000"/>
              </a:lnSpc>
              <a:spcAft>
                <a:spcPts val="1000"/>
              </a:spcAft>
            </a:pPr>
          </a:p>
          <a:p>
            <a:pPr>
              <a:lnSpc>
                <a:spcPct val="115000"/>
              </a:lnSpc>
              <a:spcAft>
                <a:spcPts val="1000"/>
              </a:spcAft>
            </a:pPr>
            <a:r>
              <a:rPr sz="1900" b="1" i="0">
                <a:solidFill>
                  <a:srgbClr val="1F2937"/>
                </a:solidFill>
                <a:latin typeface="Calibri"/>
              </a:rPr>
              <a:t>•  Negative constraints work best when they are specific and checkable.</a:t>
            </a:r>
          </a:p>
          <a:p>
            <a:pPr lvl="1">
              <a:lnSpc>
                <a:spcPct val="115000"/>
              </a:lnSpc>
              <a:spcAft>
                <a:spcPts val="500"/>
              </a:spcAft>
            </a:pPr>
            <a:r>
              <a:rPr sz="1600" b="0" i="0">
                <a:solidFill>
                  <a:srgbClr val="333D4B"/>
                </a:solidFill>
                <a:latin typeface="Calibri"/>
              </a:rPr>
              <a:t>—  "Don't be boring" is not a constraint. "No sentence longer than 20 words" is.</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Three Format Specifications Worth Reusing</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8408"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The extraction table</a:t>
            </a:r>
          </a:p>
        </p:txBody>
      </p:sp>
      <p:sp>
        <p:nvSpPr>
          <p:cNvPr id="7" name="TextBox 6"/>
          <p:cNvSpPr txBox="1"/>
          <p:nvPr/>
        </p:nvSpPr>
        <p:spPr>
          <a:xfrm>
            <a:off x="978408"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"A table with columns: finding, exact quoted wording, source location, confidence. If a field cannot be filled from the source, write NOT STATED." Use whenever you are pulling facts out of a document.</a:t>
            </a:r>
          </a:p>
        </p:txBody>
      </p:sp>
      <p:sp>
        <p:nvSpPr>
          <p:cNvPr id="8" name="Rounded Rectangle 7"/>
          <p:cNvSpPr/>
          <p:nvPr/>
        </p:nvSpPr>
        <p:spPr>
          <a:xfrm>
            <a:off x="4444898"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46066"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6066"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The bounded summary</a:t>
            </a:r>
          </a:p>
        </p:txBody>
      </p:sp>
      <p:sp>
        <p:nvSpPr>
          <p:cNvPr id="11" name="TextBox 10"/>
          <p:cNvSpPr txBox="1"/>
          <p:nvPr/>
        </p:nvSpPr>
        <p:spPr>
          <a:xfrm>
            <a:off x="4646066"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"Three bullets, maximum fifteen words each, in order of importance. Then one sentence naming anything important you had to leave out." That final sentence is what makes it safe to skim.</a:t>
            </a:r>
          </a:p>
        </p:txBody>
      </p:sp>
      <p:sp>
        <p:nvSpPr>
          <p:cNvPr id="12" name="Rounded Rectangle 11"/>
          <p:cNvSpPr/>
          <p:nvPr/>
        </p:nvSpPr>
        <p:spPr>
          <a:xfrm>
            <a:off x="8112556"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13724"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3724"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The two-audience pair</a:t>
            </a:r>
          </a:p>
        </p:txBody>
      </p:sp>
      <p:sp>
        <p:nvSpPr>
          <p:cNvPr id="15" name="TextBox 14"/>
          <p:cNvSpPr txBox="1"/>
          <p:nvPr/>
        </p:nvSpPr>
        <p:spPr>
          <a:xfrm>
            <a:off x="8313724"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"Produce two versions under headings FOR THE FILE and FOR THE FAMILY. Same facts, different register. Do not add anything to the second that is not in the first."</a:t>
            </a:r>
          </a:p>
        </p:txBody>
      </p:sp>
      <p:sp>
        <p:nvSpPr>
          <p:cNvPr id="16" name="TextBox 1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17" name="TextBox 1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Writing in English for Turkish Readers</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A situation most of you will face, and it is a register problem rather than a translation problem</a:t>
            </a:r>
          </a:p>
          <a:p>
            <a:pPr>
              <a:lnSpc>
                <a:spcPct val="115000"/>
              </a:lnSpc>
              <a:spcAft>
                <a:spcPts val="1000"/>
              </a:spcAft>
            </a:pPr>
          </a:p>
          <a:p>
            <a:pPr lvl="1">
              <a:lnSpc>
                <a:spcPct val="115000"/>
              </a:lnSpc>
              <a:spcAft>
                <a:spcPts val="500"/>
              </a:spcAft>
            </a:pPr>
            <a:r>
              <a:rPr sz="1600" b="0" i="0">
                <a:solidFill>
                  <a:srgbClr val="333D4B"/>
                </a:solidFill>
                <a:latin typeface="Calibri"/>
              </a:rPr>
              <a:t>—  Ask for shorter sentences than you would use for first-language readers</a:t>
            </a:r>
          </a:p>
          <a:p>
            <a:pPr lvl="1">
              <a:lnSpc>
                <a:spcPct val="115000"/>
              </a:lnSpc>
              <a:spcAft>
                <a:spcPts val="500"/>
              </a:spcAft>
            </a:pPr>
            <a:r>
              <a:rPr sz="1600" b="0" i="0">
                <a:solidFill>
                  <a:srgbClr val="333D4B"/>
                </a:solidFill>
                <a:latin typeface="Calibri"/>
              </a:rPr>
              <a:t>—  Ask it to avoid idiom and phrasal verbs — "postpone" rather than "put off"</a:t>
            </a:r>
          </a:p>
          <a:p>
            <a:pPr lvl="1">
              <a:lnSpc>
                <a:spcPct val="115000"/>
              </a:lnSpc>
              <a:spcAft>
                <a:spcPts val="500"/>
              </a:spcAft>
            </a:pPr>
            <a:r>
              <a:rPr sz="1600" b="0" i="0">
                <a:solidFill>
                  <a:srgbClr val="333D4B"/>
                </a:solidFill>
                <a:latin typeface="Calibri"/>
              </a:rPr>
              <a:t>—  Ask for the main point first, before the qualifications</a:t>
            </a:r>
          </a:p>
          <a:p>
            <a:pPr>
              <a:lnSpc>
                <a:spcPct val="115000"/>
              </a:lnSpc>
              <a:spcAft>
                <a:spcPts val="1000"/>
              </a:spcAft>
            </a:pPr>
          </a:p>
          <a:p>
            <a:pPr>
              <a:lnSpc>
                <a:spcPct val="115000"/>
              </a:lnSpc>
              <a:spcAft>
                <a:spcPts val="1000"/>
              </a:spcAft>
            </a:pPr>
            <a:r>
              <a:rPr sz="1900" b="1" i="0">
                <a:solidFill>
                  <a:srgbClr val="1F2937"/>
                </a:solidFill>
                <a:latin typeface="Calibri"/>
              </a:rPr>
              <a:t>•  A useful instruction:</a:t>
            </a:r>
          </a:p>
          <a:p>
            <a:pPr lvl="1">
              <a:lnSpc>
                <a:spcPct val="115000"/>
              </a:lnSpc>
              <a:spcAft>
                <a:spcPts val="500"/>
              </a:spcAft>
            </a:pPr>
            <a:r>
              <a:rPr sz="1600" b="0" i="0">
                <a:solidFill>
                  <a:srgbClr val="333D4B"/>
                </a:solidFill>
                <a:latin typeface="Calibri"/>
              </a:rPr>
              <a:t>—  "The reader is a competent professional reading in their second language. Avoid idiom. One idea per sentence."</a:t>
            </a:r>
          </a:p>
          <a:p>
            <a:pPr lvl="1">
              <a:lnSpc>
                <a:spcPct val="115000"/>
              </a:lnSpc>
              <a:spcAft>
                <a:spcPts val="500"/>
              </a:spcAft>
            </a:pPr>
            <a:r>
              <a:rPr sz="1600" b="0" i="0">
                <a:solidFill>
                  <a:srgbClr val="333D4B"/>
                </a:solidFill>
                <a:latin typeface="Calibri"/>
              </a:rPr>
              <a:t>—  Note what this is not: it is not simplification, and it is not writing down to anyone.</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When Not to Over-Specify</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Every constraint narrows the output. Enough of them and you narrow it to something useless.</a:t>
            </a:r>
          </a:p>
          <a:p>
            <a:pPr>
              <a:lnSpc>
                <a:spcPct val="115000"/>
              </a:lnSpc>
              <a:spcAft>
                <a:spcPts val="1000"/>
              </a:spcAft>
            </a:pPr>
          </a:p>
          <a:p>
            <a:pPr lvl="1">
              <a:lnSpc>
                <a:spcPct val="115000"/>
              </a:lnSpc>
              <a:spcAft>
                <a:spcPts val="500"/>
              </a:spcAft>
            </a:pPr>
            <a:r>
              <a:rPr sz="1600" b="0" i="0">
                <a:solidFill>
                  <a:srgbClr val="333D4B"/>
                </a:solidFill>
                <a:latin typeface="Calibri"/>
              </a:rPr>
              <a:t>—  Fifteen simultaneous constraints tend to produce cautious, hedged, lifeless text</a:t>
            </a:r>
          </a:p>
          <a:p>
            <a:pPr lvl="1">
              <a:lnSpc>
                <a:spcPct val="115000"/>
              </a:lnSpc>
              <a:spcAft>
                <a:spcPts val="500"/>
              </a:spcAft>
            </a:pPr>
            <a:r>
              <a:rPr sz="1600" b="0" i="0">
                <a:solidFill>
                  <a:srgbClr val="333D4B"/>
                </a:solidFill>
                <a:latin typeface="Calibri"/>
              </a:rPr>
              <a:t>—  Conflicting constraints — "be comprehensive" and "under 100 words" — force an arbitrary choice you did not make</a:t>
            </a:r>
          </a:p>
          <a:p>
            <a:pPr lvl="1">
              <a:lnSpc>
                <a:spcPct val="115000"/>
              </a:lnSpc>
              <a:spcAft>
                <a:spcPts val="500"/>
              </a:spcAft>
            </a:pPr>
            <a:r>
              <a:rPr sz="1600" b="0" i="0">
                <a:solidFill>
                  <a:srgbClr val="333D4B"/>
                </a:solidFill>
                <a:latin typeface="Calibri"/>
              </a:rPr>
              <a:t>—  Over-specifying format can suppress something you would have wanted to see</a:t>
            </a:r>
          </a:p>
          <a:p>
            <a:pPr>
              <a:lnSpc>
                <a:spcPct val="115000"/>
              </a:lnSpc>
              <a:spcAft>
                <a:spcPts val="1000"/>
              </a:spcAft>
            </a:pPr>
          </a:p>
          <a:p>
            <a:pPr>
              <a:lnSpc>
                <a:spcPct val="115000"/>
              </a:lnSpc>
              <a:spcAft>
                <a:spcPts val="1000"/>
              </a:spcAft>
            </a:pPr>
            <a:r>
              <a:rPr sz="1900" b="1" i="0">
                <a:solidFill>
                  <a:srgbClr val="1F2937"/>
                </a:solidFill>
                <a:latin typeface="Calibri"/>
              </a:rPr>
              <a:t>•  Practical guide:</a:t>
            </a:r>
          </a:p>
          <a:p>
            <a:pPr lvl="1">
              <a:lnSpc>
                <a:spcPct val="115000"/>
              </a:lnSpc>
              <a:spcAft>
                <a:spcPts val="500"/>
              </a:spcAft>
            </a:pPr>
            <a:r>
              <a:rPr sz="1600" b="0" i="0">
                <a:solidFill>
                  <a:srgbClr val="333D4B"/>
                </a:solidFill>
                <a:latin typeface="Calibri"/>
              </a:rPr>
              <a:t>—  Three or four targeted constraints beat fifteen. Add them as problems appear, rather than in advance.</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One Source, Several Audiences</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A common professional need: the same content, correctly pitched to different readers</a:t>
            </a:r>
          </a:p>
          <a:p>
            <a:pPr>
              <a:lnSpc>
                <a:spcPct val="115000"/>
              </a:lnSpc>
              <a:spcAft>
                <a:spcPts val="1000"/>
              </a:spcAft>
            </a:pPr>
          </a:p>
          <a:p>
            <a:pPr lvl="1">
              <a:lnSpc>
                <a:spcPct val="115000"/>
              </a:lnSpc>
              <a:spcAft>
                <a:spcPts val="500"/>
              </a:spcAft>
            </a:pPr>
            <a:r>
              <a:rPr sz="1600" b="0" i="0">
                <a:solidFill>
                  <a:srgbClr val="333D4B"/>
                </a:solidFill>
                <a:latin typeface="Calibri"/>
              </a:rPr>
              <a:t>—  A clinical finding → the notes, the referral letter, and the explanation to the family</a:t>
            </a:r>
          </a:p>
          <a:p>
            <a:pPr lvl="1">
              <a:lnSpc>
                <a:spcPct val="115000"/>
              </a:lnSpc>
              <a:spcAft>
                <a:spcPts val="500"/>
              </a:spcAft>
            </a:pPr>
            <a:r>
              <a:rPr sz="1600" b="0" i="0">
                <a:solidFill>
                  <a:srgbClr val="333D4B"/>
                </a:solidFill>
                <a:latin typeface="Calibri"/>
              </a:rPr>
              <a:t>—  A contract review → the memo to the partner and the email to the client</a:t>
            </a:r>
          </a:p>
          <a:p>
            <a:pPr lvl="1">
              <a:lnSpc>
                <a:spcPct val="115000"/>
              </a:lnSpc>
              <a:spcAft>
                <a:spcPts val="500"/>
              </a:spcAft>
            </a:pPr>
            <a:r>
              <a:rPr sz="1600" b="0" i="0">
                <a:solidFill>
                  <a:srgbClr val="333D4B"/>
                </a:solidFill>
                <a:latin typeface="Calibri"/>
              </a:rPr>
              <a:t>—  An exam result → the transcript, the report to parents, the feedback to the student</a:t>
            </a:r>
          </a:p>
          <a:p>
            <a:pPr>
              <a:lnSpc>
                <a:spcPct val="115000"/>
              </a:lnSpc>
              <a:spcAft>
                <a:spcPts val="1000"/>
              </a:spcAft>
            </a:pPr>
          </a:p>
          <a:p>
            <a:pPr>
              <a:lnSpc>
                <a:spcPct val="115000"/>
              </a:lnSpc>
              <a:spcAft>
                <a:spcPts val="1000"/>
              </a:spcAft>
            </a:pPr>
            <a:r>
              <a:rPr sz="1900" b="1" i="0">
                <a:solidFill>
                  <a:srgbClr val="1F2937"/>
                </a:solidFill>
                <a:latin typeface="Calibri"/>
              </a:rPr>
              <a:t>•  Do them as separate turns from the same source, not as one request.</a:t>
            </a:r>
          </a:p>
          <a:p>
            <a:pPr lvl="1">
              <a:lnSpc>
                <a:spcPct val="115000"/>
              </a:lnSpc>
              <a:spcAft>
                <a:spcPts val="500"/>
              </a:spcAft>
            </a:pPr>
            <a:r>
              <a:rPr sz="1600" b="0" i="0">
                <a:solidFill>
                  <a:srgbClr val="333D4B"/>
                </a:solidFill>
                <a:latin typeface="Calibri"/>
              </a:rPr>
              <a:t>—  One request produces three versions that drift towards each other</a:t>
            </a:r>
          </a:p>
          <a:p>
            <a:pPr lvl="1">
              <a:lnSpc>
                <a:spcPct val="115000"/>
              </a:lnSpc>
              <a:spcAft>
                <a:spcPts val="500"/>
              </a:spcAft>
            </a:pPr>
            <a:r>
              <a:rPr sz="1600" b="0" i="0">
                <a:solidFill>
                  <a:srgbClr val="333D4B"/>
                </a:solidFill>
                <a:latin typeface="Calibri"/>
              </a:rPr>
              <a:t>—  Separate turns keep each register clean — and let you check each before sending</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743200"/>
            <a:ext cx="10058400" cy="457200"/>
          </a:xfrm>
          <a:prstGeom prst="rect">
            <a:avLst/>
          </a:prstGeom>
          <a:noFill/>
        </p:spPr>
        <p:txBody>
          <a:bodyPr wrap="square" lIns="0" rIns="0" tIns="0" bIns="0">
            <a:spAutoFit/>
          </a:bodyPr>
          <a:lstStyle/>
          <a:p>
            <a:r>
              <a:rPr sz="1400" b="1" i="0">
                <a:solidFill>
                  <a:srgbClr val="0F766E"/>
                </a:solidFill>
                <a:latin typeface="Calibri"/>
              </a:rPr>
              <a:t>PART 4</a:t>
            </a:r>
          </a:p>
        </p:txBody>
      </p:sp>
      <p:sp>
        <p:nvSpPr>
          <p:cNvPr id="4" name="TextBox 3"/>
          <p:cNvSpPr txBox="1"/>
          <p:nvPr/>
        </p:nvSpPr>
        <p:spPr>
          <a:xfrm>
            <a:off x="1280160" y="3200400"/>
            <a:ext cx="10058400" cy="1097280"/>
          </a:xfrm>
          <a:prstGeom prst="rect">
            <a:avLst/>
          </a:prstGeom>
          <a:noFill/>
        </p:spPr>
        <p:txBody>
          <a:bodyPr wrap="square" lIns="0" rIns="0" tIns="0" bIns="0">
            <a:spAutoFit/>
          </a:bodyPr>
          <a:lstStyle/>
          <a:p>
            <a:r>
              <a:rPr sz="3400" b="1" i="0">
                <a:solidFill>
                  <a:srgbClr val="1F2937"/>
                </a:solidFill>
                <a:latin typeface="Calibri Light"/>
              </a:rPr>
              <a:t>Activity: The Tone Ladder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365760"/>
          </a:xfrm>
          <a:prstGeom prst="rect">
            <a:avLst/>
          </a:prstGeom>
          <a:noFill/>
        </p:spPr>
        <p:txBody>
          <a:bodyPr wrap="square" lIns="0" rIns="0" tIns="0" bIns="0">
            <a:spAutoFit/>
          </a:bodyPr>
          <a:lstStyle/>
          <a:p>
            <a:r>
              <a:rPr sz="1300" b="1" i="0">
                <a:solidFill>
                  <a:srgbClr val="B45309"/>
                </a:solidFill>
                <a:latin typeface="Calibri"/>
              </a:rPr>
              <a:t>IN-CLASS ACTIVITY  ·  10 MINUTES</a:t>
            </a:r>
          </a:p>
        </p:txBody>
      </p:sp>
      <p:sp>
        <p:nvSpPr>
          <p:cNvPr id="3" name="TextBox 2"/>
          <p:cNvSpPr txBox="1"/>
          <p:nvPr/>
        </p:nvSpPr>
        <p:spPr>
          <a:xfrm>
            <a:off x="777240" y="960120"/>
            <a:ext cx="10637215" cy="731520"/>
          </a:xfrm>
          <a:prstGeom prst="rect">
            <a:avLst/>
          </a:prstGeom>
          <a:noFill/>
        </p:spPr>
        <p:txBody>
          <a:bodyPr wrap="square" lIns="0" rIns="0" tIns="0" bIns="0">
            <a:spAutoFit/>
          </a:bodyPr>
          <a:lstStyle/>
          <a:p>
            <a:r>
              <a:rPr sz="3000" b="1" i="0">
                <a:solidFill>
                  <a:srgbClr val="1F2937"/>
                </a:solidFill>
                <a:latin typeface="Calibri Light"/>
              </a:rPr>
              <a:t>The Tone Ladder</a:t>
            </a:r>
          </a:p>
        </p:txBody>
      </p:sp>
      <p:sp>
        <p:nvSpPr>
          <p:cNvPr id="4" name="Rectangle 3"/>
          <p:cNvSpPr/>
          <p:nvPr/>
        </p:nvSpPr>
        <p:spPr>
          <a:xfrm>
            <a:off x="777240" y="1783080"/>
            <a:ext cx="1051560" cy="381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48840"/>
            <a:ext cx="10637215" cy="3931920"/>
          </a:xfrm>
          <a:prstGeom prst="rect">
            <a:avLst/>
          </a:prstGeom>
          <a:noFill/>
        </p:spPr>
        <p:txBody>
          <a:bodyPr wrap="square" lIns="0" rIns="0" tIns="0" bIns="0">
            <a:spAutoFit/>
          </a:bodyPr>
          <a:lstStyle/>
          <a:p>
            <a:pPr>
              <a:lnSpc>
                <a:spcPct val="115000"/>
              </a:lnSpc>
              <a:spcAft>
                <a:spcPts val="1000"/>
              </a:spcAft>
            </a:pPr>
            <a:r>
              <a:rPr sz="1900" b="1" i="0">
                <a:solidFill>
                  <a:srgbClr val="1F2937"/>
                </a:solidFill>
                <a:latin typeface="Calibri"/>
              </a:rPr>
              <a:t>•  The situation:</a:t>
            </a:r>
          </a:p>
          <a:p>
            <a:pPr lvl="1">
              <a:lnSpc>
                <a:spcPct val="115000"/>
              </a:lnSpc>
              <a:spcAft>
                <a:spcPts val="500"/>
              </a:spcAft>
            </a:pPr>
            <a:r>
              <a:rPr sz="1600" b="0" i="0">
                <a:solidFill>
                  <a:srgbClr val="333D4B"/>
                </a:solidFill>
                <a:latin typeface="Calibri"/>
              </a:rPr>
              <a:t>—  A patient has missed two appointments. You need to contact them.</a:t>
            </a:r>
          </a:p>
          <a:p>
            <a:pPr>
              <a:lnSpc>
                <a:spcPct val="115000"/>
              </a:lnSpc>
              <a:spcAft>
                <a:spcPts val="1000"/>
              </a:spcAft>
            </a:pPr>
          </a:p>
          <a:p>
            <a:pPr>
              <a:lnSpc>
                <a:spcPct val="115000"/>
              </a:lnSpc>
              <a:spcAft>
                <a:spcPts val="1000"/>
              </a:spcAft>
            </a:pPr>
            <a:r>
              <a:rPr sz="1900" b="1" i="0">
                <a:solidFill>
                  <a:srgbClr val="1F2937"/>
                </a:solidFill>
                <a:latin typeface="Calibri"/>
              </a:rPr>
              <a:t>•  1.  Write the same message at three points on a ladder.</a:t>
            </a:r>
          </a:p>
          <a:p>
            <a:pPr lvl="1">
              <a:lnSpc>
                <a:spcPct val="115000"/>
              </a:lnSpc>
              <a:spcAft>
                <a:spcPts val="500"/>
              </a:spcAft>
            </a:pPr>
            <a:r>
              <a:rPr sz="1600" b="0" i="0">
                <a:solidFill>
                  <a:srgbClr val="333D4B"/>
                </a:solidFill>
                <a:latin typeface="Calibri"/>
              </a:rPr>
              <a:t>—  Rung 1: warm and no pressure.  Rung 2: neutral and factual.  Rung 3: firm, with consequences.</a:t>
            </a:r>
          </a:p>
          <a:p>
            <a:pPr>
              <a:lnSpc>
                <a:spcPct val="115000"/>
              </a:lnSpc>
              <a:spcAft>
                <a:spcPts val="1000"/>
              </a:spcAft>
            </a:pPr>
            <a:r>
              <a:rPr sz="1900" b="1" i="0">
                <a:solidFill>
                  <a:srgbClr val="1F2937"/>
                </a:solidFill>
                <a:latin typeface="Calibri"/>
              </a:rPr>
              <a:t>•  2.  For each rung, write down the behaviours — not the adjectives.</a:t>
            </a:r>
          </a:p>
          <a:p>
            <a:pPr lvl="1">
              <a:lnSpc>
                <a:spcPct val="115000"/>
              </a:lnSpc>
              <a:spcAft>
                <a:spcPts val="500"/>
              </a:spcAft>
            </a:pPr>
            <a:r>
              <a:rPr sz="1600" b="0" i="0">
                <a:solidFill>
                  <a:srgbClr val="333D4B"/>
                </a:solidFill>
                <a:latin typeface="Calibri"/>
              </a:rPr>
              <a:t>—  What does the text actually do differently? Sentence length? Opening? What comes first?</a:t>
            </a:r>
          </a:p>
          <a:p>
            <a:pPr>
              <a:lnSpc>
                <a:spcPct val="115000"/>
              </a:lnSpc>
              <a:spcAft>
                <a:spcPts val="1000"/>
              </a:spcAft>
            </a:pPr>
            <a:r>
              <a:rPr sz="1900" b="1" i="0">
                <a:solidFill>
                  <a:srgbClr val="1F2937"/>
                </a:solidFill>
                <a:latin typeface="Calibri"/>
              </a:rPr>
              <a:t>•  3.  If you have a device, generate all three and compare with yours.</a:t>
            </a:r>
          </a:p>
        </p:txBody>
      </p:sp>
      <p:sp>
        <p:nvSpPr>
          <p:cNvPr id="6" name="TextBox 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7" name="TextBox 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What Moves Between the Rungs</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8408"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What comes first</a:t>
            </a:r>
          </a:p>
        </p:txBody>
      </p:sp>
      <p:sp>
        <p:nvSpPr>
          <p:cNvPr id="7" name="TextBox 6"/>
          <p:cNvSpPr txBox="1"/>
          <p:nvPr/>
        </p:nvSpPr>
        <p:spPr>
          <a:xfrm>
            <a:off x="978408"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Warm opens with the person — "we hope you are well". Firm opens with the fact — "you have missed two appointments". Ordering carries more tone than vocabulary does.</a:t>
            </a:r>
          </a:p>
        </p:txBody>
      </p:sp>
      <p:sp>
        <p:nvSpPr>
          <p:cNvPr id="8" name="Rounded Rectangle 7"/>
          <p:cNvSpPr/>
          <p:nvPr/>
        </p:nvSpPr>
        <p:spPr>
          <a:xfrm>
            <a:off x="4444898"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46066"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6066"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Who is the subject</a:t>
            </a:r>
          </a:p>
        </p:txBody>
      </p:sp>
      <p:sp>
        <p:nvSpPr>
          <p:cNvPr id="11" name="TextBox 10"/>
          <p:cNvSpPr txBox="1"/>
          <p:nvPr/>
        </p:nvSpPr>
        <p:spPr>
          <a:xfrm>
            <a:off x="4646066"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"We would love to see you" versus "You have not attended". Warm makes the institution the actor; firm makes the reader the actor. This single shift moves the tone further than any adjective.</a:t>
            </a:r>
          </a:p>
        </p:txBody>
      </p:sp>
      <p:sp>
        <p:nvSpPr>
          <p:cNvPr id="12" name="Rounded Rectangle 11"/>
          <p:cNvSpPr/>
          <p:nvPr/>
        </p:nvSpPr>
        <p:spPr>
          <a:xfrm>
            <a:off x="8112556"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13724"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3724"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What is left implicit</a:t>
            </a:r>
          </a:p>
        </p:txBody>
      </p:sp>
      <p:sp>
        <p:nvSpPr>
          <p:cNvPr id="15" name="TextBox 14"/>
          <p:cNvSpPr txBox="1"/>
          <p:nvPr/>
        </p:nvSpPr>
        <p:spPr>
          <a:xfrm>
            <a:off x="8313724"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Warm implies the consequence; firm states it. Neutral often states it once, without elaboration. Explicitness, not harshness, is what people read as firm.</a:t>
            </a:r>
          </a:p>
        </p:txBody>
      </p:sp>
      <p:sp>
        <p:nvSpPr>
          <p:cNvPr id="16" name="TextBox 1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17" name="TextBox 1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Wrap-Up</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"Professional" describes a feeling, not a text — specify field, tenor and mode instead</a:t>
            </a:r>
          </a:p>
          <a:p>
            <a:pPr>
              <a:lnSpc>
                <a:spcPct val="115000"/>
              </a:lnSpc>
              <a:spcAft>
                <a:spcPts val="1000"/>
              </a:spcAft>
            </a:pPr>
            <a:r>
              <a:rPr sz="1900" b="0" i="0">
                <a:solidFill>
                  <a:srgbClr val="1F2937"/>
                </a:solidFill>
                <a:latin typeface="Calibri"/>
              </a:rPr>
              <a:t>•  Translate tone adjectives into behaviours you can check</a:t>
            </a:r>
          </a:p>
          <a:p>
            <a:pPr>
              <a:lnSpc>
                <a:spcPct val="115000"/>
              </a:lnSpc>
              <a:spcAft>
                <a:spcPts val="1000"/>
              </a:spcAft>
            </a:pPr>
            <a:r>
              <a:rPr sz="1900" b="0" i="0">
                <a:solidFill>
                  <a:srgbClr val="1F2937"/>
                </a:solidFill>
                <a:latin typeface="Calibri"/>
              </a:rPr>
              <a:t>•  Reading level is the highest-value style setting in clinical and legal communication</a:t>
            </a:r>
          </a:p>
          <a:p>
            <a:pPr>
              <a:lnSpc>
                <a:spcPct val="115000"/>
              </a:lnSpc>
              <a:spcAft>
                <a:spcPts val="1000"/>
              </a:spcAft>
            </a:pPr>
            <a:r>
              <a:rPr sz="1900" b="1" i="0">
                <a:solidFill>
                  <a:srgbClr val="1F2937"/>
                </a:solidFill>
                <a:latin typeface="Calibri"/>
              </a:rPr>
              <a:t>•  Always give a fallback — make the honest answer the probable one</a:t>
            </a:r>
          </a:p>
          <a:p>
            <a:pPr>
              <a:lnSpc>
                <a:spcPct val="115000"/>
              </a:lnSpc>
              <a:spcAft>
                <a:spcPts val="1000"/>
              </a:spcAft>
            </a:pPr>
            <a:r>
              <a:rPr sz="1900" b="0" i="0">
                <a:solidFill>
                  <a:srgbClr val="1F2937"/>
                </a:solidFill>
                <a:latin typeface="Calibri"/>
              </a:rPr>
              <a:t>•  Negative constraints work when they are specific and countable</a:t>
            </a:r>
          </a:p>
          <a:p>
            <a:pPr>
              <a:lnSpc>
                <a:spcPct val="115000"/>
              </a:lnSpc>
              <a:spcAft>
                <a:spcPts val="1000"/>
              </a:spcAft>
            </a:pPr>
          </a:p>
          <a:p>
            <a:pPr>
              <a:lnSpc>
                <a:spcPct val="115000"/>
              </a:lnSpc>
              <a:spcAft>
                <a:spcPts val="1000"/>
              </a:spcAft>
            </a:pPr>
            <a:r>
              <a:rPr sz="1900" b="1" i="0">
                <a:solidFill>
                  <a:srgbClr val="1F2937"/>
                </a:solidFill>
                <a:latin typeface="Calibri"/>
              </a:rPr>
              <a:t>•  Next week:</a:t>
            </a:r>
          </a:p>
          <a:p>
            <a:pPr lvl="1">
              <a:lnSpc>
                <a:spcPct val="115000"/>
              </a:lnSpc>
              <a:spcAft>
                <a:spcPts val="500"/>
              </a:spcAft>
            </a:pPr>
            <a:r>
              <a:rPr sz="1600" b="0" i="0">
                <a:solidFill>
                  <a:srgbClr val="333D4B"/>
                </a:solidFill>
                <a:latin typeface="Calibri"/>
              </a:rPr>
              <a:t>—  Building Your First Tool Without Code — you make something that runs</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5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241280" cy="914400"/>
          </a:xfrm>
          <a:prstGeom prst="rect">
            <a:avLst/>
          </a:prstGeom>
          <a:noFill/>
        </p:spPr>
        <p:txBody>
          <a:bodyPr wrap="square" lIns="0" rIns="0" tIns="0" bIns="0">
            <a:spAutoFit/>
          </a:bodyPr>
          <a:lstStyle/>
          <a:p>
            <a:r>
              <a:rPr sz="4400" b="1" i="0">
                <a:solidFill>
                  <a:srgbClr val="FFFFFF"/>
                </a:solidFill>
                <a:latin typeface="Calibri Light"/>
              </a:rPr>
              <a:t>Questions?</a:t>
            </a:r>
          </a:p>
        </p:txBody>
      </p:sp>
      <p:sp>
        <p:nvSpPr>
          <p:cNvPr id="4" name="Rectangle 3"/>
          <p:cNvSpPr/>
          <p:nvPr/>
        </p:nvSpPr>
        <p:spPr>
          <a:xfrm>
            <a:off x="777240" y="3566160"/>
            <a:ext cx="1051560" cy="50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931920"/>
            <a:ext cx="10241280" cy="914400"/>
          </a:xfrm>
          <a:prstGeom prst="rect">
            <a:avLst/>
          </a:prstGeom>
          <a:noFill/>
        </p:spPr>
        <p:txBody>
          <a:bodyPr wrap="square" lIns="0" rIns="0" tIns="0" bIns="0">
            <a:spAutoFit/>
          </a:bodyPr>
          <a:lstStyle/>
          <a:p>
            <a:pPr>
              <a:spcAft>
                <a:spcPts val="500"/>
              </a:spcAft>
            </a:pPr>
            <a:r>
              <a:rPr sz="1700" b="0" i="0">
                <a:solidFill>
                  <a:srgbClr val="FFFFFF"/>
                </a:solidFill>
                <a:latin typeface="Calibri"/>
              </a:rPr>
              <a:t>Mehmet Ali Akyol, PhD</a:t>
            </a:r>
          </a:p>
          <a:p>
            <a:pPr>
              <a:spcAft>
                <a:spcPts val="500"/>
              </a:spcAft>
            </a:pPr>
            <a:r>
              <a:rPr sz="1700" b="0" i="0">
                <a:solidFill>
                  <a:srgbClr val="C3D0DB"/>
                </a:solidFill>
                <a:latin typeface="Calibri"/>
              </a:rPr>
              <a:t>mehmetali.akyol@gmail.com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