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back. This is the last of the foundation weeks — from next week you start building</a:t>
            </a:r>
          </a:p>
          <a:p>
            <a:r>
              <a:t>things.</a:t>
            </a:r>
          </a:p>
          <a:p/>
          <a:p>
            <a:r>
              <a:t>Last week we did four levers, and Format was one of them. Today we spend the whole session</a:t>
            </a:r>
          </a:p>
          <a:p>
            <a:r>
              <a:t>on the third lever plus its neighbours, because it deserves it.</a:t>
            </a:r>
          </a:p>
          <a:p/>
          <a:p>
            <a:r>
              <a:t>Here's why. In professional life, most documents don't fail because the facts are wrong.</a:t>
            </a:r>
          </a:p>
          <a:p>
            <a:r>
              <a:t>They fail because the register is wrong. The letter to the family reads like a discharge</a:t>
            </a:r>
          </a:p>
          <a:p>
            <a:r>
              <a:t>summary. The message to the board reads like a message to a colleague. The patient</a:t>
            </a:r>
          </a:p>
          <a:p>
            <a:r>
              <a:t>information leaflet is written at a level no patient can read.</a:t>
            </a:r>
          </a:p>
          <a:p/>
          <a:p>
            <a:r>
              <a:t>Those failures are invisible to the person who wrote them, because the writer knows what</a:t>
            </a:r>
          </a:p>
          <a:p>
            <a:r>
              <a:t>they meant. And they're the difference between work that gets used and work that gets</a:t>
            </a:r>
          </a:p>
          <a:p>
            <a:r>
              <a:t>rewritten by somebody else.</a:t>
            </a:r>
          </a:p>
          <a:p/>
          <a:p>
            <a:r>
              <a:t>These systems are unusually good at this — better than they are at facts, honestly, because</a:t>
            </a:r>
          </a:p>
          <a:p>
            <a:r>
              <a:t>register is a property of language and facts are a property of the world. This is a week</a:t>
            </a:r>
          </a:p>
          <a:p>
            <a:r>
              <a:t>where you get a lot of value for very little 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we're going.</a:t>
            </a:r>
          </a:p>
          <a:p/>
          <a:p>
            <a:r>
              <a:t>First, why vague style instructions fail. "Be professional" is the single most common style</a:t>
            </a:r>
          </a:p>
          <a:p>
            <a:r>
              <a:t>instruction and one of the least effective, and I want to show you exactly why.</a:t>
            </a:r>
          </a:p>
          <a:p/>
          <a:p>
            <a:r>
              <a:t>Then three dimensions of register — this is borrowed from linguistics and it gives you</a:t>
            </a:r>
          </a:p>
          <a:p>
            <a:r>
              <a:t>vocabulary for describing tone precisely instead of gesturing at it.</a:t>
            </a:r>
          </a:p>
          <a:p/>
          <a:p>
            <a:r>
              <a:t>Then reading level, which matters more in healthcare and law than in any other field</a:t>
            </a:r>
          </a:p>
          <a:p>
            <a:r>
              <a:t>represented in this room, and which is genuinely measurable.</a:t>
            </a:r>
          </a:p>
          <a:p/>
          <a:p>
            <a:r>
              <a:t>Then tone as observable behaviour rather than adjectives — the single most useful reframe in</a:t>
            </a:r>
          </a:p>
          <a:p>
            <a:r>
              <a:t>this session.</a:t>
            </a:r>
          </a:p>
          <a:p/>
          <a:p>
            <a:r>
              <a:t>Then structural contracts: how to specify output you can actually use downstream.</a:t>
            </a:r>
          </a:p>
          <a:p/>
          <a:p>
            <a:r>
              <a:t>Then negative constraints, which are underrated.</a:t>
            </a:r>
          </a:p>
          <a:p/>
          <a:p>
            <a:r>
              <a:t>Then the tone ladder activity, which works with or without a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one. Let's start with the instruction everybody gives and nobody examines.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"Professional" describes a feeling. It does not describe a text.</a:t>
            </a:r>
          </a:p>
          <a:p/>
          <a:p>
            <a:r>
              <a:t>Think about what happens when you give that instruction to a person. A lawyer's</a:t>
            </a:r>
          </a:p>
          <a:p>
            <a:r>
              <a:t>professional is formal, hedged, precise, and dense. A nurse's professional is warm, clear,</a:t>
            </a:r>
          </a:p>
          <a:p>
            <a:r>
              <a:t>and direct. A consultant's professional has bullet points and confidence. All three are</a:t>
            </a:r>
          </a:p>
          <a:p>
            <a:r>
              <a:t>correct. All three are different documents.</a:t>
            </a:r>
          </a:p>
          <a:p/>
          <a:p>
            <a:r>
              <a:t>Now give it to a system that predicts likely continuations. It has read all three, and</a:t>
            </a:r>
          </a:p>
          <a:p>
            <a:r>
              <a:t>thousands of other things called professional. The instruction doesn't narrow much, so you</a:t>
            </a:r>
          </a:p>
          <a:p>
            <a:r>
              <a:t>get something averaged — and from last week, you know there's randomness in the selection</a:t>
            </a:r>
          </a:p>
          <a:p>
            <a:r>
              <a:t>too. So two runs give you two different answers, and neither is wrong, and you can't say why</a:t>
            </a:r>
          </a:p>
          <a:p>
            <a:r>
              <a:t>you don't like either.</a:t>
            </a:r>
          </a:p>
          <a:p/>
          <a:p>
            <a:r>
              <a:t>This is the under-specification problem from last week, applied to style rather than</a:t>
            </a:r>
          </a:p>
          <a:p>
            <a:r>
              <a:t>content. Same diagnosis, same cure: work out what you actually meant and say that instead.</a:t>
            </a:r>
          </a:p>
          <a:p/>
          <a:p>
            <a:r>
              <a:t>The rest of today is the vocabulary for saying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comes from linguistics and it's the most useful thing in today's session. Three</a:t>
            </a:r>
          </a:p>
          <a:p>
            <a:r>
              <a:t>dimensions. Any register is a point in this space.</a:t>
            </a:r>
          </a:p>
          <a:p/>
          <a:p>
            <a:r>
              <a:t>Field: the subject and its vocabulary. How much specialist terminology, at what density.</a:t>
            </a:r>
          </a:p>
          <a:p>
            <a:r>
              <a:t>"Myocardial infarction" versus "heart attack." "Force majeure" versus "events outside</a:t>
            </a:r>
          </a:p>
          <a:p>
            <a:r>
              <a:t>anyone's control." Same referent, different field setting.</a:t>
            </a:r>
          </a:p>
          <a:p/>
          <a:p>
            <a:r>
              <a:t>Tenor: the relationship between writer and reader. Social distance, and who has standing to</a:t>
            </a:r>
          </a:p>
          <a:p>
            <a:r>
              <a:t>tell whom what to do. Look at the three examples: "you must submit," "I'd recommend," "would</a:t>
            </a:r>
          </a:p>
          <a:p>
            <a:r>
              <a:t>it be possible." Identical information content. Three completely different relationships,</a:t>
            </a:r>
          </a:p>
          <a:p>
            <a:r>
              <a:t>and using the wrong one is how people cause offence without noticing.</a:t>
            </a:r>
          </a:p>
          <a:p/>
          <a:p>
            <a:r>
              <a:t>Mode: the channel. Written to be read, or written to be spoken aloud? Planned or</a:t>
            </a:r>
          </a:p>
          <a:p>
            <a:r>
              <a:t>spontaneous? A policy document, an email, a text message and a script for a video are</a:t>
            </a:r>
          </a:p>
          <a:p>
            <a:r>
              <a:t>different modes even when the content is identical.</a:t>
            </a:r>
          </a:p>
          <a:p/>
          <a:p>
            <a:r>
              <a:t>Now — here's why this is worth learning. Instead of "be professional," you can now say:</a:t>
            </a:r>
          </a:p>
          <a:p>
            <a:r>
              <a:t>technical field, peer tenor, written-planned mode. That specifies something. It's</a:t>
            </a:r>
          </a:p>
          <a:p>
            <a:r>
              <a:t>reproducible. And you can change one dimension at a time and see what happens, which is the</a:t>
            </a:r>
          </a:p>
          <a:p>
            <a:r>
              <a:t>method from last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difference in practice.</a:t>
            </a:r>
          </a:p>
          <a:p/>
          <a:p>
            <a:r>
              <a:t>Instead of "make it professional," "make it friendly," "make it more formal" — three</a:t>
            </a:r>
          </a:p>
          <a:p>
            <a:r>
              <a:t>instructions that could mean almost anything —</a:t>
            </a:r>
          </a:p>
          <a:p/>
          <a:p>
            <a:r>
              <a:t>Say what you actually want. Look at the three examples.</a:t>
            </a:r>
          </a:p>
          <a:p/>
          <a:p>
            <a:r>
              <a:t>First: everyday vocabulary, no medical terms without a plain-language gloss, warm but not</a:t>
            </a:r>
          </a:p>
          <a:p>
            <a:r>
              <a:t>casual, written to be read aloud to a patient. Field, tenor, and mode, all specified. And</a:t>
            </a:r>
          </a:p>
          <a:p>
            <a:r>
              <a:t>notice "written to be read aloud" — that's a mode instruction that changes sentence length,</a:t>
            </a:r>
          </a:p>
          <a:p>
            <a:r>
              <a:t>punctuation, and rhythm.</a:t>
            </a:r>
          </a:p>
          <a:p/>
          <a:p>
            <a:r>
              <a:t>Second: full legal terminology, addressed to opposing counsel as an equal, formal written</a:t>
            </a:r>
          </a:p>
          <a:p>
            <a:r>
              <a:t>register, no contractions. Notice "as an equal" — that's tenor, and it's the difference</a:t>
            </a:r>
          </a:p>
          <a:p>
            <a:r>
              <a:t>between a letter that reads as confident and one that reads as either deferential or</a:t>
            </a:r>
          </a:p>
          <a:p>
            <a:r>
              <a:t>aggressive.</a:t>
            </a:r>
          </a:p>
          <a:p/>
          <a:p>
            <a:r>
              <a:t>Third: plain language, you are advising someone senior to you, short email, no preamble.</a:t>
            </a:r>
          </a:p>
          <a:p>
            <a:r>
              <a:t>That tenor setting — advising upward — is genuinely hard to describe any other way, and it</a:t>
            </a:r>
          </a:p>
          <a:p>
            <a:r>
              <a:t>completely changes the output.</a:t>
            </a:r>
          </a:p>
          <a:p/>
          <a:p>
            <a:r>
              <a:t>Last line, and this is the practical payoff. Yes, it's longer to write. You write it once.</a:t>
            </a:r>
          </a:p>
          <a:p>
            <a:r>
              <a:t>These become templates you keep and reuse, and after a month you have a small library of</a:t>
            </a:r>
          </a:p>
          <a:p>
            <a:r>
              <a:t>register specifications for the situations you actually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level. In this room, I'd argue this is the most consequential style setting there</a:t>
            </a:r>
          </a:p>
          <a:p>
            <a:r>
              <a:t>is.</a:t>
            </a:r>
          </a:p>
          <a:p/>
          <a:p>
            <a:r>
              <a:t>Patient information routinely fails because it's written at the level of the person who</a:t>
            </a:r>
          </a:p>
          <a:p>
            <a:r>
              <a:t>wrote it. So do consent forms — where it has genuine ethical weight, because consent that</a:t>
            </a:r>
          </a:p>
          <a:p>
            <a:r>
              <a:t>isn't understood isn't consent. So do contracts, and letters to families.</a:t>
            </a:r>
          </a:p>
          <a:p/>
          <a:p>
            <a:r>
              <a:t>Three ways to specify it.</a:t>
            </a:r>
          </a:p>
          <a:p/>
          <a:p>
            <a:r>
              <a:t>By audience: a reader who left school at fifteen, a first-year undergraduate, a parent with</a:t>
            </a:r>
          </a:p>
          <a:p>
            <a:r>
              <a:t>no medical background. Intuitive and usually enough.</a:t>
            </a:r>
          </a:p>
          <a:p/>
          <a:p>
            <a:r>
              <a:t>By language level: CEFR A2, B1, B2. Precise, widely understood, and useful when your readers</a:t>
            </a:r>
          </a:p>
          <a:p>
            <a:r>
              <a:t>are reading in a second language — which matters here.</a:t>
            </a:r>
          </a:p>
          <a:p/>
          <a:p>
            <a:r>
              <a:t>By constraint: sentences under fifteen words, no word longer than three syllables where a</a:t>
            </a:r>
          </a:p>
          <a:p>
            <a:r>
              <a:t>shorter one exists. Blunt, but it works, and it's checkable.</a:t>
            </a:r>
          </a:p>
          <a:p/>
          <a:p>
            <a:r>
              <a:t>And the bold line, which is the part people skip: verify it. Ask the model to list every word</a:t>
            </a:r>
          </a:p>
          <a:p>
            <a:r>
              <a:t>in its own output that the target reader might not know. It's surprisingly good at this, and</a:t>
            </a:r>
          </a:p>
          <a:p>
            <a:r>
              <a:t>it turns an invisible property into a list you can look at.</a:t>
            </a:r>
          </a:p>
          <a:p/>
          <a:p>
            <a:r>
              <a:t>That's the same move as last week — make the basis visible so you can check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two. The single most useful reframe in this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reframe. An adjective is a label for a feeling. A behaviour is something the text</a:t>
            </a:r>
          </a:p>
          <a:p>
            <a:r>
              <a:t>actually does — and therefore something you can check.</a:t>
            </a:r>
          </a:p>
          <a:p/>
          <a:p>
            <a:r>
              <a:t>Warm. What does warm text do? It uses the reader's name. It acknowledges their situation.</a:t>
            </a:r>
          </a:p>
          <a:p>
            <a:r>
              <a:t>It thanks them for something specific rather than generically. Now "warm" is three</a:t>
            </a:r>
          </a:p>
          <a:p>
            <a:r>
              <a:t>instructions instead of one vague one, and you can look at the output and see whether it did</a:t>
            </a:r>
          </a:p>
          <a:p>
            <a:r>
              <a:t>them.</a:t>
            </a:r>
          </a:p>
          <a:p/>
          <a:p>
            <a:r>
              <a:t>Urgent. Short sentences. The deadline in the first line, not the fourth paragraph. The</a:t>
            </a:r>
          </a:p>
          <a:p>
            <a:r>
              <a:t>consequence of inaction stated plainly. That's what urgency is made of.</a:t>
            </a:r>
          </a:p>
          <a:p/>
          <a:p>
            <a:r>
              <a:t>Neutral. No evaluative adjectives. No exclamation marks. Attribute claims rather than</a:t>
            </a:r>
          </a:p>
          <a:p>
            <a:r>
              <a:t>asserting them — "the report states" rather than "it is clear that."</a:t>
            </a:r>
          </a:p>
          <a:p/>
          <a:p>
            <a:r>
              <a:t>Reassuring, which is the hardest and the most needed in clinical communication. Say what is</a:t>
            </a:r>
          </a:p>
          <a:p>
            <a:r>
              <a:t>known before what is uncertain — that ordering alone does most of the work. Name the next</a:t>
            </a:r>
          </a:p>
          <a:p>
            <a:r>
              <a:t>concrete step, because uncertainty is more tolerable when there's an action. And avoid</a:t>
            </a:r>
          </a:p>
          <a:p>
            <a:r>
              <a:t>absolute promises, because reassurance that turns out to be false is worse than none.</a:t>
            </a:r>
          </a:p>
          <a:p/>
          <a:p>
            <a:r>
              <a:t>Do this translation once for the tones you use often, and you'll never write "make it warmer"</a:t>
            </a:r>
          </a:p>
          <a:p>
            <a:r>
              <a:t>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house style specifically — the way your institution actually writes — showing beats</a:t>
            </a:r>
          </a:p>
          <a:p>
            <a:r>
              <a:t>describing, exactly as we said last week about examples generally.</a:t>
            </a:r>
          </a:p>
          <a:p/>
          <a:p>
            <a:r>
              <a:t>Paste two or three short pieces of approved writing and say "match this voice." It will pick</a:t>
            </a:r>
          </a:p>
          <a:p>
            <a:r>
              <a:t>up sentence length, level of formality, how you open, how you close, how much you hedge.</a:t>
            </a:r>
          </a:p>
          <a:p>
            <a:r>
              <a:t>Those are precisely the features nobody can articulate but everyone recognises when they're</a:t>
            </a:r>
          </a:p>
          <a:p>
            <a:r>
              <a:t>wrong.</a:t>
            </a:r>
          </a:p>
          <a:p/>
          <a:p>
            <a:r>
              <a:t>Now the useful trick in bold. Ask it: before writing, list the five features of this voice</a:t>
            </a:r>
          </a:p>
          <a:p>
            <a:r>
              <a:t>you intend to reproduce.</a:t>
            </a:r>
          </a:p>
          <a:p/>
          <a:p>
            <a:r>
              <a:t>Two benefits. You can check whether it identified the right things before it writes anything</a:t>
            </a:r>
          </a:p>
          <a:p>
            <a:r>
              <a:t>— which is much cheaper than reading a finished draft and feeling vaguely dissatisfied. And</a:t>
            </a:r>
          </a:p>
          <a:p>
            <a:r>
              <a:t>you end up with a written description of your own house style, which many institutions have</a:t>
            </a:r>
          </a:p>
          <a:p>
            <a:r>
              <a:t>never actually produced. I've seen that output become a real style guide.</a:t>
            </a:r>
          </a:p>
          <a:p/>
          <a:p>
            <a:r>
              <a:t>And the last line, which by now you can predict: use approved published material. Do not</a:t>
            </a:r>
          </a:p>
          <a:p>
            <a:r>
              <a:t>paste confidential documents in order to demonstrate tone. Your annual report is fine. A</a:t>
            </a:r>
          </a:p>
          <a:p>
            <a:r>
              <a:t>client letter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three. Format, but specified tightly enough to rely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structural contract is a description of the output precise enough that you could check</a:t>
            </a:r>
          </a:p>
          <a:p>
            <a:r>
              <a:t>compliance mechanically — someone else could look at the result and say yes or no, without</a:t>
            </a:r>
          </a:p>
          <a:p>
            <a:r>
              <a:t>judgment.</a:t>
            </a:r>
          </a:p>
          <a:p/>
          <a:p>
            <a:r>
              <a:t>Named sections in a fixed order. A table with named columns and stated types — date as</a:t>
            </a:r>
          </a:p>
          <a:p>
            <a:r>
              <a:t>day-month-year, risk as one of low, medium, high. Hard limits: exactly three bullets, under</a:t>
            </a:r>
          </a:p>
          <a:p>
            <a:r>
              <a:t>400 words, one sentence. And a stated fallback.</a:t>
            </a:r>
          </a:p>
          <a:p/>
          <a:p>
            <a:r>
              <a:t>The fallback is the important one and it's the one everybody forgets. Read the bold line,</a:t>
            </a:r>
          </a:p>
          <a:p>
            <a:r>
              <a:t>and then let me explain why it matters so much.</a:t>
            </a:r>
          </a:p>
          <a:p/>
          <a:p>
            <a:r>
              <a:t>If you ask for a table with a "deadline" column and the source document doesn't state a</a:t>
            </a:r>
          </a:p>
          <a:p>
            <a:r>
              <a:t>deadline, what happens? The model has a column to fill. Empty cells are unlikely</a:t>
            </a:r>
          </a:p>
          <a:p>
            <a:r>
              <a:t>continuations — tables in its training data are mostly full. So it will tend to produce</a:t>
            </a:r>
          </a:p>
          <a:p>
            <a:r>
              <a:t>something plausible.</a:t>
            </a:r>
          </a:p>
          <a:p/>
          <a:p>
            <a:r>
              <a:t>Unless you give it somewhere else to go. "If a field cannot be filled from the source, write</a:t>
            </a:r>
          </a:p>
          <a:p>
            <a:r>
              <a:t>NOT STATED." Now there's a likely, legitimate continuation for the missing case.</a:t>
            </a:r>
          </a:p>
          <a:p/>
          <a:p>
            <a:r>
              <a:t>That's the general principle, and it's the same one from the legal example last week: give</a:t>
            </a:r>
          </a:p>
          <a:p>
            <a:r>
              <a:t>the model a designated place to put the absent or uncertain material, and it will usually</a:t>
            </a:r>
          </a:p>
          <a:p>
            <a:r>
              <a:t>use it. Without one, the gap gets filled.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draw that, because it's one of the most useful ideas in the whole course.</a:t>
            </a:r>
          </a:p>
          <a:p/>
          <a:p>
            <a:r>
              <a:t>You ask for a table with columns: obligation, clause, deadline. The source document doesn't</a:t>
            </a:r>
          </a:p>
          <a:p>
            <a:r>
              <a:t>state a deadline for one of the rows. Without a fallback, an empty cell is an unlikely</a:t>
            </a:r>
          </a:p>
          <a:p>
            <a:r>
              <a:t>continuation — the model has read a great many tables, and they're mostly full. So something</a:t>
            </a:r>
          </a:p>
          <a:p>
            <a:r>
              <a:t>plausible appears in the gap.</a:t>
            </a:r>
          </a:p>
          <a:p/>
          <a:p>
            <a:r>
              <a:t>With a fallback — "if not stated, write NOT STATED" — you've made an honest answer into a</a:t>
            </a:r>
          </a:p>
          <a:p>
            <a:r>
              <a:t>likely one.</a:t>
            </a:r>
          </a:p>
          <a:p/>
          <a:p>
            <a:r>
              <a:t>And read the caption, because it generalises far beyond tables.</a:t>
            </a:r>
          </a:p>
          <a:p/>
          <a:p>
            <a:r>
              <a:t>You are not appealing to the model's honesty. It doesn't have any, in the sense you'd mean</a:t>
            </a:r>
          </a:p>
          <a:p>
            <a:r>
              <a:t>that word about a person. You are making the honest answer the probable one.</a:t>
            </a:r>
          </a:p>
          <a:p/>
          <a:p>
            <a:r>
              <a:t>That is the entire design philosophy of everything we do from week seven onwards. You don't</a:t>
            </a:r>
          </a:p>
          <a:p>
            <a:r>
              <a:t>ask the system to be truthful. You arrange the situation so that truthful output is what the</a:t>
            </a:r>
          </a:p>
          <a:p>
            <a:r>
              <a:t>mechanism produces. That's a much more reliable strategy than trust, and it follows directly</a:t>
            </a:r>
          </a:p>
          <a:p>
            <a:r>
              <a:t>from week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Negative constraints. Saying what not to do, which is often more effective than adding more</a:t>
            </a:r>
          </a:p>
          <a:p>
            <a:r>
              <a:t>of what to do.</a:t>
            </a:r>
          </a:p>
          <a:p/>
          <a:p>
            <a:r>
              <a:t>Four examples worth stealing.</a:t>
            </a:r>
          </a:p>
          <a:p/>
          <a:p>
            <a:r>
              <a:t>"Do not add any recommendation that is not in the source document." This is a safety</a:t>
            </a:r>
          </a:p>
          <a:p>
            <a:r>
              <a:t>constraint and I'd use it whenever the output could be acted on. Models asked to improve</a:t>
            </a:r>
          </a:p>
          <a:p>
            <a:r>
              <a:t>instructions tend to helpfully add advice.</a:t>
            </a:r>
          </a:p>
          <a:p/>
          <a:p>
            <a:r>
              <a:t>"Do not cite any law, regulation or case. If one is relevant, say so without naming it."</a:t>
            </a:r>
          </a:p>
          <a:p>
            <a:r>
              <a:t>This one is precisely calibrated to what you learned in week three — the format of a</a:t>
            </a:r>
          </a:p>
          <a:p>
            <a:r>
              <a:t>citation is easy to imitate, the content is not. So forbid the citation and keep the signal.</a:t>
            </a:r>
          </a:p>
          <a:p/>
          <a:p>
            <a:r>
              <a:t>"Do not use headings or bullet points" — when you want prose and keep getting structure.</a:t>
            </a:r>
          </a:p>
          <a:p/>
          <a:p>
            <a:r>
              <a:t>"Do not soften the findings. Report them as stated." Models trained to be helpful and</a:t>
            </a:r>
          </a:p>
          <a:p>
            <a:r>
              <a:t>agreeable tend to smooth uncomfortable material.</a:t>
            </a:r>
          </a:p>
          <a:p/>
          <a:p>
            <a:r>
              <a:t>And the bold line: negative constraints work when they're specific and checkable. "Don't be</a:t>
            </a:r>
          </a:p>
          <a:p>
            <a:r>
              <a:t>boring" isn't a constraint, it's a complaint. "No sentence longer than twenty words" is a</a:t>
            </a:r>
          </a:p>
          <a:p>
            <a:r>
              <a:t>constraint — you can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a need that comes up constantly in professional work: the same content, correctly</a:t>
            </a:r>
          </a:p>
          <a:p>
            <a:r>
              <a:t>pitched to different readers.</a:t>
            </a:r>
          </a:p>
          <a:p/>
          <a:p>
            <a:r>
              <a:t>A clinical finding goes into the notes, into a referral letter, and into an explanation for</a:t>
            </a:r>
          </a:p>
          <a:p>
            <a:r>
              <a:t>the family. Three registers. Three vocabularies. Same facts.</a:t>
            </a:r>
          </a:p>
          <a:p/>
          <a:p>
            <a:r>
              <a:t>A contract review becomes a memo to the partner and an email to the client. An exam result</a:t>
            </a:r>
          </a:p>
          <a:p>
            <a:r>
              <a:t>becomes a transcript entry, a report to parents, and feedback to the student.</a:t>
            </a:r>
          </a:p>
          <a:p/>
          <a:p>
            <a:r>
              <a:t>The bold line is the practical advice: do these as separate turns from the same source, not</a:t>
            </a:r>
          </a:p>
          <a:p>
            <a:r>
              <a:t>as one request.</a:t>
            </a:r>
          </a:p>
          <a:p/>
          <a:p>
            <a:r>
              <a:t>Why? Two reasons. If you ask for all three at once, they drift towards each other — the</a:t>
            </a:r>
          </a:p>
          <a:p>
            <a:r>
              <a:t>model is producing one response, and there's a pull toward internal consistency of voice</a:t>
            </a:r>
          </a:p>
          <a:p>
            <a:r>
              <a:t>across it. You get three versions that are more similar than they should be, which defeats</a:t>
            </a:r>
          </a:p>
          <a:p>
            <a:r>
              <a:t>the point.</a:t>
            </a:r>
          </a:p>
          <a:p/>
          <a:p>
            <a:r>
              <a:t>And separate turns let you check each one before it goes anywhere. The family explanation</a:t>
            </a:r>
          </a:p>
          <a:p>
            <a:r>
              <a:t>needs different scrutiny from the file note, and you want to give it that scrutiny</a:t>
            </a:r>
          </a:p>
          <a:p>
            <a:r>
              <a:t>separately.</a:t>
            </a:r>
          </a:p>
          <a:p/>
          <a:p>
            <a:r>
              <a:t>This, incidentally, is one of the highest-value uses of these tools in professional practice.</a:t>
            </a:r>
          </a:p>
          <a:p>
            <a:r>
              <a:t>Not writing things from nothing — re-pitching things you already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four. Ten minutes. This one works fine with no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minutes. The situation: a patient has missed two appointments and you need to contact</a:t>
            </a:r>
          </a:p>
          <a:p>
            <a:r>
              <a:t>them. This is a real task, and getting it wrong in either direction has real consequences —</a:t>
            </a:r>
          </a:p>
          <a:p>
            <a:r>
              <a:t>too soft and they miss a third, too hard and they disengage entirely.</a:t>
            </a:r>
          </a:p>
          <a:p/>
          <a:p>
            <a:r>
              <a:t>Step one. Write the same message at three points on a ladder. Rung one: warm, no pressure.</a:t>
            </a:r>
          </a:p>
          <a:p>
            <a:r>
              <a:t>Rung two: neutral and factual. Rung three: firm, with consequences stated.</a:t>
            </a:r>
          </a:p>
          <a:p/>
          <a:p>
            <a:r>
              <a:t>Step two, and this is the actual learning. For each rung, write down the behaviours, not the</a:t>
            </a:r>
          </a:p>
          <a:p>
            <a:r>
              <a:t>adjectives. What does the text do differently? Sentence length? How it opens? What</a:t>
            </a:r>
          </a:p>
          <a:p>
            <a:r>
              <a:t>information comes first? Whether it asks or tells?</a:t>
            </a:r>
          </a:p>
          <a:p/>
          <a:p>
            <a:r>
              <a:t>Step three. If you have a device, generate all three and compare them with yours — you'll</a:t>
            </a:r>
          </a:p>
          <a:p>
            <a:r>
              <a:t>often find it makes a choice you didn't consider.</a:t>
            </a:r>
          </a:p>
          <a:p/>
          <a:p>
            <a:r>
              <a:t>[If nobody has a device this still works completely; the comparison is on the next slide.</a:t>
            </a:r>
          </a:p>
          <a:p>
            <a:r>
              <a:t>Two minutes of writing, then move 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what actually moves between the rungs, and none of it is the words people expect.</a:t>
            </a:r>
          </a:p>
          <a:p/>
          <a:p>
            <a:r>
              <a:t>What comes first. The warm version opens with the person — "we hope you're well." The firm</a:t>
            </a:r>
          </a:p>
          <a:p>
            <a:r>
              <a:t>version opens with the fact — "you have missed two appointments." Ordering carries more tone</a:t>
            </a:r>
          </a:p>
          <a:p>
            <a:r>
              <a:t>than vocabulary does. You can write a firm message in gentle words if you lead with the</a:t>
            </a:r>
          </a:p>
          <a:p>
            <a:r>
              <a:t>problem, and a soft message in blunt words if you lead with the person.</a:t>
            </a:r>
          </a:p>
          <a:p/>
          <a:p>
            <a:r>
              <a:t>Who is the subject. "We would love to see you" versus "You have not attended." The warm</a:t>
            </a:r>
          </a:p>
          <a:p>
            <a:r>
              <a:t>version makes the institution the actor; the firm version makes the reader the actor. This</a:t>
            </a:r>
          </a:p>
          <a:p>
            <a:r>
              <a:t>single grammatical shift moves the tone further than any adjective you could add. Watch for</a:t>
            </a:r>
          </a:p>
          <a:p>
            <a:r>
              <a:t>it in your own writing — it's how letters accidentally become accusatory.</a:t>
            </a:r>
          </a:p>
          <a:p/>
          <a:p>
            <a:r>
              <a:t>And what is left implicit. The warm version implies the consequence and trusts you to infer</a:t>
            </a:r>
          </a:p>
          <a:p>
            <a:r>
              <a:t>it. The firm version states it. Neutral usually states it once, without elaboration.</a:t>
            </a:r>
          </a:p>
          <a:p/>
          <a:p>
            <a:r>
              <a:t>That last one is the insight I'd want you to leave with: explicitness, not harshness, is</a:t>
            </a:r>
          </a:p>
          <a:p>
            <a:r>
              <a:t>what people read as firm. If you want a message to land harder, you usually don't need</a:t>
            </a:r>
          </a:p>
          <a:p>
            <a:r>
              <a:t>stronger words. You need to say the thing you were hinting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things.</a:t>
            </a:r>
          </a:p>
          <a:p/>
          <a:p>
            <a:r>
              <a:t>"Professional" describes a feeling, not a text. Specify field, tenor and mode — subject</a:t>
            </a:r>
          </a:p>
          <a:p>
            <a:r>
              <a:t>vocabulary, relationship, and channel.</a:t>
            </a:r>
          </a:p>
          <a:p/>
          <a:p>
            <a:r>
              <a:t>Translate tone adjectives into behaviours you can check. Warm means: use the name,</a:t>
            </a:r>
          </a:p>
          <a:p>
            <a:r>
              <a:t>acknowledge the situation, thank them for something specific.</a:t>
            </a:r>
          </a:p>
          <a:p/>
          <a:p>
            <a:r>
              <a:t>Reading level is the highest-value style setting in clinical and legal communication, and</a:t>
            </a:r>
          </a:p>
          <a:p>
            <a:r>
              <a:t>you can verify it by asking for a list of words the reader might not know.</a:t>
            </a:r>
          </a:p>
          <a:p/>
          <a:p>
            <a:r>
              <a:t>Always give a fallback. And remember why: you are not appealing to the model's honesty,</a:t>
            </a:r>
          </a:p>
          <a:p>
            <a:r>
              <a:t>you're making the honest answer the probable one. That idea runs through the rest of the</a:t>
            </a:r>
          </a:p>
          <a:p>
            <a:r>
              <a:t>course.</a:t>
            </a:r>
          </a:p>
          <a:p/>
          <a:p>
            <a:r>
              <a:t>Negative constraints work when they're specific and countable.</a:t>
            </a:r>
          </a:p>
          <a:p/>
          <a:p>
            <a:r>
              <a:t>Now — that's the foundation done. Five weeks of it. From next week the shape of the session</a:t>
            </a:r>
          </a:p>
          <a:p>
            <a:r>
              <a:t>changes completely. I'll show you something working, we'll take it apart, and then you build</a:t>
            </a:r>
          </a:p>
          <a:p>
            <a:r>
              <a:t>one. Next week you make a tool that runs in a browser, without writing code, and you'll be</a:t>
            </a:r>
          </a:p>
          <a:p>
            <a:r>
              <a:t>able to send someone a link to it.</a:t>
            </a:r>
          </a:p>
          <a:p/>
          <a:p>
            <a:r>
              <a:t>Nothing to prepare. Bring a laptop if you have one.</a:t>
            </a:r>
          </a:p>
          <a:p/>
          <a:p>
            <a: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 here.</a:t>
            </a:r>
          </a:p>
          <a:p/>
          <a:p>
            <a:r>
              <a:t>Common ones:</a:t>
            </a:r>
          </a:p>
          <a:p/>
          <a:p>
            <a:r>
              <a:t>"Is CEFR better than saying 'simple language'?" — More precise and more reproducible,</a:t>
            </a:r>
          </a:p>
          <a:p>
            <a:r>
              <a:t>especially for readers working in a second language. But "explain it to a parent with no</a:t>
            </a:r>
          </a:p>
          <a:p>
            <a:r>
              <a:t>medical background" is often just as effective and easier to remember. Use whichever you'll</a:t>
            </a:r>
          </a:p>
          <a:p>
            <a:r>
              <a:t>actually use.</a:t>
            </a:r>
          </a:p>
          <a:p/>
          <a:p>
            <a:r>
              <a:t>"What if I don't have approved samples for house style?" — Then describe behaviours instead,</a:t>
            </a:r>
          </a:p>
          <a:p>
            <a:r>
              <a:t>and build the samples over time. The output you approve today becomes the example you paste</a:t>
            </a:r>
          </a:p>
          <a:p>
            <a:r>
              <a:t>next month.</a:t>
            </a:r>
          </a:p>
          <a:p/>
          <a:p>
            <a:r>
              <a:t>"Can it imitate a specific person's writing?" — Technically yes, to a degree. There are</a:t>
            </a:r>
          </a:p>
          <a:p>
            <a:r>
              <a:t>consent and impersonation questions attached, and we handle those properly in week thirteen.</a:t>
            </a:r>
          </a:p>
          <a:p>
            <a:r>
              <a:t>For institutional voice, no issue. For a named individual, think first.</a:t>
            </a:r>
          </a:p>
          <a:p/>
          <a:p>
            <a:r>
              <a:t>"Do negative constraints ever backfire?" — Occasionally, if you pile up many of them —</a:t>
            </a:r>
          </a:p>
          <a:p>
            <a:r>
              <a:t>you can end up with output that's cautious to the point of uselessness. Three or four</a:t>
            </a:r>
          </a:p>
          <a:p>
            <a:r>
              <a:t>targeted ones beat a list of fifteen.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 spc="220">
                <a:solidFill>
                  <a:srgbClr val="0F766E"/>
                </a:solidFill>
                <a:latin typeface="Calibri"/>
              </a:rPr>
              <a:t>WEEK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 Light"/>
              </a:rPr>
              <a:t>Controlling Style, Tone and Format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 i="0">
                <a:solidFill>
                  <a:srgbClr val="C3D0DB"/>
                </a:solidFill>
                <a:latin typeface="Calibri"/>
              </a:rPr>
              <a:t>Getting the register right — the part that decides whether work is usable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Prompt Engineering and Large Language Models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Mehmet Ali Akyol, PhD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Ankara Medipol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Today: What We'll Explore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Why "be professional" produces inconsistent results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Three dimensions of register — the vocabulary that makes tone specifiable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Reading level, and why it matters more in healthcare and law than anywhere else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Tone as observable behaviour rather than adjectives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Structural contracts: output you can actually use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Negative constraints — saying what not to do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Activity: The Tone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Why "Be Professional" Fails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"Professional" describes a feeling. It does not describe a 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Two people asked to write professionally will produce different documents — and so will two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Three Dimensions of Register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Field — the subject and its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How much specialist terminology, and at what density. "Myocardial infarction" or "heart attack". "Force majeure" or "events outside anyone's control".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Tenor — the relationship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The social distance between writer and reader, and who has standing. "You must submit" · "I'd recommend" · "Would it be possible". Same information, three relationships.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Mode — the channel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Written to be read, or written to be spoken. Planned or spontaneous. A policy document, an email, a text message and a script are different modes even with identical content.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Specifying Register Precisely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Instead of: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"Make it professional."    "Make it friendly."    "Make it more formal."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Say: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"Everyday vocabulary, no medical terms without a plain-language gloss; warm but not casual; written to be read aloud to a patient."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"Full legal terminology; addressed to opposing counsel as an equal; formal written register, no contractions."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"Plain language; you are advising someone senior to you; short email, no preamble."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Longer to write once. Reusable forever — these become templates you keep.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Reading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most consequential style setting in healthcare, law and public communication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Patient information routinely fails because it is written at the level of the person who wrote it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So do consent forms, contracts, and letters to families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Ways to specify it: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By audience: "a reader who left school at 15", "a first-year undergraduate", "a parent with no medical background"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By language level: CEFR A2, B1, B2 — precise and widely understood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By constraint: "sentences under 15 words; no word longer than three syllables where a shorter one exists"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Then verify it. Ask it to list every word it thinks the reader might not know.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Tone as Behaviour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Translate Adjectives into Behaviours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An adjective is a label for a feeling. A behaviour is something the text does — and can be checked.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Warm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→ use the reader's name; acknowledge their situation; thank them for something specific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Urgent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→ short sentences; the deadline in the first line; state the consequence of inaction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Neutral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→ no evaluative adjectives; no exclamation marks; attribute claims rather than asserting them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Reassuring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→ say what is known before what is uncertain; name the next concrete step; avoid absolute promises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Style by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For house style, showing beats describing — as with any example (Week 4)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Paste two or three short pieces of approved writing and say "match this voice"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will pick up sentence length, formality, how you open, how you close, how much you hedge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Make it explicit if you want to know what it copied: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"Before writing, list the five features of this voice you intend to reproduce."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You get a description of your own house style — which is often useful on its own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Use approved published material. Do not paste confidential documents to demonstrate tone.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Structural Contracts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Specify the Shape, Not Just the Style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 structural contract is a description of the output precise enough that you could check compliance mechanically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Named sections, in a fixed order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table with named columns and stated types — "date as DD/MM/YYYY", "one of: low, medium, high"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Hard limits — "exactly three bullets", "under 400 words", "one sentence"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stated fallback — "if a field cannot be filled from the source, write NOT STATED"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fallback is the important one, and it is the one everybody forgets.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Why the Fallback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You ask for a table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Columns: obligation, clause, deadline.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21659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2555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7147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The source has no deadline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Nothing in the document states one.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76975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87871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3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Without a fallback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An empty cell is an unlikely continuation. Something plausible appears.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732291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43187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7779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With a fallback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"NOT STATED" is now a likely, legitimate thing to write.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3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You are not appealing to the model's honesty. You are making the honest answer the probable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Negative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Saying what not to do is often more effective than adding more of what to do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"Do not add any recommendation that is not in the source document."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"Do not cite any law, regulation or case. If one is relevant, say so without naming it."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"Do not use headings or bullet points."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"Do not soften the findings. Report them as stated."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Negative constraints work best when they are specific and checkable.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"Don't be boring" is not a constraint. "No sentence longer than 20 words"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One Source, Several Audiences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 common professional need: the same content, correctly pitched to different readers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clinical finding → the notes, the referral letter, and the explanation to the family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contract review → the memo to the partner and the email to the client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An exam result → the transcript, the report to parents, the feedback to the student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Do them as separate turns from the same source, not as one request.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One request produces three versions that drift towards each other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Separate turns keep each register clean — and let you check each before sending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Activity: The Tone Ladder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Calibri"/>
              </a:rPr>
              <a:t>IN-CLASS ACTIVITY  ·  10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Tone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51560" cy="381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situation: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patient has missed two appointments. You need to contact them.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Write the same message at three points on a ladder.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Rung 1: warm and no pressure.  Rung 2: neutral and factual.  Rung 3: firm, with consequences.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For each rung, write down the behaviours — not the adjectives.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What does the text actually do differently? Sentence length? Opening? What comes first?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If you have a device, generate all three and compare with yours.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Moves Between the Rungs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What comes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Warm opens with the person — "we hope you are well". Firm opens with the fact — "you have missed two appointments". Ordering carries more tone than vocabulary does.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Who is the subject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"We would love to see you" versus "You have not attended". Warm makes the institution the actor; firm makes the reader the actor. This single shift moves the tone further than any adjective.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What is left implicit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Warm implies the consequence; firm states it. Neutral often states it once, without elaboration. Explicitness, not harshness, is what people read as firm.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Wrap-Up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"Professional" describes a feeling, not a text — specify field, tenor and mode instead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Translate tone adjectives into behaviours you can check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Reading level is the highest-value style setting in clinical and legal communication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Always give a fallback — make the honest answer the probable one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Negative constraints work when they are specific and countable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Next week: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Building Your First Tool Without Code — you make something that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5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688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 Light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Mehmet Ali Akyol, PhD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C3D0DB"/>
                </a:solidFill>
                <a:latin typeface="Calibri"/>
              </a:rPr>
              <a:t>mehmetali.akyol@gmail.com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