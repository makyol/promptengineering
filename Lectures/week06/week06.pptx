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 Today the course changes shape.</a:t>
            </a:r>
          </a:p>
          <a:p/>
          <a:p>
            <a:r>
              <a:t>For five weeks we've built a foundation. You know what tokens are, why hallucination</a:t>
            </a:r>
          </a:p>
          <a:p>
            <a:r>
              <a:t>happens, what the four levers are, how to specify register. Today you start using it, and</a:t>
            </a:r>
          </a:p>
          <a:p>
            <a:r>
              <a:t>from now until week thirteen every session has the same structure: I show you something</a:t>
            </a:r>
          </a:p>
          <a:p>
            <a:r>
              <a:t>working, we take it apart and find where it breaks, and then you build a smaller version.</a:t>
            </a:r>
          </a:p>
          <a:p/>
          <a:p>
            <a:r>
              <a:t>Today you will build a tool. Something that runs in a browser, that you can send someone a</a:t>
            </a:r>
          </a:p>
          <a:p>
            <a:r>
              <a:t>link to, that does one useful job in your field. Without writing code.</a:t>
            </a:r>
          </a:p>
          <a:p/>
          <a:p>
            <a:r>
              <a:t>I want to name what usually happens in this session. Some of you have never programmed and</a:t>
            </a:r>
          </a:p>
          <a:p>
            <a:r>
              <a:t>assume this is beyond you. It isn't, and you'll have something working within about twenty</a:t>
            </a:r>
          </a:p>
          <a:p>
            <a:r>
              <a:t>minutes. Others have programmed and will be slightly offended by how this works. Both</a:t>
            </a:r>
          </a:p>
          <a:p>
            <a:r>
              <a:t>reactions are fine.</a:t>
            </a:r>
          </a:p>
          <a:p/>
          <a:p>
            <a:r>
              <a:t>The thing I actually want you to leave with isn't the tool. It's an understanding of what</a:t>
            </a:r>
          </a:p>
          <a:p>
            <a:r>
              <a:t>you can and cannot trust about something you built but cannot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shape of every build session from now on.</a:t>
            </a:r>
          </a:p>
          <a:p/>
          <a:p>
            <a:r>
              <a:t>First, a demonstration. I show you a finished thing working. About ten minutes.</a:t>
            </a:r>
          </a:p>
          <a:p/>
          <a:p>
            <a:r>
              <a:t>Then we unpack it — what's actually happening underneath, and why that matters to you as</a:t>
            </a:r>
          </a:p>
          <a:p>
            <a:r>
              <a:t>someone who will rely on the output.</a:t>
            </a:r>
          </a:p>
          <a:p/>
          <a:p>
            <a:r>
              <a:t>Then what makes a good one. There's a shape to this, and getting the shape right is most of</a:t>
            </a:r>
          </a:p>
          <a:p>
            <a:r>
              <a:t>the skill.</a:t>
            </a:r>
          </a:p>
          <a:p/>
          <a:p>
            <a:r>
              <a:t>Then where it breaks. Every build week has this section and it's the most important part.</a:t>
            </a:r>
          </a:p>
          <a:p>
            <a:r>
              <a:t>Today's version is specific and serious: what does it mean to use software you built but</a:t>
            </a:r>
          </a:p>
          <a:p>
            <a:r>
              <a:t>cannot read?</a:t>
            </a:r>
          </a:p>
          <a:p/>
          <a:p>
            <a:r>
              <a:t>Then you build. Twenty minutes.</a:t>
            </a:r>
          </a:p>
          <a:p/>
          <a:p>
            <a:r>
              <a:t>And then a slide naming exactly what's examinable from today, because I said I'd do that</a:t>
            </a:r>
          </a:p>
          <a:p>
            <a:r>
              <a:t>every build week and I will.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Let me show you rather than describe.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what I'm going to type. Read it while I set up.</a:t>
            </a:r>
          </a:p>
          <a:p/>
          <a:p>
            <a:r>
              <a:t>"Build a single-page tool for clinic reception staff. Two inputs: appointment date, and</a:t>
            </a:r>
          </a:p>
          <a:p>
            <a:r>
              <a:t>patient's preferred language. It produces a reminder message in that language, with the date</a:t>
            </a:r>
          </a:p>
          <a:p>
            <a:r>
              <a:t>written out in full. Three language options: Turkish, English, Arabic. Add a copy button."</a:t>
            </a:r>
          </a:p>
          <a:p/>
          <a:p>
            <a:r>
              <a:t>That's the whole input. No code, no setup, no account beyond a free login.</a:t>
            </a:r>
          </a:p>
          <a:p/>
          <a:p>
            <a:r>
              <a:t>Watch for two things while I do this.</a:t>
            </a:r>
          </a:p>
          <a:p/>
          <a:p>
            <a:r>
              <a:t>First, how long it takes. It'll be somewhere between thirty seconds and two minutes.</a:t>
            </a:r>
          </a:p>
          <a:p/>
          <a:p>
            <a:r>
              <a:t>Second — and this is the more interesting one — how much I did not have to specify. I didn't</a:t>
            </a:r>
          </a:p>
          <a:p>
            <a:r>
              <a:t>say what the page should look like. I didn't say what a date input is. I didn't say how the</a:t>
            </a:r>
          </a:p>
          <a:p>
            <a:r>
              <a:t>copy button should behave, or what should happen when you click it. All of that arrives</a:t>
            </a:r>
          </a:p>
          <a:p>
            <a:r>
              <a:t>anyway, because those are conventions and conventions are exactly what a system trained on</a:t>
            </a:r>
          </a:p>
          <a:p>
            <a:r>
              <a:t>enormous amounts of existing code has learned.</a:t>
            </a:r>
          </a:p>
          <a:p/>
          <a:p>
            <a:r>
              <a:t>[Run it live. If the tool is unavailable, use the fallback on the next slide, or describe</a:t>
            </a:r>
          </a:p>
          <a:p>
            <a:r>
              <a:t>the result from the slide after — the session does not depend on this working.]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routes, and you should use whichever loads.</a:t>
            </a:r>
          </a:p>
          <a:p/>
          <a:p>
            <a:r>
              <a:t>Route one: a chat assistant that renders code. Several of the major assistants will produce</a:t>
            </a:r>
          </a:p>
          <a:p>
            <a:r>
              <a:t>a working interactive page inside the conversation and let you share it. Usually fastest, and</a:t>
            </a:r>
          </a:p>
          <a:p>
            <a:r>
              <a:t>if you already have an account you need nothing new.</a:t>
            </a:r>
          </a:p>
          <a:p/>
          <a:p>
            <a:r>
              <a:t>Route two: a dedicated prompt-to-app builder. Browser-based services that take a description</a:t>
            </a:r>
          </a:p>
          <a:p>
            <a:r>
              <a:t>and give you a running web app with a URL. Free tiers exist and are generous enough for what</a:t>
            </a:r>
          </a:p>
          <a:p>
            <a:r>
              <a:t>we're doing.</a:t>
            </a:r>
          </a:p>
          <a:p/>
          <a:p>
            <a:r>
              <a:t>I'm deliberately not putting product names on this slide, and I want to explain why rather</a:t>
            </a:r>
          </a:p>
          <a:p>
            <a:r>
              <a:t>than have you think I forgot. These services change constantly — names, free tiers, limits.</a:t>
            </a:r>
          </a:p>
          <a:p>
            <a:r>
              <a:t>I'll give you two or three current ones verbally now, and if one has changed by the time you</a:t>
            </a:r>
          </a:p>
          <a:p>
            <a:r>
              <a:t>read these slides back, the category is still correct. That's the difference between learning</a:t>
            </a:r>
          </a:p>
          <a:p>
            <a:r>
              <a:t>a concept and learning a product.</a:t>
            </a:r>
          </a:p>
          <a:p/>
          <a:p>
            <a:r>
              <a:t>Route three: if everything fails, use my finished version. The link's on the board. Nothing</a:t>
            </a:r>
          </a:p>
          <a:p>
            <a:r>
              <a:t>today depends on your particular tool working — the thinking is the point, and you can do all</a:t>
            </a:r>
          </a:p>
          <a:p>
            <a:r>
              <a:t>of it against a tool that already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Let's take it apart, because what happened is not what it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what happened, and I want to be precise because the magic wears off usefully.</a:t>
            </a:r>
          </a:p>
          <a:p/>
          <a:p>
            <a:r>
              <a:t>You wrote a description. The model predicted code — and I want to stress the word predicted.</a:t>
            </a:r>
          </a:p>
          <a:p>
            <a:r>
              <a:t>This is exactly the operation from week three. Same mechanism. The tokens happen to be code</a:t>
            </a:r>
          </a:p>
          <a:p>
            <a:r>
              <a:t>instead of prose, and code is unusually well-suited to it because code is highly patterned and</a:t>
            </a:r>
          </a:p>
          <a:p>
            <a:r>
              <a:t>there is an enormous amount of it publicly available.</a:t>
            </a:r>
          </a:p>
          <a:p/>
          <a:p>
            <a:r>
              <a:t>The browser ran that code. You saw a working interface.</a:t>
            </a:r>
          </a:p>
          <a:p/>
          <a:p>
            <a:r>
              <a:t>And then the fourth box, which is where the whole session turns: you judged the surface. You</a:t>
            </a:r>
          </a:p>
          <a:p>
            <a:r>
              <a:t>could see whether it looked right. You could not see whether it was right.</a:t>
            </a:r>
          </a:p>
          <a:p/>
          <a:p>
            <a:r>
              <a:t>Read the caption. Nothing new is happening here. This is next-token prediction where the</a:t>
            </a:r>
          </a:p>
          <a:p>
            <a:r>
              <a:t>tokens are code. Which means everything you learned in week three applies — including that</a:t>
            </a:r>
          </a:p>
          <a:p>
            <a:r>
              <a:t>there's no step where it checks whether what it produced is correct.</a:t>
            </a:r>
          </a:p>
          <a:p/>
          <a:p>
            <a:r>
              <a:t>The difference is that with prose, you can read the output and judge it. With code, most of</a:t>
            </a:r>
          </a:p>
          <a:p>
            <a:r>
              <a:t>you cannot. That gap is what makes this week both powerful and dangerous.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does this work so well? Three reasons, and they should sound familiar.</a:t>
            </a:r>
          </a:p>
          <a:p/>
          <a:p>
            <a:r>
              <a:t>Code is highly patterned — far more regular than natural language. There are conventions,</a:t>
            </a:r>
          </a:p>
          <a:p>
            <a:r>
              <a:t>and violating them tends to break things, so the training material is unusually consistent.</a:t>
            </a:r>
          </a:p>
          <a:p/>
          <a:p>
            <a:r>
              <a:t>There's an enormous amount of it publicly available.</a:t>
            </a:r>
          </a:p>
          <a:p/>
          <a:p>
            <a:r>
              <a:t>And common tasks — a form, a button, a date picker, a copy-to-clipboard — appear thousands of</a:t>
            </a:r>
          </a:p>
          <a:p>
            <a:r>
              <a:t>times in nearly identical form.</a:t>
            </a:r>
          </a:p>
          <a:p/>
          <a:p>
            <a:r>
              <a:t>So the bold line: the more ordinary your tool, the better this goes.</a:t>
            </a:r>
          </a:p>
          <a:p/>
          <a:p>
            <a:r>
              <a:t>A form that takes some input and formats text? Extremely well-trodden ground. Expect it to</a:t>
            </a:r>
          </a:p>
          <a:p>
            <a:r>
              <a:t>work, first time, and it usually will.</a:t>
            </a:r>
          </a:p>
          <a:p/>
          <a:p>
            <a:r>
              <a:t>Something genuinely unusual — an unusual calculation, an unusual workflow, something specific</a:t>
            </a:r>
          </a:p>
          <a:p>
            <a:r>
              <a:t>to your institution? Much thinner ground. And here's the part to hold onto: the delivery is</a:t>
            </a:r>
          </a:p>
          <a:p>
            <a:r>
              <a:t>identical. It will produce something that looks equally finished, equally confident, with the</a:t>
            </a:r>
          </a:p>
          <a:p>
            <a:r>
              <a:t>same clean interface.</a:t>
            </a:r>
          </a:p>
          <a:p/>
          <a:p>
            <a:r>
              <a:t>That's thin coverage from week three, showing up in a new form. The confidence doesn't drop</a:t>
            </a:r>
          </a:p>
          <a:p>
            <a:r>
              <a:t>when the ground gets thin. It never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rules for what to build, and they matter more than the tool you use.</a:t>
            </a:r>
          </a:p>
          <a:p/>
          <a:p>
            <a:r>
              <a:t>One job. Not "a system for managing appointments" — that's a project, and it will produce</a:t>
            </a:r>
          </a:p>
          <a:p>
            <a:r>
              <a:t>something that looks impressive and works badly. "Turn an appointment into a reminder</a:t>
            </a:r>
          </a:p>
          <a:p>
            <a:r>
              <a:t>message" is a job.</a:t>
            </a:r>
          </a:p>
          <a:p/>
          <a:p>
            <a:r>
              <a:t>One screen. No login, no saved data, no navigating between pages. Input at the top, output</a:t>
            </a:r>
          </a:p>
          <a:p>
            <a:r>
              <a:t>below. The moment you need to store something between visits, you've left the territory where</a:t>
            </a:r>
          </a:p>
          <a:p>
            <a:r>
              <a:t>this works reliably.</a:t>
            </a:r>
          </a:p>
          <a:p/>
          <a:p>
            <a:r>
              <a:t>And a job that is annoying rather than difficult. This is the one people get wrong. The best</a:t>
            </a:r>
          </a:p>
          <a:p>
            <a:r>
              <a:t>candidates are small, repetitive things currently done by hand — not the hardest problem in</a:t>
            </a:r>
          </a:p>
          <a:p>
            <a:r>
              <a:t>your field. If it's intellectually hard, you want a conversation with a model, not a tool. If</a:t>
            </a:r>
          </a:p>
          <a:p>
            <a:r>
              <a:t>it's tedious and you do it forty times a week, that's a Micro-Tool.</a:t>
            </a:r>
          </a:p>
          <a:p/>
          <a:p>
            <a:r>
              <a:t>Some candidates from your fields, on the slide. A referral letter formatter. A checklist for</a:t>
            </a:r>
          </a:p>
          <a:p>
            <a:r>
              <a:t>checking citations. A rubric scorer for marking. A unit converter for your particular lab. A</a:t>
            </a:r>
          </a:p>
          <a:p>
            <a:r>
              <a:t>consent-form readability checker — which, after last week, several of you could specify very</a:t>
            </a:r>
          </a:p>
          <a:p>
            <a:r>
              <a:t>precisely.</a:t>
            </a:r>
          </a:p>
          <a:p/>
          <a:p>
            <a:r>
              <a:t>Pick something you actually do. It makes the next twenty minutes much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 candidates, so nobody spends five of their twenty minutes deciding what to build.</a:t>
            </a:r>
          </a:p>
          <a:p/>
          <a:p>
            <a:r>
              <a:t>Healthcare and education. A dosage-schedule formatter — take a prescription, produce a printable</a:t>
            </a:r>
          </a:p>
          <a:p>
            <a:r>
              <a:t>timetable a patient can put on the fridge. A rubric scorer that takes your marks and produces</a:t>
            </a:r>
          </a:p>
          <a:p>
            <a:r>
              <a:t>standard feedback text. A reading-level checker for patient information, which several of you</a:t>
            </a:r>
          </a:p>
          <a:p>
            <a:r>
              <a:t>could specify very precisely after last week.</a:t>
            </a:r>
          </a:p>
          <a:p/>
          <a:p>
            <a:r>
              <a:t>Law and business. A clause checklist that confirms a draft contains your standard sections. A</a:t>
            </a:r>
          </a:p>
          <a:p>
            <a:r>
              <a:t>citation formatter. A meeting-note structurer that takes free text and sorts it into decisions,</a:t>
            </a:r>
          </a:p>
          <a:p>
            <a:r>
              <a:t>actions and open questions.</a:t>
            </a:r>
          </a:p>
          <a:p/>
          <a:p>
            <a:r>
              <a:t>Engineering and anything else. A unit converter for the specific quantities your lab actually</a:t>
            </a:r>
          </a:p>
          <a:p>
            <a:r>
              <a:t>uses — not a general one, yours, with your units and your precision. A checklist generator for a</a:t>
            </a:r>
          </a:p>
          <a:p>
            <a:r>
              <a:t>recurring procedure. A form that turns five fields into a correctly worded standard message.</a:t>
            </a:r>
          </a:p>
          <a:p/>
          <a:p>
            <a:r>
              <a:t>Look at what all nine have in common. Every one is boring. Every one is something a person</a:t>
            </a:r>
          </a:p>
          <a:p>
            <a:r>
              <a:t>currently does by hand, repeatedly, slightly differently each time. None of them require judgment.</a:t>
            </a:r>
          </a:p>
          <a:p/>
          <a:p>
            <a:r>
              <a:t>That's the target. If your idea sounds impressive, it's probably too big.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the first attempt is wrong — and it often is, in a small way — here's how to fix it without</a:t>
            </a:r>
          </a:p>
          <a:p>
            <a:r>
              <a:t>making things worse.</a:t>
            </a:r>
          </a:p>
          <a:p/>
          <a:p>
            <a:r>
              <a:t>Describe the behaviour you want, not the code you imagine. Say "the date should show as fifteenth</a:t>
            </a:r>
          </a:p>
          <a:p>
            <a:r>
              <a:t>of March twenty twenty-seven, not two-thousand-twenty-seven dash oh-three dash fifteen." Don't say</a:t>
            </a:r>
          </a:p>
          <a:p>
            <a:r>
              <a:t>"change the date format function," because you're guessing at an internal structure you can't see,</a:t>
            </a:r>
          </a:p>
          <a:p>
            <a:r>
              <a:t>and if you guess wrong the instruction is worse than useless.</a:t>
            </a:r>
          </a:p>
          <a:p/>
          <a:p>
            <a:r>
              <a:t>Give a concrete failing example. "When I enter a name with an apostrophe, the output is blank. It</a:t>
            </a:r>
          </a:p>
          <a:p>
            <a:r>
              <a:t>should show the name." That's a test case and a specification in one sentence, and it's far more</a:t>
            </a:r>
          </a:p>
          <a:p>
            <a:r>
              <a:t>effective than "it doesn't handle special characters properly."</a:t>
            </a:r>
          </a:p>
          <a:p/>
          <a:p>
            <a:r>
              <a:t>Change one thing at a time. Same reason as week four — otherwise you can't tell which change fixed</a:t>
            </a:r>
          </a:p>
          <a:p>
            <a:r>
              <a:t>it, and you certainly can't tell what it broke.</a:t>
            </a:r>
          </a:p>
          <a:p/>
          <a:p>
            <a:r>
              <a:t>And re-test what already worked. You cannot see what a change affected. When you can read code,</a:t>
            </a:r>
          </a:p>
          <a:p>
            <a:r>
              <a:t>you can look at the blast radius. You can't, so re-testing is the compensation. It isn't optional</a:t>
            </a:r>
          </a:p>
          <a:p>
            <a:r>
              <a:t>and it isn't paranoia — it's the price of the trade you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Every build week has this section, and today's is serious.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danger, stated plainly.</a:t>
            </a:r>
          </a:p>
          <a:p/>
          <a:p>
            <a:r>
              <a:t>You can see whether it looks right. You cannot see whether it is right.</a:t>
            </a:r>
          </a:p>
          <a:p/>
          <a:p>
            <a:r>
              <a:t>And I want you to notice that this is exactly the gap from week one. A fluent, confident,</a:t>
            </a:r>
          </a:p>
          <a:p>
            <a:r>
              <a:t>professional-looking output that may or may not be correct, produced by a system with no</a:t>
            </a:r>
          </a:p>
          <a:p>
            <a:r>
              <a:t>mechanism for checking.</a:t>
            </a:r>
          </a:p>
          <a:p/>
          <a:p>
            <a:r>
              <a:t>The only thing that's changed is the medium. In week one it was prose, and at least you could</a:t>
            </a:r>
          </a:p>
          <a:p>
            <a:r>
              <a:t>read prose. Now it's software, and most of you cannot read it. So the one defence you had —</a:t>
            </a:r>
          </a:p>
          <a:p>
            <a:r>
              <a:t>your own judgment applied to the output — is gone.</a:t>
            </a:r>
          </a:p>
          <a:p/>
          <a:p>
            <a:r>
              <a:t>The interface looks finished. The buttons work. It produces an answer. Everything your eye</a:t>
            </a:r>
          </a:p>
          <a:p>
            <a:r>
              <a:t>uses to judge quality is present and correct, and none of it tells you whether the logic is</a:t>
            </a:r>
          </a:p>
          <a:p>
            <a:r>
              <a:t>right.</a:t>
            </a:r>
          </a:p>
          <a:p/>
          <a:p>
            <a:r>
              <a:t>That's why the next slide exists, and it's the most important slide in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ways this fails, and none of them announce themselves.</a:t>
            </a:r>
          </a:p>
          <a:p/>
          <a:p>
            <a:r>
              <a:t>Wrong logic, right appearance. A calculation that's subtly wrong — a rounding rule, an</a:t>
            </a:r>
          </a:p>
          <a:p>
            <a:r>
              <a:t>off-by-one error in a date, the wrong threshold in a comparison. The interface is perfect. The</a:t>
            </a:r>
          </a:p>
          <a:p>
            <a:r>
              <a:t>number is wrong. And note the cruel detail: it's wrong *consistently*, every time, which is</a:t>
            </a:r>
          </a:p>
          <a:p>
            <a:r>
              <a:t>exactly the behaviour we associate with reliability. A tool that failed randomly would get</a:t>
            </a:r>
          </a:p>
          <a:p>
            <a:r>
              <a:t>caught. One that's steadily wrong looks trustworthy.</a:t>
            </a:r>
          </a:p>
          <a:p/>
          <a:p>
            <a:r>
              <a:t>Correct for the cases you tried. You tested it with typical input, because that's what comes</a:t>
            </a:r>
          </a:p>
          <a:p>
            <a:r>
              <a:t>to mind. Nobody tested the empty field, the very long name, the date in the past, the name</a:t>
            </a:r>
          </a:p>
          <a:p>
            <a:r>
              <a:t>with an apostrophe, the Turkish characters. Those paths were generated too — they were simply</a:t>
            </a:r>
          </a:p>
          <a:p>
            <a:r>
              <a:t>never run. The code exists; nobody knows what it does.</a:t>
            </a:r>
          </a:p>
          <a:p/>
          <a:p>
            <a:r>
              <a:t>And silently discarded input. It accepts something, appears to process it, and quietly ignores</a:t>
            </a:r>
          </a:p>
          <a:p>
            <a:r>
              <a:t>part of it. This is the worst one, because there's no error message and no visible gap. The</a:t>
            </a:r>
          </a:p>
          <a:p>
            <a:r>
              <a:t>output is complete and confident and missing something.</a:t>
            </a:r>
          </a:p>
          <a:p/>
          <a:p>
            <a:r>
              <a:t>Notice that all three are the same shape as the failures from week one. Wrong content in a</a:t>
            </a:r>
          </a:p>
          <a:p>
            <a:r>
              <a:t>right-looking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rules. These are the professional practice, and they're what I'd actually want you doing</a:t>
            </a:r>
          </a:p>
          <a:p>
            <a:r>
              <a:t>in six months.</a:t>
            </a:r>
          </a:p>
          <a:p/>
          <a:p>
            <a:r>
              <a:t>Test the edges before you trust it, not after. Empty input. Very long input. Turkish</a:t>
            </a:r>
          </a:p>
          <a:p>
            <a:r>
              <a:t>characters — genuinely, test these, because a lot of generated code assumes English text and</a:t>
            </a:r>
          </a:p>
          <a:p>
            <a:r>
              <a:t>breaks on them. A date in the past. A number where text was expected. Five minutes of this</a:t>
            </a:r>
          </a:p>
          <a:p>
            <a:r>
              <a:t>tells you more than an hour of using it normally.</a:t>
            </a:r>
          </a:p>
          <a:p/>
          <a:p>
            <a:r>
              <a:t>Check a case where you already know the answer. Run something you've done by hand. If it</a:t>
            </a:r>
          </a:p>
          <a:p>
            <a:r>
              <a:t>agrees, you've gained confidence. If it disagrees, you've learned something important — and</a:t>
            </a:r>
          </a:p>
          <a:p>
            <a:r>
              <a:t>notice you learn either way, which makes this the highest-value five minutes available.</a:t>
            </a:r>
          </a:p>
          <a:p/>
          <a:p>
            <a:r>
              <a:t>Keep it advisory. It drafts, formats, checks, reminds. A person decides. Never let a</a:t>
            </a:r>
          </a:p>
          <a:p>
            <a:r>
              <a:t>Micro-Tool be the final step before something reaches a patient or a client. Not because it's</a:t>
            </a:r>
          </a:p>
          <a:p>
            <a:r>
              <a:t>bad — because you cannot verify it, and unverifiable things need a human between them and</a:t>
            </a:r>
          </a:p>
          <a:p>
            <a:r>
              <a:t>consequences.</a:t>
            </a:r>
          </a:p>
          <a:p/>
          <a:p>
            <a:r>
              <a:t>And don't put real personal data into it. You don't know where the input goes, who hosts it,</a:t>
            </a:r>
          </a:p>
          <a:p>
            <a:r>
              <a:t>or what's logged. That's week twelve, and it applies from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four. Your turn. Twenty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Twenty minutes. Four steps.</a:t>
            </a:r>
          </a:p>
          <a:p/>
          <a:p>
            <a:r>
              <a:t>One. Pick one annoying, repetitive job from your own field. Small. Something you or someone</a:t>
            </a:r>
          </a:p>
          <a:p>
            <a:r>
              <a:t>you know does by hand, often. Resist the urge to pick the most impressive thing you can think</a:t>
            </a:r>
          </a:p>
          <a:p>
            <a:r>
              <a:t>of — pick the most boring one.</a:t>
            </a:r>
          </a:p>
          <a:p/>
          <a:p>
            <a:r>
              <a:t>Two. Write the description using the four levers from week four. Context: who uses this and</a:t>
            </a:r>
          </a:p>
          <a:p>
            <a:r>
              <a:t>in what situation. Task: what it does, specific verb and scope. Format: what the output looks</a:t>
            </a:r>
          </a:p>
          <a:p>
            <a:r>
              <a:t>like. And an example output if it helps.</a:t>
            </a:r>
          </a:p>
          <a:p/>
          <a:p>
            <a:r>
              <a:t>Three. Generate it — and then immediately try to break it. Empty input. Turkish characters.</a:t>
            </a:r>
          </a:p>
          <a:p>
            <a:r>
              <a:t>Something absurd. Note what happens. Don't skip this because the first version worked; the</a:t>
            </a:r>
          </a:p>
          <a:p>
            <a:r>
              <a:t>breaking is where the learning is.</a:t>
            </a:r>
          </a:p>
          <a:p/>
          <a:p>
            <a:r>
              <a:t>Four. Write one sentence: what would you have to check before letting anyone else use this?</a:t>
            </a:r>
          </a:p>
          <a:p>
            <a:r>
              <a:t>That sentence is the actual deliverable of today's session. Keep it.</a:t>
            </a:r>
          </a:p>
          <a:p/>
          <a:p>
            <a:r>
              <a:t>[Circulate. Common problems: too ambitious a scope — tell them to cut it in half; and</a:t>
            </a:r>
          </a:p>
          <a:p>
            <a:r>
              <a:t>forgetting to test the edges — remind them at the ten-minute mark. If nobody is building, work</a:t>
            </a:r>
          </a:p>
          <a:p>
            <a:r>
              <a:t>through step two aloud for one example from each discipline present.]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Whether or not you built one, here's what typically happens.</a:t>
            </a:r>
          </a:p>
          <a:p/>
          <a:p>
            <a:r>
              <a:t>It worked, and faster than expected. That's the normal outcome and it isn't luck — it's the</a:t>
            </a:r>
          </a:p>
          <a:p>
            <a:r>
              <a:t>well-trodden-ground effect we discussed. Don't over-update on it.</a:t>
            </a:r>
          </a:p>
          <a:p/>
          <a:p>
            <a:r>
              <a:t>It broke on empty input, or handled it in a way nobody would have deliberately chosen.</a:t>
            </a:r>
          </a:p>
          <a:p/>
          <a:p>
            <a:r>
              <a:t>Turkish characters caused a problem somewhere. Very common, and worth remembering as a</a:t>
            </a:r>
          </a:p>
          <a:p>
            <a:r>
              <a:t>systematic issue rather than bad luck — a lot of generated code carries assumptions from</a:t>
            </a:r>
          </a:p>
          <a:p>
            <a:r>
              <a:t>predominantly English source material.</a:t>
            </a:r>
          </a:p>
          <a:p/>
          <a:p>
            <a:r>
              <a:t>And asking for a change worked, but occasionally broke something that had been working</a:t>
            </a:r>
          </a:p>
          <a:p>
            <a:r>
              <a:t>before.</a:t>
            </a:r>
          </a:p>
          <a:p/>
          <a:p>
            <a:r>
              <a:t>That last one deserves its own name, in bold: you cannot see what a change affected. When you</a:t>
            </a:r>
          </a:p>
          <a:p>
            <a:r>
              <a:t>modify code you can read, you can see the blast radius. When you ask for a modification in</a:t>
            </a:r>
          </a:p>
          <a:p>
            <a:r>
              <a:t>plain language, you can't. Something three screens away may have changed.</a:t>
            </a:r>
          </a:p>
          <a:p/>
          <a:p>
            <a:r>
              <a:t>So: when you ask for a change, re-test the things that already worked. Every time. That's not</a:t>
            </a:r>
          </a:p>
          <a:p>
            <a:r>
              <a:t>paranoia, it's the only compensation available for not being able to read the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connects today to your exam, and I'll do one of these every build week.</a:t>
            </a:r>
          </a:p>
          <a:p/>
          <a:p>
            <a:r>
              <a:t>Five things you must be able to define and diagnose.</a:t>
            </a:r>
          </a:p>
          <a:p/>
          <a:p>
            <a:r>
              <a:t>What a Micro-Tool is: single-purpose, single-screen, generated from a description, no stored</a:t>
            </a:r>
          </a:p>
          <a:p>
            <a:r>
              <a:t>data.</a:t>
            </a:r>
          </a:p>
          <a:p/>
          <a:p>
            <a:r>
              <a:t>Why generated code is well predicted: it's highly patterned, abundantly available, and common</a:t>
            </a:r>
          </a:p>
          <a:p>
            <a:r>
              <a:t>tasks recur almost identically. If an exam question asks why these tools succeed at ordinary</a:t>
            </a:r>
          </a:p>
          <a:p>
            <a:r>
              <a:t>software and struggle with unusual requirements, that's the answer.</a:t>
            </a:r>
          </a:p>
          <a:p/>
          <a:p>
            <a:r>
              <a:t>The verification gap. You can judge appearance; you cannot judge logic. The surface is not</a:t>
            </a:r>
          </a:p>
          <a:p>
            <a:r>
              <a:t>evidence. Learn that sentence.</a:t>
            </a:r>
          </a:p>
          <a:p/>
          <a:p>
            <a:r>
              <a:t>The three quiet failures, by name: wrong logic with right appearance; correct only for the</a:t>
            </a:r>
          </a:p>
          <a:p>
            <a:r>
              <a:t>cases tried; silently discarded input. I will give you a scenario and ask you which one it is.</a:t>
            </a:r>
          </a:p>
          <a:p/>
          <a:p>
            <a:r>
              <a:t>And responsible use: test edges first, check a known answer, keep it advisory, no real</a:t>
            </a:r>
          </a:p>
          <a:p>
            <a:r>
              <a:t>personal data.</a:t>
            </a:r>
          </a:p>
          <a:p/>
          <a:p>
            <a:r>
              <a:t>Photograph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things.</a:t>
            </a:r>
          </a:p>
          <a:p/>
          <a:p>
            <a:r>
              <a:t>You can build working software from a description, without writing code, and it usually</a:t>
            </a:r>
          </a:p>
          <a:p>
            <a:r>
              <a:t>works. That's genuinely new and genuinely useful, and I don't want to be sour about it.</a:t>
            </a:r>
          </a:p>
          <a:p/>
          <a:p>
            <a:r>
              <a:t>But it's next-token prediction where the tokens happen to be code. Everything from week three</a:t>
            </a:r>
          </a:p>
          <a:p>
            <a:r>
              <a:t>still applies, including that nothing checks correctness.</a:t>
            </a:r>
          </a:p>
          <a:p/>
          <a:p>
            <a:r>
              <a:t>The surface is not evidence. Looking right and being right are different properties, and this</a:t>
            </a:r>
          </a:p>
          <a:p>
            <a:r>
              <a:t>week they came apart more completely than anywhere else in the course, because you can't read</a:t>
            </a:r>
          </a:p>
          <a:p>
            <a:r>
              <a:t>the thing you made.</a:t>
            </a:r>
          </a:p>
          <a:p/>
          <a:p>
            <a:r>
              <a:t>So: test the edges, check a known case, keep it advisory.</a:t>
            </a:r>
          </a:p>
          <a:p/>
          <a:p>
            <a:r>
              <a:t>Next week, grounding. Today's tool works from what the model already knows. Next week we point</a:t>
            </a:r>
          </a:p>
          <a:p>
            <a:r>
              <a:t>one at documents you choose — a guideline, a statute, a syllabus — so it answers from your</a:t>
            </a:r>
          </a:p>
          <a:p>
            <a:r>
              <a:t>sources rather than from memory. And then we check whether it actually did, which turns out to</a:t>
            </a:r>
          </a:p>
          <a:p>
            <a:r>
              <a:t>be the hard part.</a:t>
            </a:r>
          </a:p>
          <a:p/>
          <a:p>
            <a:r>
              <a:t>Bring documents if you have some. I'll provide packs if you don't.</a:t>
            </a:r>
          </a:p>
          <a:p/>
          <a:p>
            <a:r>
              <a:t>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 here.</a:t>
            </a:r>
          </a:p>
          <a:p/>
          <a:p>
            <a:r>
              <a:t>Common ones:</a:t>
            </a:r>
          </a:p>
          <a:p/>
          <a:p>
            <a:r>
              <a:t>"Can I use this for real work?" — For drafting and formatting, yes, with the four rules.</a:t>
            </a:r>
          </a:p>
          <a:p>
            <a:r>
              <a:t>For anything where a wrong answer reaches a patient or client without a human in between, no.</a:t>
            </a:r>
          </a:p>
          <a:p/>
          <a:p>
            <a:r>
              <a:t>"Do I need to learn to code now?" — No. But notice what you gained by not being able to read</a:t>
            </a:r>
          </a:p>
          <a:p>
            <a:r>
              <a:t>it: a permanent dependence on testing rather than inspection. That's a real trade, and it's</a:t>
            </a:r>
          </a:p>
          <a:p>
            <a:r>
              <a:t>worth knowing you made it.</a:t>
            </a:r>
          </a:p>
          <a:p/>
          <a:p>
            <a:r>
              <a:t>"What if my tool stops working later?" — Common with free tiers and hosted services. Keep the</a:t>
            </a:r>
          </a:p>
          <a:p>
            <a:r>
              <a:t>description you used. Regenerating from the description is cheap; recovering a tool you can't</a:t>
            </a:r>
          </a:p>
          <a:p>
            <a:r>
              <a:t>read isn't.</a:t>
            </a:r>
          </a:p>
          <a:p/>
          <a:p>
            <a:r>
              <a:t>"Can it build something bigger?" — It can appear to. The failure modes get much harder to spot</a:t>
            </a:r>
          </a:p>
          <a:p>
            <a:r>
              <a:t>as scope grows, and you have no way to inspect. That's exactly why the rule is one job, one</a:t>
            </a:r>
          </a:p>
          <a:p>
            <a:r>
              <a:t>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37160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 spc="220">
                <a:solidFill>
                  <a:srgbClr val="0F766E"/>
                </a:solidFill>
                <a:latin typeface="Calibri"/>
              </a:rPr>
              <a:t>WEEK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 Light"/>
              </a:rPr>
              <a:t>Building Your First Tool Without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900" b="0" i="0">
                <a:solidFill>
                  <a:srgbClr val="C3D0DB"/>
                </a:solidFill>
                <a:latin typeface="Calibri"/>
              </a:rPr>
              <a:t>Artifact: the Micro-Tool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Prompt Engineering and Large Language Models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Mehmet Ali Akyol, PhD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Ankara Medipol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Today: What We'll Explore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Demonstration: a working tool, built from a description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What is actually happening underneath — and why that matters to you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What makes a good Micro-Tool: one job, one screen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Where it breaks — and the specific danger of code you cannot read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Build: your own Micro-Tool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Concepts you must be able to define and 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Demonstration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I Am About to Build, Live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description I will type: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"Build a single-page tool for clinic reception staff. Two inputs: appointment date, and patient's preferred language. It produces a reminder message in that language, with the date written out in full. Three language options: Turkish, English, Arabic. Add a copy button."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That is the entire input. No code, no setup, no account beyond a free login.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Watch for two things: how long it takes, and how much I did not have to specify.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Tools You Can Use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Chat assistants that render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Several major assistants will produce a working interactive page inside the chat and let you share it. Usually the fastest route, and no separate account is needed if you already have 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Dedicated prompt-to-app builders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Browser-based services that turn a description into a running web app and give you a URL. Free tiers exist and are generous enough for classroom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If everything fails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Use my finished version — the link is on the board. Every step today can be done against a tool that already exists, and the thinking is the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What Is Actually Happening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It Wrote Code. You Did Not Read It.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Your description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Ordinary language describing what the tool should do.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21659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97147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Generated code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The model predicts code — the same next-token operation from Week 3.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76975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87871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3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It runs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The browser executes it. You see a working interface.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2291" y="3214115"/>
            <a:ext cx="237744" cy="201168"/>
          </a:xfrm>
          <a:prstGeom prst="rightArrow">
            <a:avLst/>
          </a:prstGeom>
          <a:solidFill>
            <a:srgbClr val="B6C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3187" y="2377440"/>
            <a:ext cx="2371267" cy="1874519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7779" y="2560320"/>
            <a:ext cx="2042083" cy="1508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0F766E"/>
                </a:solidFill>
                <a:latin typeface="Calibri"/>
              </a:rPr>
              <a:t>You judge the surface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 i="0">
                <a:solidFill>
                  <a:srgbClr val="333D4B"/>
                </a:solidFill>
                <a:latin typeface="Calibri"/>
              </a:rPr>
              <a:t>You can see whether it looks right. You cannot see whether it is right.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39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0" i="0">
                <a:solidFill>
                  <a:srgbClr val="6B7787"/>
                </a:solidFill>
                <a:latin typeface="Calibri"/>
              </a:rPr>
              <a:t>Nothing new is happening. This is next-token prediction, where the tokens happen to be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Why This Works So Well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Code is a good fit for next-token prediction: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is highly patterned — far more regular than natural language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There is an enormous amount of it publicly available to learn from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Common tasks — a form, a button, a date picker — appear thousands of times in near-identical form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So the more ordinary your tool, the better this goes.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form that formats text: extremely well-trodden. Expect it to work.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Something genuinely unusual: much thinner ground, and the same confident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Makes a Good Micro-Tool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One job.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Not "a system for managing appointments" — "turn an appointment into a reminder message"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One screen.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No login, no saved data, no pages to navigate between. Input at the top, output below.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A job that is annoying rather than difficult.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The best candidates are small, repetitive, and currently done by hand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Good candidates from your fields: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referral letter formatter · a citation checker checklist · a rubric scorer · a unit converter for your lab · a consent-form readability 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Candidates From Your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Healthcare ·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 dosage-schedule formatter that turns a prescription into a printable timetable. A rubric scorer that takes marks and produces standard feedback text. A reading-level checker for patient information.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Law · 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 clause checklist that confirms a draft contains your standard sections. A citation formatter. A meeting-note structurer that sorts free text into decisions, actions and open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Engineering · Any 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 unit converter for the specific quantities your lab uses. A checklist generator for a recurring procedure. A form that turns five fields into a correctly worded standard message.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When the First Attempt Is Wrong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Describe the behaviour you want, not the code you imagine.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"The date should show as 15 March 2027, not 2027-03-15" — not "change the date format function"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Give a concrete failing example.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"When I enter a name with an apostrophe, the output is blank. It should show the name."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Change one thing at a time.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Same reason as Week 4 — otherwise you cannot tell which change fixed it, or what it broke.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Re-test what already worked.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You cannot see what a change affected. This is the compensation for not reading the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Where It Breaks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200" b="1" i="0">
                <a:solidFill>
                  <a:srgbClr val="1F2937"/>
                </a:solidFill>
                <a:latin typeface="Calibri Light"/>
              </a:rPr>
              <a:t>You can see whether it looks right. You cannot see whether it is right.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333D4B"/>
                </a:solidFill>
                <a:latin typeface="Calibri"/>
              </a:rPr>
              <a:t>This is the same gap as Week 1 — but now the fluent, confident, wrong thing is software.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Three Ways a Micro-Tool Fails Quietly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78408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Wrong logic, right appearance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A calculation that is subtly wrong — a rounding rule, an off-by-one in a date, the wrong threshold. The interface looks perfect. The number is wrong every single time, consistently, which makes it look reliable.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4898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46066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6066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Correct for the cases you tried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6066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You tested it with typical input. Nobody tested the empty field, the very long name, the date in the past, the unusual character. Those paths were generated too — they were just never run.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2556" y="2057400"/>
            <a:ext cx="3301898" cy="3200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587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13724" y="2331720"/>
            <a:ext cx="640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560320"/>
            <a:ext cx="289956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800" b="1" i="0">
                <a:solidFill>
                  <a:srgbClr val="1F2937"/>
                </a:solidFill>
                <a:latin typeface="Calibri"/>
              </a:rPr>
              <a:t>Silently discarded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3246120"/>
            <a:ext cx="289956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50" b="0" i="0">
                <a:solidFill>
                  <a:srgbClr val="333D4B"/>
                </a:solidFill>
                <a:latin typeface="Calibri"/>
              </a:rPr>
              <a:t>It accepts something, appears to process it, and quietly ignores part of it. The most dangerous failure, because there is no error and no gap in the output.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How to Use One Responsibly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Test the edges before you trust it, not after.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Empty input. Very long input. Turkish characters. A date in the past. A number where text is expected.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Check a case where you already know the answer.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Run something you have done by hand. If it disagrees with you, you learn something either way.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Keep it advisory.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drafts, formats, checks, reminds. A person decides. Never let it be the final step before something reaches a patient or client.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Do not put real personal data into it.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You do not know where the input goes. That is Week 12, and it applies from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0F766E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 i="0">
                <a:solidFill>
                  <a:srgbClr val="1F2937"/>
                </a:solidFill>
                <a:latin typeface="Calibri Light"/>
              </a:rPr>
              <a:t>Build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B45309"/>
                </a:solidFill>
                <a:latin typeface="Calibri"/>
              </a:rPr>
              <a:t>IN-CLASS ACTIVITY  ·  20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Build Your Micro-Tool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5156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1.  Pick one annoying, repetitive job from your own field.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Small. Something you or someone you know does by hand, often.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2.  Write the description using Week 4's four levers.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Context: who uses it. Task: what it does. Format: what the output looks like. Example: a sample output if useful.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3.  Generate it. Then immediately try to break it.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Empty input. Turkish characters. Something absurd. Note what happens.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4.  Write one sentence: what would you have to check before letting anyone else use this?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What You Probably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worked, and faster than expected. That is the normal outcome — it is not luck.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It broke on empty input, or handled it in a way nobody would have chosen deliberately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Turkish characters caused a problem somewhere — very common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Asking for a change worked, but occasionally broke something that had been working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That last one is worth naming: you cannot see what a change affected.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When you ask for a modification, re-test the things that already worked. Every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Concepts You Must Be Able to Define and Diagnose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783080"/>
            <a:ext cx="10637215" cy="4251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814255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Micro-Tool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A single-purpose, single-screen tool generated from a description. One job, one screen, no stored data.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Why generated code is well predicted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Code is highly patterned, abundantly available, and common tasks recur in near-identical form.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verification gap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You can judge the appearance of a generated tool; you cannot judge its logic. The surface is not evidence.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Three quiet failures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Wrong logic with right appearance · correct only for the cases tried · silently discarded input.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Responsible use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Test edges first · check a known answer · keep it advisory · no real personal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 i="0">
                <a:solidFill>
                  <a:srgbClr val="1F2937"/>
                </a:solidFill>
                <a:latin typeface="Calibri Light"/>
              </a:rPr>
              <a:t>Wrap-Up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17320"/>
            <a:ext cx="105156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37215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You can build working software from a description — and it usually works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It is next-token prediction where the tokens are code. Week 3 still applies.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The surface is not evidence. Looking right and being right are different properties.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0" i="0">
                <a:solidFill>
                  <a:srgbClr val="1F2937"/>
                </a:solidFill>
                <a:latin typeface="Calibri"/>
              </a:rPr>
              <a:t>•  Test the edges, check a known case, keep it advisory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•  Next week:</a:t>
            </a:r>
          </a:p>
          <a:p>
            <a:pPr lvl="1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333D4B"/>
                </a:solidFill>
                <a:latin typeface="Calibri"/>
              </a:rPr>
              <a:t>—  Grounding AI in Your Own Sources — how to make it answer from documents you trust, and check that it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B7787"/>
                </a:solidFill>
                <a:latin typeface="Calibri"/>
              </a:rPr>
              <a:t>Week 6  ·  Prompt Engineering and Large Language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78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 Light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66160"/>
            <a:ext cx="1051560" cy="50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3192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Mehmet Ali Akyol, PhD</a:t>
            </a:r>
          </a:p>
          <a:p>
            <a:pPr>
              <a:spcAft>
                <a:spcPts val="500"/>
              </a:spcAft>
            </a:pPr>
            <a:r>
              <a:rPr sz="1700" b="0" i="0">
                <a:solidFill>
                  <a:srgbClr val="C3D0DB"/>
                </a:solidFill>
                <a:latin typeface="Calibri"/>
              </a:rPr>
              <a:t>mehmetali.akyol@gmail.com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