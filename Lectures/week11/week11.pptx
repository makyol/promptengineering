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</a:t>
            </a:r>
          </a:p>
          <a:p/>
          <a:p>
            <a:r>
              <a:t>Last week you designed something for your own field. Today we make its output look like work</a:t>
            </a:r>
          </a:p>
          <a:p>
            <a:r>
              <a:t>from your profession rather than work from the internet.</a:t>
            </a:r>
          </a:p>
          <a:p/>
          <a:p>
            <a:r>
              <a:t>Here's the gap I want to close. A generic assistant will produce something competent and</a:t>
            </a:r>
          </a:p>
          <a:p>
            <a:r>
              <a:t>unmistakably generic. A clinician reads it and knows immediately it wasn't written by a</a:t>
            </a:r>
          </a:p>
          <a:p>
            <a:r>
              <a:t>clinician. A lawyer reads it and knows. Not because the content is wrong — often it's fine —</a:t>
            </a:r>
          </a:p>
          <a:p>
            <a:r>
              <a:t>but because the shape is wrong, the vocabulary is slightly off, and it doesn't do the things</a:t>
            </a:r>
          </a:p>
          <a:p>
            <a:r>
              <a:t>professionals do without thinking about it.</a:t>
            </a:r>
          </a:p>
          <a:p/>
          <a:p>
            <a:r>
              <a:t>That gap is where the value lives, and it's also where the risk lives, because output that</a:t>
            </a:r>
          </a:p>
          <a:p>
            <a:r>
              <a:t>looks professional gets trusted like professional work.</a:t>
            </a:r>
          </a:p>
          <a:p/>
          <a:p>
            <a:r>
              <a:t>Today you build a Domain Pack: a glossary, three golden examples, and your field's output</a:t>
            </a:r>
          </a:p>
          <a:p>
            <a:r>
              <a:t>conventions. It's the least glamorous artifact in the course and probably the one you'll</a:t>
            </a:r>
          </a:p>
          <a:p>
            <a:r>
              <a:t>actually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we're going.</a:t>
            </a:r>
          </a:p>
          <a:p/>
          <a:p>
            <a:r>
              <a:t>First, why generic output fails even when it's correct. This is a real phenomenon and worth</a:t>
            </a:r>
          </a:p>
          <a:p>
            <a:r>
              <a:t>understanding precisely rather than dismissing as style.</a:t>
            </a:r>
          </a:p>
          <a:p/>
          <a:p>
            <a:r>
              <a:t>Then the Domain Pack — three components, all of which you can write today.</a:t>
            </a:r>
          </a:p>
          <a:p/>
          <a:p>
            <a:r>
              <a:t>Then real structures from five fields. SOAP notes, IRAC, and the equivalents in education,</a:t>
            </a:r>
          </a:p>
          <a:p>
            <a:r>
              <a:t>business and engineering. These aren't prompting inventions; they're how those professions</a:t>
            </a:r>
          </a:p>
          <a:p>
            <a:r>
              <a:t>actually organise thought.</a:t>
            </a:r>
          </a:p>
          <a:p/>
          <a:p>
            <a:r>
              <a:t>Then how professional risk differs by field. A hallucination in a brainstorm is a nuisance. In</a:t>
            </a:r>
          </a:p>
          <a:p>
            <a:r>
              <a:t>a discharge summary it's a safety incident. The same system needs different handling in</a:t>
            </a:r>
          </a:p>
          <a:p>
            <a:r>
              <a:t>different hands, and that changes the design.</a:t>
            </a:r>
          </a:p>
          <a:p/>
          <a:p>
            <a:r>
              <a:t>Then you build your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Naming what's actually wrong with competent generic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missing, and none of them are about accuracy.</a:t>
            </a:r>
          </a:p>
          <a:p/>
          <a:p>
            <a:r>
              <a:t>Vocabulary that means something local. The same word means different things in different</a:t>
            </a:r>
          </a:p>
          <a:p>
            <a:r>
              <a:t>institutions. "Discharge," "referral," "assessment," "term" — each has a precise local meaning,</a:t>
            </a:r>
          </a:p>
          <a:p>
            <a:r>
              <a:t>and the model has read thousands of conflicting usages and produces something averaged. Not</a:t>
            </a:r>
          </a:p>
          <a:p>
            <a:r>
              <a:t>wrong exactly. Just not yours.</a:t>
            </a:r>
          </a:p>
          <a:p/>
          <a:p>
            <a:r>
              <a:t>The shape professionals expect. A clinician scanning a note looks in fixed places for fixed</a:t>
            </a:r>
          </a:p>
          <a:p>
            <a:r>
              <a:t>things. If the medication is where the history should be, the note is harder to read than no</a:t>
            </a:r>
          </a:p>
          <a:p>
            <a:r>
              <a:t>note at all, even when every word is correct. Shape is not decoration — it's an index.</a:t>
            </a:r>
          </a:p>
          <a:p/>
          <a:p>
            <a:r>
              <a:t>And what is conventionally left out. This is the subtle one. Professions have strong norms</a:t>
            </a:r>
          </a:p>
          <a:p>
            <a:r>
              <a:t>about what you don't say. No diagnosis without qualification. No legal advice without a</a:t>
            </a:r>
          </a:p>
          <a:p>
            <a:r>
              <a:t>disclaimer. No prediction about an individual student. Generic output includes everything it</a:t>
            </a:r>
          </a:p>
          <a:p>
            <a:r>
              <a:t>knows, because it has no concept of professional restraint.</a:t>
            </a:r>
          </a:p>
          <a:p/>
          <a:p>
            <a:r>
              <a:t>That third one is where generic output most often becomes actively dangerous rather than merely</a:t>
            </a:r>
          </a:p>
          <a:p>
            <a:r>
              <a:t>unhelpful — because it says the thing a professional would have known not to say.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components.</a:t>
            </a:r>
          </a:p>
          <a:p/>
          <a:p>
            <a:r>
              <a:t>A glossary. Twenty terms, defined as your institution actually uses them — and especially the</a:t>
            </a:r>
          </a:p>
          <a:p>
            <a:r>
              <a:t>terms that mean something different elsewhere. Those are the high-value ones, because those are</a:t>
            </a:r>
          </a:p>
          <a:p>
            <a:r>
              <a:t>where the averaged meaning is actively wrong rather than merely vague.</a:t>
            </a:r>
          </a:p>
          <a:p/>
          <a:p>
            <a:r>
              <a:t>Three golden examples: real outputs, approved, anonymised. One typical, one complex, one edge</a:t>
            </a:r>
          </a:p>
          <a:p>
            <a:r>
              <a:t>case. And the edge case teaches most, because it shows what to do when the standard shape</a:t>
            </a:r>
          </a:p>
          <a:p>
            <a:r>
              <a:t>doesn't fit — which is exactly where generic output goes wrong.</a:t>
            </a:r>
          </a:p>
          <a:p/>
          <a:p>
            <a:r>
              <a:t>And output conventions: the required sections in order, and the restraint. Both halves matter.</a:t>
            </a:r>
          </a:p>
          <a:p>
            <a:r>
              <a:t>The structure is easy to specify and people do it. The restraint — what must never appear</a:t>
            </a:r>
          </a:p>
          <a:p>
            <a:r>
              <a:t>without qualification — is what people forget, and it's what makes output safe rather than</a:t>
            </a:r>
          </a:p>
          <a:p>
            <a:r>
              <a:t>merely well-formatted.</a:t>
            </a:r>
          </a:p>
          <a:p/>
          <a:p>
            <a:r>
              <a:t>Bold line: written once, pasted into every prompt afterwards. This is a twenty-minute</a:t>
            </a:r>
          </a:p>
          <a:p>
            <a:r>
              <a:t>investment that pays every time you use these tools for the rest of your career. That's why</a:t>
            </a:r>
          </a:p>
          <a:p>
            <a:r>
              <a:t>it's the artifact I most expect you to actually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Real structures, not prompting inventions.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structures, and I want to point at why each one exists rather than just listing the letters.</a:t>
            </a:r>
          </a:p>
          <a:p/>
          <a:p>
            <a:r>
              <a:t>SOAP, the clinical note. Subjective — what the patient reports. Objective — what was measured.</a:t>
            </a:r>
          </a:p>
          <a:p>
            <a:r>
              <a:t>Assessment — the clinical interpretation. Plan — what happens next.</a:t>
            </a:r>
          </a:p>
          <a:p/>
          <a:p>
            <a:r>
              <a:t>The discipline is in the S/O split. What the patient said and what the instrument measured are</a:t>
            </a:r>
          </a:p>
          <a:p>
            <a:r>
              <a:t>kept apart, deliberately, so that interpretation is visible as interpretation rather than</a:t>
            </a:r>
          </a:p>
          <a:p>
            <a:r>
              <a:t>blending into fact. That separation is precisely what generic output destroys — it produces a</a:t>
            </a:r>
          </a:p>
          <a:p>
            <a:r>
              <a:t>smooth narrative in which reported and measured are indistinguishable.</a:t>
            </a:r>
          </a:p>
          <a:p/>
          <a:p>
            <a:r>
              <a:t>So asking for SOAP structure isn't formatting. It's forcing a separation that carries clinical</a:t>
            </a:r>
          </a:p>
          <a:p>
            <a:r>
              <a:t>meaning.</a:t>
            </a:r>
          </a:p>
          <a:p/>
          <a:p>
            <a:r>
              <a:t>IRAC, legal analysis. Issue, Rule, Analysis, Conclusion.</a:t>
            </a:r>
          </a:p>
          <a:p/>
          <a:p>
            <a:r>
              <a:t>The discipline here is that the rule is stated before it is applied. Which means a missing rule,</a:t>
            </a:r>
          </a:p>
          <a:p>
            <a:r>
              <a:t>or a wrong one, is visible — you can look at the Rule section and check it. In a flowing</a:t>
            </a:r>
          </a:p>
          <a:p>
            <a:r>
              <a:t>paragraph, the rule is implicit and unverifiable.</a:t>
            </a:r>
          </a:p>
          <a:p/>
          <a:p>
            <a:r>
              <a:t>Both structures do the same job: they make a specific kind of error visible. That's what makes</a:t>
            </a:r>
          </a:p>
          <a:p>
            <a:r>
              <a:t>them worth using with these tools, given everything you know about how confident wrong output</a:t>
            </a:r>
          </a:p>
          <a:p>
            <a:r>
              <a:t>looks.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more, briefly.</a:t>
            </a:r>
          </a:p>
          <a:p/>
          <a:p>
            <a:r>
              <a:t>Education: objective, activity, assessment. What should the learner be able to do, what will</a:t>
            </a:r>
          </a:p>
          <a:p>
            <a:r>
              <a:t>they do, and how will you know. The discipline is that the objective must be measurable — and</a:t>
            </a:r>
          </a:p>
          <a:p>
            <a:r>
              <a:t>this is exactly where generic output fails, producing objectives like "understand</a:t>
            </a:r>
          </a:p>
          <a:p>
            <a:r>
              <a:t>photosynthesis," which cannot be assessed and therefore isn't an objective.</a:t>
            </a:r>
          </a:p>
          <a:p/>
          <a:p>
            <a:r>
              <a:t>Business: situation, implication, recommendation. The discipline is that a recommendation has</a:t>
            </a:r>
          </a:p>
          <a:p>
            <a:r>
              <a:t>to be traceable back to a stated fact, not to a general impression. Which is a defence against</a:t>
            </a:r>
          </a:p>
          <a:p>
            <a:r>
              <a:t>exactly the failure we saw in week one — the invented statistic supporting a confident</a:t>
            </a:r>
          </a:p>
          <a:p>
            <a:r>
              <a:t>conclusion.</a:t>
            </a:r>
          </a:p>
          <a:p/>
          <a:p>
            <a:r>
              <a:t>Engineering: requirement, constraint, acceptance criteria. The discipline is that "done" is</a:t>
            </a:r>
          </a:p>
          <a:p>
            <a:r>
              <a:t>defined before work starts, in terms somebody else could check.</a:t>
            </a:r>
          </a:p>
          <a:p/>
          <a:p>
            <a:r>
              <a:t>And the bold line ties them together: in every case the structure exists to make a particular</a:t>
            </a:r>
          </a:p>
          <a:p>
            <a:r>
              <a:t>error visible. That's the general principle, and it's why I said in week four that a structure</a:t>
            </a:r>
          </a:p>
          <a:p>
            <a:r>
              <a:t>helps when it matches how work is really done.</a:t>
            </a:r>
          </a:p>
          <a:p/>
          <a:p>
            <a:r>
              <a:t>So when you write your own conventions, ask: what error does this shape catch? If the answer is</a:t>
            </a:r>
          </a:p>
          <a:p>
            <a:r>
              <a:t>"none, it just looks organised," you've got formatting rather than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 is not distributed evenly, and this is where the cross-disciplinary nature of this room is</a:t>
            </a:r>
          </a:p>
          <a:p>
            <a:r>
              <a:t>genuinely useful — you get to see how differently the same tool sits in different hands.</a:t>
            </a:r>
          </a:p>
          <a:p/>
          <a:p>
            <a:r>
              <a:t>The same output quality carries very different consequences.</a:t>
            </a:r>
          </a:p>
          <a:p/>
          <a:p>
            <a:r>
              <a:t>A fabricated citation in a brainstorm: a nuisance. You notice, you move on.</a:t>
            </a:r>
          </a:p>
          <a:p/>
          <a:p>
            <a:r>
              <a:t>The same fabricated citation in a filed legal document: sanctions. Real ones, imposed on real</a:t>
            </a:r>
          </a:p>
          <a:p>
            <a:r>
              <a:t>lawyers.</a:t>
            </a:r>
          </a:p>
          <a:p/>
          <a:p>
            <a:r>
              <a:t>A fabricated drug interaction in a discharge summary: a safety incident, and potentially</a:t>
            </a:r>
          </a:p>
          <a:p>
            <a:r>
              <a:t>someone harmed.</a:t>
            </a:r>
          </a:p>
          <a:p/>
          <a:p>
            <a:r>
              <a:t>A wrong deadline in a student email: recoverable — unless they miss the resit, in which case it</a:t>
            </a:r>
          </a:p>
          <a:p>
            <a:r>
              <a:t>isn't.</a:t>
            </a:r>
          </a:p>
          <a:p/>
          <a:p>
            <a:r>
              <a:t>Notice that the *system* is identical in all four cases. The failure rate is identical. What</a:t>
            </a:r>
          </a:p>
          <a:p>
            <a:r>
              <a:t>differs entirely is what happens afterwards.</a:t>
            </a:r>
          </a:p>
          <a:p/>
          <a:p>
            <a:r>
              <a:t>So the bold line: the same system needs different handling in different hands. Higher risk means</a:t>
            </a:r>
          </a:p>
          <a:p>
            <a:r>
              <a:t>more constraint, more quoting, earlier human review, narrower scope.</a:t>
            </a:r>
          </a:p>
          <a:p/>
          <a:p>
            <a:r>
              <a:t>That's why I can't give this room a single set of rules. What's proportionate for a marketing</a:t>
            </a:r>
          </a:p>
          <a:p>
            <a:r>
              <a:t>draft is negligent for a clinical note, and what's proportionate for a clinical note would make</a:t>
            </a:r>
          </a:p>
          <a:p>
            <a:r>
              <a:t>a marketing workflow useless.</a:t>
            </a:r>
          </a:p>
          <a:p/>
          <a:p>
            <a:r>
              <a:t>Calibrating that is a professional judgment, and it's yours to make in your own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Twenty minutes. This one needs no tool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 minutes, and this activity needs no tool at all for the first three steps — pen and</a:t>
            </a:r>
          </a:p>
          <a:p>
            <a:r>
              <a:t>paper works.</a:t>
            </a:r>
          </a:p>
          <a:p/>
          <a:p>
            <a:r>
              <a:t>One. Glossary, ten terms minimum. Prioritise terms that mean something different outside your</a:t>
            </a:r>
          </a:p>
          <a:p>
            <a:r>
              <a:t>institution, because those are where the averaged meaning actively misleads.</a:t>
            </a:r>
          </a:p>
          <a:p/>
          <a:p>
            <a:r>
              <a:t>Two. One golden example. A real, approved, anonymised output from your field. And anonymise</a:t>
            </a:r>
          </a:p>
          <a:p>
            <a:r>
              <a:t>properly — no names, no dates, no identifiers, no unusual details that would identify someone</a:t>
            </a:r>
          </a:p>
          <a:p>
            <a:r>
              <a:t>in a small population. If you're unsure whether it's anonymous enough, it isn't. Use a textbook</a:t>
            </a:r>
          </a:p>
          <a:p>
            <a:r>
              <a:t>example instead.</a:t>
            </a:r>
          </a:p>
          <a:p/>
          <a:p>
            <a:r>
              <a:t>Three. Output conventions: sections in order, plus the restraint. And write the restraint as a</a:t>
            </a:r>
          </a:p>
          <a:p>
            <a:r>
              <a:t>"never" statement. "Never state a diagnosis." "Never cite a case." "Never predict an individual</a:t>
            </a:r>
          </a:p>
          <a:p>
            <a:r>
              <a:t>student's result." Those are the lines that make output safe.</a:t>
            </a:r>
          </a:p>
          <a:p/>
          <a:p>
            <a:r>
              <a:t>Four. Add it to your week ten design and run one test. Compare output with and without the</a:t>
            </a:r>
          </a:p>
          <a:p>
            <a:r>
              <a:t>pack. That comparison is the whole point — most people are surprised by how much changes.</a:t>
            </a:r>
          </a:p>
          <a:p/>
          <a:p>
            <a:r>
              <a:t>[If nobody is building, write a glossary and conventions on screen for whichever discipline is</a:t>
            </a:r>
          </a:p>
          <a:p>
            <a:r>
              <a:t>best represented, and take terms from the room. This works as a discussion.]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precise about what you've bought, because this is the slide where students most often</a:t>
            </a:r>
          </a:p>
          <a:p>
            <a:r>
              <a:t>over-conclude.</a:t>
            </a:r>
          </a:p>
          <a:p/>
          <a:p>
            <a:r>
              <a:t>What it changes. Vocabulary becomes local. Structure becomes recognisable. Restraint appears</a:t>
            </a:r>
          </a:p>
          <a:p>
            <a:r>
              <a:t>where it was absent. Output stops looking like the internet and starts looking like your</a:t>
            </a:r>
          </a:p>
          <a:p>
            <a:r>
              <a:t>institution.</a:t>
            </a:r>
          </a:p>
          <a:p/>
          <a:p>
            <a:r>
              <a:t>What it does not change: accuracy. Not at all. A beautifully formatted SOAP note can contain a</a:t>
            </a:r>
          </a:p>
          <a:p>
            <a:r>
              <a:t>completely fabricated finding, sitting in the Objective section, looking exactly like a</a:t>
            </a:r>
          </a:p>
          <a:p>
            <a:r>
              <a:t>measurement.</a:t>
            </a:r>
          </a:p>
          <a:p/>
          <a:p>
            <a:r>
              <a:t>And read the second sub-point carefully, because it's the uncomfortable one. If anything,</a:t>
            </a:r>
          </a:p>
          <a:p>
            <a:r>
              <a:t>professional formatting makes wrong content *more* persuasive, not less. You've taken output</a:t>
            </a:r>
          </a:p>
          <a:p>
            <a:r>
              <a:t>with a known error rate and dressed it in the visual language of professional authority. A</a:t>
            </a:r>
          </a:p>
          <a:p>
            <a:r>
              <a:t>colleague glancing at it will trust it more than they would have trusted the generic version.</a:t>
            </a:r>
          </a:p>
          <a:p/>
          <a:p>
            <a:r>
              <a:t>So you've increased both usefulness and risk simultaneously.</a:t>
            </a:r>
          </a:p>
          <a:p/>
          <a:p>
            <a:r>
              <a:t>Which is why the bold line matters: a Domain Pack makes output usable. Grounding and testing</a:t>
            </a:r>
          </a:p>
          <a:p>
            <a:r>
              <a:t>make it trustworthy. You need all three, and doing only this one leaves you worse off than</a:t>
            </a:r>
          </a:p>
          <a:p>
            <a:r>
              <a:t>doing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examinable. Five items.</a:t>
            </a:r>
          </a:p>
          <a:p/>
          <a:p>
            <a:r>
              <a:t>The Domain Pack and its three components, including the edge-case example and the restraint</a:t>
            </a:r>
          </a:p>
          <a:p>
            <a:r>
              <a:t>statements.</a:t>
            </a:r>
          </a:p>
          <a:p/>
          <a:p>
            <a:r>
              <a:t>Why professional structures exist — each makes a particular error visible. Be ready to explain</a:t>
            </a:r>
          </a:p>
          <a:p>
            <a:r>
              <a:t>SOAP's S/O split and IRAC's rule-before-application. That's a strong short-answer question.</a:t>
            </a:r>
          </a:p>
          <a:p/>
          <a:p>
            <a:r>
              <a:t>The three gaps in generic output: local vocabulary, expected shape, conventional restraint.</a:t>
            </a:r>
          </a:p>
          <a:p/>
          <a:p>
            <a:r>
              <a:t>Risk varies by field rather than by system. Expect a scenario asking why the same assistant</a:t>
            </a:r>
          </a:p>
          <a:p>
            <a:r>
              <a:t>needs different controls in a clinic and a marketing department.</a:t>
            </a:r>
          </a:p>
          <a:p/>
          <a:p>
            <a:r>
              <a:t>And formatting is not accuracy — with the sting in the tail: professional formatting can</a:t>
            </a:r>
          </a:p>
          <a:p>
            <a:r>
              <a:t>increase over-trust. That's a likely question because it's counterintuitive.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things.</a:t>
            </a:r>
          </a:p>
          <a:p/>
          <a:p>
            <a:r>
              <a:t>Generic output fails on vocabulary, shape and restraint — not usually on facts. Which is why</a:t>
            </a:r>
          </a:p>
          <a:p>
            <a:r>
              <a:t>people dismiss the problem as cosmetic and why they're wrong to.</a:t>
            </a:r>
          </a:p>
          <a:p/>
          <a:p>
            <a:r>
              <a:t>A Domain Pack is a glossary, golden examples, and output conventions. Written once, reused</a:t>
            </a:r>
          </a:p>
          <a:p>
            <a:r>
              <a:t>forever. Genuinely, keep yours.</a:t>
            </a:r>
          </a:p>
          <a:p/>
          <a:p>
            <a:r>
              <a:t>Professional structures exist to make specific errors visible. That's the design principle</a:t>
            </a:r>
          </a:p>
          <a:p>
            <a:r>
              <a:t>worth carrying.</a:t>
            </a:r>
          </a:p>
          <a:p/>
          <a:p>
            <a:r>
              <a:t>Formatting makes output usable and more persuasive. It does not make it correct — and the gap</a:t>
            </a:r>
          </a:p>
          <a:p>
            <a:r>
              <a:t>between those two is where professional harm happens.</a:t>
            </a:r>
          </a:p>
          <a:p/>
          <a:p>
            <a:r>
              <a:t>And risk varies by field. Higher stakes need more constraint and earlier review.</a:t>
            </a:r>
          </a:p>
          <a:p/>
          <a:p>
            <a:r>
              <a:t>Next week is the one people remember. We attack an assistant together — I've built one for the</a:t>
            </a:r>
          </a:p>
          <a:p>
            <a:r>
              <a:t>purpose and I'd like you to break it. You'll see how little effort it takes, and then we'll fix</a:t>
            </a:r>
          </a:p>
          <a:p>
            <a:r>
              <a:t>it, and then you'll know what to check in anything you build.</a:t>
            </a:r>
          </a:p>
          <a:p/>
          <a:p>
            <a:r>
              <a:t>Bring a laptop if you can.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 here.</a:t>
            </a:r>
          </a:p>
          <a:p/>
          <a:p>
            <a:r>
              <a:t>Common ones:</a:t>
            </a:r>
          </a:p>
          <a:p/>
          <a:p>
            <a:r>
              <a:t>"Where do I get approved examples?" — Published material from your institution, textbook</a:t>
            </a:r>
          </a:p>
          <a:p>
            <a:r>
              <a:t>examples, or anything already public. If you'd have to anonymise it carefully, use something</a:t>
            </a:r>
          </a:p>
          <a:p>
            <a:r>
              <a:t>else for the classroom.</a:t>
            </a:r>
          </a:p>
          <a:p/>
          <a:p>
            <a:r>
              <a:t>"Isn't a glossary just a prompt?" — Yes, it's context in the week four sense. The difference is</a:t>
            </a:r>
          </a:p>
          <a:p>
            <a:r>
              <a:t>that it's written once, deliberately, and reused — rather than improvised differently each time.</a:t>
            </a:r>
          </a:p>
          <a:p/>
          <a:p>
            <a:r>
              <a:t>"What if my institution has no written conventions?" — Very common. Writing your pack is often</a:t>
            </a:r>
          </a:p>
          <a:p>
            <a:r>
              <a:t>the first time anyone has written them down, and that output has value beyond this course.</a:t>
            </a:r>
          </a:p>
          <a:p/>
          <a:p>
            <a:r>
              <a:t>"Does the pack go in every prompt?" — In every prompt for that task, yes. If it's long, put it</a:t>
            </a:r>
          </a:p>
          <a:p>
            <a:r>
              <a:t>in the persistent instructions of whatever tool you use rather than pasting it each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 spc="220">
                <a:solidFill>
                  <a:srgbClr val="0F766E"/>
                </a:solidFill>
                <a:latin typeface="Calibri"/>
              </a:rPr>
              <a:t>WEEK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 Light"/>
              </a:rPr>
              <a:t>Domain-Specific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C3D0DB"/>
                </a:solidFill>
                <a:latin typeface="Calibri"/>
              </a:rPr>
              <a:t>Artifact: the Domain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Prompt Engineering and Large Language Models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Mehmet Ali Akyol, PhD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Ankara Medipol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Today: What We'll Explore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Why generic output fails even when it is correct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Domain Pack: glossary, golden examples, output conventions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Real structures from five fields — SOAP, IRAC, and others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How professional risk differs by field, and what that changes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Build: your own Domain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Why Generic Output Fails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Three Things Missing From Generic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Vocabulary that means something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The same word means different things in different institutions. "Discharge", "referral", "assessment", "term" — each has a precise local meaning the model averages away.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The shape professionals expect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A clinician scanning a note looks in fixed places for fixed things. Correct content in the wrong shape takes longer to read than no note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What is conventionally left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Professions have norms about what you do not say — no diagnosis without qualification, no advice without a disclaimer. Generic output includes everything.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11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Domain Pack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1.  A glossary — twenty terms, defined as your institution uses them.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Especially terms that mean something different elsewhere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2.  Three golden examples — real outputs, approved, anonymised.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One typical, one complex, one edge case. The edge case teaches most.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3.  Output conventions — the structure, and the restraint.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required sections, in order. And what must never appear without qualification.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Written once. Pasted into every prompt afterwards.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Structures From Five Fields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Healthcare and Law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SOAP — the clinical note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Subjective: what the patient reports · Objective: what was measured · Assessment: clinical interpretation · Plan: what happens next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discipline is in the S/O split — report and measurement kept apart, so interpretation is visible as interpretation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IRAC — legal analysis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Issue: the legal question · Rule: the applicable law · Analysis: applying rule to facts · Conclusion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discipline is that the rule is stated before it is applied — so a missing or wrong rule is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Education, Business,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Education — objective, activity, assessment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What should the learner be able to do; what will they do; how will you know. The discipline is that the objective is measurable.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Business — situation, implication, recommendation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discipline is that a recommendation must be traceable to a stated fact, not to a general impression.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Engineering — requirement, constraint, acceptance criteria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discipline is that "done" is defined before work starts, in terms someone else could check.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In every case the structure exists to make a particular error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Risk Is Not Distributed Evenly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same output quality carries very different consequences by field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fabricated citation in a brainstorm: a nuisance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fabricated citation in a filed legal document: sanctions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fabricated drug interaction in a discharge summary: a safety incident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wrong deadline in a student email: recoverable, unless they miss the resit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So the same system needs different handling in different hands: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Higher risk → more constraint, more quoting, earlier human review, narrower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Build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Calibri"/>
              </a:rPr>
              <a:t>IN-CLASS ACTIVITY  ·  20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Build Your Domain Pack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5156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1.  Glossary — ten terms minimum.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Prioritise terms that mean something different outside your institution.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2.  One golden example.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real, approved, anonymised output from your field. Anonymise properly — no names, dates or identifiers.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3.  Output conventions — sections in order, plus the restraint.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"Never state a diagnosis." "Never cite a case." "Never predict an individual student's result."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4.  Add it to your Week 10 design and run one test.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Compare the output with and without the pack.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11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the Pack Changes — and What It Does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What it changes: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Vocabulary becomes local. Structure becomes recognisable. Restraint appears where it was absent.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Output stops looking like the internet and starts looking like your institution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What it does not change: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Accuracy. A well-formatted SOAP note can contain a fabricated finding.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If anything, professional formatting makes wrong content more persuasive, not less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 Domain Pack makes output usable. Grounding and testing make it trustworthy. You need all three.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Concepts You Must Be Able to Define and Diagnose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637215" cy="4251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814255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Domain Pack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Glossary of locally-defined terms · golden examples including an edge case · output conventions including what must never appear.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Why professional structures exist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Each makes a particular error visible — SOAP separates report from measurement; IRAC states the rule before applying 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Three gaps in generic output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Local vocabulary · expected shape · conventional restraint.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Risk varies by field, not by system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Identical output carries different consequences. Higher risk demands more constraint, more quoting, earlier review.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Formatting is not accuracy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Domain Pack makes output usable and more persuasive. It does nothing for correctness — and may increase over-trust.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11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Wrap-Up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Generic output fails on vocabulary, shape and restraint — not usually on facts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 Domain Pack is a glossary, golden examples, and output conventions. Written once, reused forever.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Professional structures exist to make specific errors visible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Formatting makes output usable and more persuasive. It does not make it correct.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Risk varies by field: higher stakes need more constraint and earlier review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Next week: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Prompt Injection and AI Security — we attack an assistant together and see how easy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11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6616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Mehmet Ali Akyol, PhD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C3D0DB"/>
                </a:solidFill>
                <a:latin typeface="Calibri"/>
              </a:rPr>
              <a:t>mehmetali.akyol@gmail.com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