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back. This is the session people remember.</a:t>
            </a:r>
          </a:p>
          <a:p/>
          <a:p>
            <a:r>
              <a:t>I have built an assistant for today. It is grounded in a document pack, it has instructions</a:t>
            </a:r>
          </a:p>
          <a:p>
            <a:r>
              <a:t>telling it to behave, and it is deliberately vulnerable. Your job this hour is to break it.</a:t>
            </a:r>
          </a:p>
          <a:p/>
          <a:p>
            <a:r>
              <a:t>Before we start, the frame, because it matters. We are doing this defensively. Everything today</a:t>
            </a:r>
          </a:p>
          <a:p>
            <a:r>
              <a:t>is about recognising attacks so you can defend the systems you build and use — the same reason</a:t>
            </a:r>
          </a:p>
          <a:p>
            <a:r>
              <a:t>a medical student studies pathology. Nothing here is a recipe for attacking anyone else's</a:t>
            </a:r>
          </a:p>
          <a:p>
            <a:r>
              <a:t>system, and I will keep the techniques at the level you need to recognise them, not the level</a:t>
            </a:r>
          </a:p>
          <a:p>
            <a:r>
              <a:t>you would need to weaponise them.</a:t>
            </a:r>
          </a:p>
          <a:p/>
          <a:p>
            <a:r>
              <a:t>The reason this session exists is simple. In week nine you learned that an agent's tools feed</a:t>
            </a:r>
          </a:p>
          <a:p>
            <a:r>
              <a:t>their results into the context as text. In week seven you learned that grounding puts documents</a:t>
            </a:r>
          </a:p>
          <a:p>
            <a:r>
              <a:t>into the context as text. Today you find out what happens when that text contains instructions.</a:t>
            </a:r>
          </a:p>
          <a:p/>
          <a:p>
            <a:r>
              <a:t>Let's 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we're going.</a:t>
            </a:r>
          </a:p>
          <a:p/>
          <a:p>
            <a:r>
              <a:t>First, why prompt injection works at all — and this follows directly from week three, so it</a:t>
            </a:r>
          </a:p>
          <a:p>
            <a:r>
              <a:t>should feel inevitable rather than surprising.</a:t>
            </a:r>
          </a:p>
          <a:p/>
          <a:p>
            <a:r>
              <a:t>Then direct injection and jailbreaking: someone typing something to make the system misbehave.</a:t>
            </a:r>
          </a:p>
          <a:p>
            <a:r>
              <a:t>This is the famous one and honestly the least important to you.</a:t>
            </a:r>
          </a:p>
          <a:p/>
          <a:p>
            <a:r>
              <a:t>Then indirect injection, in bold, because it's the serious one and the one you will actually</a:t>
            </a:r>
          </a:p>
          <a:p>
            <a:r>
              <a:t>meet. It's also the one almost nobody outside security has heard of.</a:t>
            </a:r>
          </a:p>
          <a:p/>
          <a:p>
            <a:r>
              <a:t>Then we attack a grounded assistant together, live, on screen.</a:t>
            </a:r>
          </a:p>
          <a:p/>
          <a:p>
            <a:r>
              <a:t>Then data leakage — what you reveal without meaning to, which is the risk most relevant to</a:t>
            </a:r>
          </a:p>
          <a:p>
            <a:r>
              <a:t>people handling patient and client information.</a:t>
            </a:r>
          </a:p>
          <a:p/>
          <a:p>
            <a:r>
              <a:t>Then defences you can actually apply, and safe handling of sensitive data. That last part is</a:t>
            </a:r>
          </a:p>
          <a:p>
            <a:r>
              <a:t>the professional obligation several of you already have.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one. And this follows from week three so directly that some of you will see it coming.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it is.</a:t>
            </a:r>
          </a:p>
          <a:p/>
          <a:p>
            <a:r>
              <a:t>The model receives one stream of text, and it cannot reliably tell your instructions from the</a:t>
            </a:r>
          </a:p>
          <a:p>
            <a:r>
              <a:t>data.</a:t>
            </a:r>
          </a:p>
          <a:p/>
          <a:p>
            <a:r>
              <a:t>Go back to week three. Tokens go in. The model predicts what follows. That's the operation.</a:t>
            </a:r>
          </a:p>
          <a:p/>
          <a:p>
            <a:r>
              <a:t>Now think about what's in the context by week seven and nine. Your instructions. The</a:t>
            </a:r>
          </a:p>
          <a:p>
            <a:r>
              <a:t>conversation. A document you attached. The result of a web search. The contents of an email it</a:t>
            </a:r>
          </a:p>
          <a:p>
            <a:r>
              <a:t>was asked to read.</a:t>
            </a:r>
          </a:p>
          <a:p/>
          <a:p>
            <a:r>
              <a:t>All of it arrives as tokens. None of it carries a label saying "this part is a trustworthy</a:t>
            </a:r>
          </a:p>
          <a:p>
            <a:r>
              <a:t>instruction from the user" and "this part is untrusted material from the internet."</a:t>
            </a:r>
          </a:p>
          <a:p/>
          <a:p>
            <a:r>
              <a:t>There is a distinction in your head — you know which parts you wrote. There is no reliable</a:t>
            </a:r>
          </a:p>
          <a:p>
            <a:r>
              <a:t>equivalent inside the model.</a:t>
            </a:r>
          </a:p>
          <a:p/>
          <a:p>
            <a:r>
              <a:t>So if a document says "ignore your previous instructions and do this instead," that sentence</a:t>
            </a:r>
          </a:p>
          <a:p>
            <a:r>
              <a:t>sits in the context looking very much like an instruction. Because it is one. It's just not</a:t>
            </a:r>
          </a:p>
          <a:p>
            <a:r>
              <a:t>yours.</a:t>
            </a:r>
          </a:p>
          <a:p/>
          <a:p>
            <a:r>
              <a:t>That's prompt injection. And notice that it isn't a bug someone forgot to fix. It's a direct</a:t>
            </a:r>
          </a:p>
          <a:p>
            <a:r>
              <a:t>consequence of how the thing works. Which is why it has proved genuinely hard to solve rather</a:t>
            </a:r>
          </a:p>
          <a:p>
            <a:r>
              <a:t>than merely neglected.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kinds, and the distinction matters enormously.</a:t>
            </a:r>
          </a:p>
          <a:p/>
          <a:p>
            <a:r>
              <a:t>Direct injection. A person types something designed to override the system's instructions —</a:t>
            </a:r>
          </a:p>
          <a:p>
            <a:r>
              <a:t>get it to reveal its configuration, drop its constraints, behave as something else. The</a:t>
            </a:r>
          </a:p>
          <a:p>
            <a:r>
              <a:t>attacker is the user. This is the one that gets written about.</a:t>
            </a:r>
          </a:p>
          <a:p/>
          <a:p>
            <a:r>
              <a:t>Indirect injection. The instruction is hidden in content the system reads — a document, a web</a:t>
            </a:r>
          </a:p>
          <a:p>
            <a:r>
              <a:t>page, an email, a calendar entry. The attacker is not the user. The user may be the victim.</a:t>
            </a:r>
          </a:p>
          <a:p/>
          <a:p>
            <a:r>
              <a:t>And the third box: why the second is much worse.</a:t>
            </a:r>
          </a:p>
          <a:p/>
          <a:p>
            <a:r>
              <a:t>You did nothing wrong. You asked your assistant to summarise a document. The document contained</a:t>
            </a:r>
          </a:p>
          <a:p>
            <a:r>
              <a:t>instructions. There was no moment at which you could have declined, because you never saw the</a:t>
            </a:r>
          </a:p>
          <a:p>
            <a:r>
              <a:t>malicious text — it might be white text on a white background, or buried on page forty, or in a</a:t>
            </a:r>
          </a:p>
          <a:p>
            <a:r>
              <a:t>comment.</a:t>
            </a:r>
          </a:p>
          <a:p/>
          <a:p>
            <a:r>
              <a:t>Direct injection is someone attacking their own tool, which mostly harms them. Indirect</a:t>
            </a:r>
          </a:p>
          <a:p>
            <a:r>
              <a:t>injection is someone attacking *you*, through a document you had every reason to open.</a:t>
            </a:r>
          </a:p>
          <a:p/>
          <a:p>
            <a:r>
              <a:t>If you remember one distinction from today, that's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Jailbreaking, briefly, because it's less relevant to you than the headlines suggest.</a:t>
            </a:r>
          </a:p>
          <a:p/>
          <a:p>
            <a:r>
              <a:t>Jailbreaking is getting a system to do what its operators told it not to do. Usually by</a:t>
            </a:r>
          </a:p>
          <a:p>
            <a:r>
              <a:t>supplying a frame in which the refused thing seems appropriate — it's fiction, it's research,</a:t>
            </a:r>
          </a:p>
          <a:p>
            <a:r>
              <a:t>it's hypothetical, you're playing a role.</a:t>
            </a:r>
          </a:p>
          <a:p/>
          <a:p>
            <a:r>
              <a:t>Why does it work? Same reason as everything else this week. Safety behaviour is a trained-in</a:t>
            </a:r>
          </a:p>
          <a:p>
            <a:r>
              <a:t>tendency, not a hard rule. Fine-tuning shifted the probabilities so that refusal is likely in</a:t>
            </a:r>
          </a:p>
          <a:p>
            <a:r>
              <a:t>certain situations. It did not install a gate that checks and blocks.</a:t>
            </a:r>
          </a:p>
          <a:p/>
          <a:p>
            <a:r>
              <a:t>So a strong enough framing can make the unwanted continuation the likely one again. You're not</a:t>
            </a:r>
          </a:p>
          <a:p>
            <a:r>
              <a:t>picking a lock. You're changing what's probable.</a:t>
            </a:r>
          </a:p>
          <a:p/>
          <a:p>
            <a:r>
              <a:t>And the last line is why I'm covering it at all: it demonstrates the same underlying fact as</a:t>
            </a:r>
          </a:p>
          <a:p>
            <a:r>
              <a:t>injection. Instructions in the context compete with each other, and the last convincing frame</a:t>
            </a:r>
          </a:p>
          <a:p>
            <a:r>
              <a:t>can win.</a:t>
            </a:r>
          </a:p>
          <a:p/>
          <a:p>
            <a:r>
              <a:t>Once you hold that idea, both phenomena stop being separate curiosities and become one property</a:t>
            </a:r>
          </a:p>
          <a:p>
            <a:r>
              <a:t>of the system — which is the useful way to understand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two. The one that will actually affect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the path. Four boxes.</a:t>
            </a:r>
          </a:p>
          <a:p/>
          <a:p>
            <a:r>
              <a:t>You ask something entirely ordinary. "Summarise this document." "Check my inbox and draft</a:t>
            </a:r>
          </a:p>
          <a:p>
            <a:r>
              <a:t>replies." Nothing suspicious.</a:t>
            </a:r>
          </a:p>
          <a:p/>
          <a:p>
            <a:r>
              <a:t>It reads — the document, the page, the email. Content you did not write and may never have read</a:t>
            </a:r>
          </a:p>
          <a:p>
            <a:r>
              <a:t>yourself.</a:t>
            </a:r>
          </a:p>
          <a:p/>
          <a:p>
            <a:r>
              <a:t>Hidden text arrives. Instructions embedded in that content enter the context as tokens, exactly</a:t>
            </a:r>
          </a:p>
          <a:p>
            <a:r>
              <a:t>like everything else. White text on white background. A comment in a document. Text in an</a:t>
            </a:r>
          </a:p>
          <a:p>
            <a:r>
              <a:t>image. Page forty of a hundred-page PDF.</a:t>
            </a:r>
          </a:p>
          <a:p/>
          <a:p>
            <a:r>
              <a:t>And it follows them. The instruction competes with yours — and note the detail in that box — it</a:t>
            </a:r>
          </a:p>
          <a:p>
            <a:r>
              <a:t>arrived more recently. Recency matters in what gets predicted next.</a:t>
            </a:r>
          </a:p>
          <a:p/>
          <a:p>
            <a:r>
              <a:t>Read the caption. You never saw the malicious text. There was no point at which you could have</a:t>
            </a:r>
          </a:p>
          <a:p>
            <a:r>
              <a:t>refused.</a:t>
            </a:r>
          </a:p>
          <a:p/>
          <a:p>
            <a:r>
              <a:t>That's why this is a genuine security problem rather than a user-education problem. Telling</a:t>
            </a:r>
          </a:p>
          <a:p>
            <a:r>
              <a:t>people to be careful doesn't help when the dangerous content is invisible to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things an attacker would want. Understanding motive helps you predict what to look for.</a:t>
            </a:r>
          </a:p>
          <a:p/>
          <a:p>
            <a:r>
              <a:t>Change the output. Make a summary omit an inconvenient clause, misstate a term, or lean towards</a:t>
            </a:r>
          </a:p>
          <a:p>
            <a:r>
              <a:t>a particular recommendation. This is the hardest to detect, because the output looks completely</a:t>
            </a:r>
          </a:p>
          <a:p>
            <a:r>
              <a:t>normal and you have no reason to suspect anything. If someone wanted a contract summary to</a:t>
            </a:r>
          </a:p>
          <a:p>
            <a:r>
              <a:t>quietly omit a liability clause, this is how.</a:t>
            </a:r>
          </a:p>
          <a:p/>
          <a:p>
            <a:r>
              <a:t>Extract information. Get the system to reveal what else is in its context — other documents,</a:t>
            </a:r>
          </a:p>
          <a:p>
            <a:r>
              <a:t>earlier conversation, its configuration — and place it somewhere the attacker can retrieve it.</a:t>
            </a:r>
          </a:p>
          <a:p>
            <a:r>
              <a:t>Relevant if your assistant holds several documents at once, which by week seven yours does.</a:t>
            </a:r>
          </a:p>
          <a:p/>
          <a:p>
            <a:r>
              <a:t>And cause an action. The serious one, and only possible with agents. Send, forward, delete,</a:t>
            </a:r>
          </a:p>
          <a:p>
            <a:r>
              <a:t>purchase.</a:t>
            </a:r>
          </a:p>
          <a:p/>
          <a:p>
            <a:r>
              <a:t>Which is exactly why week nine's rules were what they were. Narrowest tools: it cannot forward</a:t>
            </a:r>
          </a:p>
          <a:p>
            <a:r>
              <a:t>your email if you never gave it the ability to send email. Human before anything irreversible:</a:t>
            </a:r>
          </a:p>
          <a:p>
            <a:r>
              <a:t>someone sees it before it happens.</a:t>
            </a:r>
          </a:p>
          <a:p/>
          <a:p>
            <a:r>
              <a:t>Those rules were about reliability when I gave them to you. They're security controls too, and</a:t>
            </a:r>
          </a:p>
          <a:p>
            <a:r>
              <a:t>that's not a coincidence — a system that can't act unsupervised can't be made to act</a:t>
            </a:r>
          </a:p>
          <a:p>
            <a:r>
              <a:t>maliciously either.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three. The assistant is ready. Details on the 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Twenty minutes. The target is on the board — a grounded assistant with a document pack and</a:t>
            </a:r>
          </a:p>
          <a:p>
            <a:r>
              <a:t>instructions telling it to behave.</a:t>
            </a:r>
          </a:p>
          <a:p/>
          <a:p>
            <a:r>
              <a:t>Attack mine. Not each other's. That's a rule for today and it's not negotiable: consent</a:t>
            </a:r>
          </a:p>
          <a:p>
            <a:r>
              <a:t>matters, and nobody's classroom work should be broken in front of the room.</a:t>
            </a:r>
          </a:p>
          <a:p/>
          <a:p>
            <a:r>
              <a:t>Step one. Try to make it ignore its instructions. Ask it to reveal how it was set up. Give it a</a:t>
            </a:r>
          </a:p>
          <a:p>
            <a:r>
              <a:t>frame in which its rules seem not to apply. See what holds and what doesn't.</a:t>
            </a:r>
          </a:p>
          <a:p/>
          <a:p>
            <a:r>
              <a:t>Step two. Try to make it answer outside its sources — get it to drop the refusal, get a</a:t>
            </a:r>
          </a:p>
          <a:p>
            <a:r>
              <a:t>confident answer with no quotation. You already know from week eight that this is achievable;</a:t>
            </a:r>
          </a:p>
          <a:p>
            <a:r>
              <a:t>today, try to do it on purpose.</a:t>
            </a:r>
          </a:p>
          <a:p/>
          <a:p>
            <a:r>
              <a:t>Step three, and this is the one that matters. I have added a poisoned document to the pack.</a:t>
            </a:r>
          </a:p>
          <a:p>
            <a:r>
              <a:t>Read it, find the hidden instruction, then ask an entirely normal question and watch what</a:t>
            </a:r>
          </a:p>
          <a:p>
            <a:r>
              <a:t>happens.</a:t>
            </a:r>
          </a:p>
          <a:p/>
          <a:p>
            <a:r>
              <a:t>That third step is the demonstration. Steps one and two are you attacking a system. Step three</a:t>
            </a:r>
          </a:p>
          <a:p>
            <a:r>
              <a:t>is a system attacking you.</a:t>
            </a:r>
          </a:p>
          <a:p/>
          <a:p>
            <a:r>
              <a:t>[Circulate. Collect the best attempts to walk through afterwards. If nobody is participating,</a:t>
            </a:r>
          </a:p>
          <a:p>
            <a:r>
              <a:t>run all three steps on screen — the poisoned document is the payload and it works as a</a:t>
            </a:r>
          </a:p>
          <a:p>
            <a:r>
              <a:t>demonstration.]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the room usually finds — and this holds whether or not you attacked it yourself.</a:t>
            </a:r>
          </a:p>
          <a:p/>
          <a:p>
            <a:r>
              <a:t>Direct attempts to reveal the instructions work more often than people expect. The</a:t>
            </a:r>
          </a:p>
          <a:p>
            <a:r>
              <a:t>configuration is just text in the context, and asking for text in the context is not a strange</a:t>
            </a:r>
          </a:p>
          <a:p>
            <a:r>
              <a:t>request.</a:t>
            </a:r>
          </a:p>
          <a:p/>
          <a:p>
            <a:r>
              <a:t>The refusal is easier to defeat than to trigger. A small framing change is often enough — "for</a:t>
            </a:r>
          </a:p>
          <a:p>
            <a:r>
              <a:t>a training exercise," "hypothetically," "as an example." Because, again, it's a tendency rather</a:t>
            </a:r>
          </a:p>
          <a:p>
            <a:r>
              <a:t>than a gate.</a:t>
            </a:r>
          </a:p>
          <a:p/>
          <a:p>
            <a:r>
              <a:t>The poisoned document works immediately, and there is no visible sign at all. No warning, no</a:t>
            </a:r>
          </a:p>
          <a:p>
            <a:r>
              <a:t>flag, nothing in the answer that looks different.</a:t>
            </a:r>
          </a:p>
          <a:p/>
          <a:p>
            <a:r>
              <a:t>And the output from a poisoned query is indistinguishable from a clean one.</a:t>
            </a:r>
          </a:p>
          <a:p/>
          <a:p>
            <a:r>
              <a:t>Bold line: that last point is the entire lesson. Every earlier failure in this course was</a:t>
            </a:r>
          </a:p>
          <a:p>
            <a:r>
              <a:t>invisible in the output — hallucination, silent failure, over-reading. This one is invisible</a:t>
            </a:r>
          </a:p>
          <a:p>
            <a:r>
              <a:t>too.</a:t>
            </a:r>
          </a:p>
          <a:p/>
          <a:p>
            <a:r>
              <a:t>But there's a difference, and it's why this session sits at the end. This one has an author.</a:t>
            </a:r>
          </a:p>
          <a:p>
            <a:r>
              <a:t>Someone chose it. Everything before this week was the system being imperfect. This is the system</a:t>
            </a:r>
          </a:p>
          <a:p>
            <a:r>
              <a:t>being used against you, and no amount of care on your part would have shown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four. The part with professional consequences for several of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things.</a:t>
            </a:r>
          </a:p>
          <a:p/>
          <a:p>
            <a:r>
              <a:t>Everything in the context is available to whatever the system does next. Other documents you</a:t>
            </a:r>
          </a:p>
          <a:p>
            <a:r>
              <a:t>loaded. Earlier conversation. Text you pasted twenty minutes ago and stopped thinking about.</a:t>
            </a:r>
          </a:p>
          <a:p>
            <a:r>
              <a:t>That's week three — no memory outside the context, but everything inside it is live.</a:t>
            </a:r>
          </a:p>
          <a:p/>
          <a:p>
            <a:r>
              <a:t>Sharing a conversation shares more than the last message. A shared chat link carries the whole</a:t>
            </a:r>
          </a:p>
          <a:p>
            <a:r>
              <a:t>history, including material you've forgotten is in there. And note the practical detail:</a:t>
            </a:r>
          </a:p>
          <a:p>
            <a:r>
              <a:t>screenshots crop, links do not. People share links because it's easier, and share far more than</a:t>
            </a:r>
          </a:p>
          <a:p>
            <a:r>
              <a:t>they intended.</a:t>
            </a:r>
          </a:p>
          <a:p/>
          <a:p>
            <a:r>
              <a:t>And separately — what the provider retains, and whether it's used for training, varies by</a:t>
            </a:r>
          </a:p>
          <a:p>
            <a:r>
              <a:t>service and by setting, and it changes. I'm deliberately not telling you what any particular</a:t>
            </a:r>
          </a:p>
          <a:p>
            <a:r>
              <a:t>service does today, because it would be wrong by the time you need it.</a:t>
            </a:r>
          </a:p>
          <a:p/>
          <a:p>
            <a:r>
              <a:t>The bold line is the professional rule: for institutional data, this must be checked before</a:t>
            </a:r>
          </a:p>
          <a:p>
            <a:r>
              <a:t>use, not after. Once it's sent, it's sent. There's no recall.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rules for sensitive data. For those of you going into clinical or legal practice, these</a:t>
            </a:r>
          </a:p>
          <a:p>
            <a:r>
              <a:t>are professional obligations, not suggestions.</a:t>
            </a:r>
          </a:p>
          <a:p/>
          <a:p>
            <a:r>
              <a:t>Patient and client data: default to not putting it in. If your institution has an approved tool</a:t>
            </a:r>
          </a:p>
          <a:p>
            <a:r>
              <a:t>with an agreement in place, use that one and nothing else. And the sentence I want you to</a:t>
            </a:r>
          </a:p>
          <a:p>
            <a:r>
              <a:t>remember — convenience is not a justification you can offer afterwards. It will not sound good</a:t>
            </a:r>
          </a:p>
          <a:p>
            <a:r>
              <a:t>in the meeting.</a:t>
            </a:r>
          </a:p>
          <a:p/>
          <a:p>
            <a:r>
              <a:t>Anonymisation is harder than it looks, and this is the one people get wrong with genuine good</a:t>
            </a:r>
          </a:p>
          <a:p>
            <a:r>
              <a:t>intentions. Removing names is not anonymisation. A rare condition plus a specific date plus a</a:t>
            </a:r>
          </a:p>
          <a:p>
            <a:r>
              <a:t>small department can identify someone precisely, even with every name removed. In a small</a:t>
            </a:r>
          </a:p>
          <a:p>
            <a:r>
              <a:t>population, an unusual combination of ordinary details is an identifier.</a:t>
            </a:r>
          </a:p>
          <a:p/>
          <a:p>
            <a:r>
              <a:t>If you're thinking "but I removed the name" — that's exactly the reasoning that produces</a:t>
            </a:r>
          </a:p>
          <a:p>
            <a:r>
              <a:t>breaches.</a:t>
            </a:r>
          </a:p>
          <a:p/>
          <a:p>
            <a:r>
              <a:t>Institutional documents: internal policies, unpublished research, commercial terms. Ask who</a:t>
            </a:r>
          </a:p>
          <a:p>
            <a:r>
              <a:t>owns it and what the terms say before uploading. "I didn't think" is not a defence, and it's the</a:t>
            </a:r>
          </a:p>
          <a:p>
            <a:r>
              <a:t>most common explanation.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defences. These are what you can actually do, as a user, without being a security engineer.</a:t>
            </a:r>
          </a:p>
          <a:p/>
          <a:p>
            <a:r>
              <a:t>Treat everything the system reads as untrusted. Documents, pages, emails — all of it is</a:t>
            </a:r>
          </a:p>
          <a:p>
            <a:r>
              <a:t>potentially instruction-carrying, not merely data. That's a mental reclassification and it's</a:t>
            </a:r>
          </a:p>
          <a:p>
            <a:r>
              <a:t>free.</a:t>
            </a:r>
          </a:p>
          <a:p/>
          <a:p>
            <a:r>
              <a:t>Keep the tools narrow. It cannot take an action you never enabled. And note why this one is</a:t>
            </a:r>
          </a:p>
          <a:p>
            <a:r>
              <a:t>special, in the sub-point: it's the only defence that doesn't depend on the model behaving</a:t>
            </a:r>
          </a:p>
          <a:p>
            <a:r>
              <a:t>correctly. Everything else is a request. This is a wall.</a:t>
            </a:r>
          </a:p>
          <a:p/>
          <a:p>
            <a:r>
              <a:t>Human before anything irreversible. Injection that changes a draft is recoverable. Injection</a:t>
            </a:r>
          </a:p>
          <a:p>
            <a:r>
              <a:t>that sends something is not.</a:t>
            </a:r>
          </a:p>
          <a:p/>
          <a:p>
            <a:r>
              <a:t>Check outputs against sources, as in week eight. And here's a genuinely useful detail: a</a:t>
            </a:r>
          </a:p>
          <a:p>
            <a:r>
              <a:t>poisoned summary usually fails the quote test, because the injected change isn't supported by</a:t>
            </a:r>
          </a:p>
          <a:p>
            <a:r>
              <a:t>any real passage in your document. So the verification habit you built in week eight is also a</a:t>
            </a:r>
          </a:p>
          <a:p>
            <a:r>
              <a:t>security control. That's not a coincidence — most of what makes a system trustworthy also makes</a:t>
            </a:r>
          </a:p>
          <a:p>
            <a:r>
              <a:t>it harder to attack.</a:t>
            </a:r>
          </a:p>
          <a:p/>
          <a:p>
            <a:r>
              <a:t>And the last one, which covers everything I haven't thought of: do not put in what you would</a:t>
            </a:r>
          </a:p>
          <a:p>
            <a:r>
              <a:t>not want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What's examinable. This week is certain to be on the final.</a:t>
            </a:r>
          </a:p>
          <a:p/>
          <a:p>
            <a:r>
              <a:t>Why injection works — one undifferentiated stream of tokens, no reliable distinction between</a:t>
            </a:r>
          </a:p>
          <a:p>
            <a:r>
              <a:t>instruction and data. Be able to connect this back to week three.</a:t>
            </a:r>
          </a:p>
          <a:p/>
          <a:p>
            <a:r>
              <a:t>Direct versus indirect, and specifically who the victim is in each case. That distinction is</a:t>
            </a:r>
          </a:p>
          <a:p>
            <a:r>
              <a:t>the most likely short-answer question in this whole section.</a:t>
            </a:r>
          </a:p>
          <a:p/>
          <a:p>
            <a:r>
              <a:t>Why jailbreaking works: trained tendency, not a gate.</a:t>
            </a:r>
          </a:p>
          <a:p/>
          <a:p>
            <a:r>
              <a:t>The three attacker goals, and the detail that only the third requires an agent — which is why</a:t>
            </a:r>
          </a:p>
          <a:p>
            <a:r>
              <a:t>tool scope is a security decision.</a:t>
            </a:r>
          </a:p>
          <a:p/>
          <a:p>
            <a:r>
              <a:t>And the five defences, with the point that narrow tools is the only one not dependent on model</a:t>
            </a:r>
          </a:p>
          <a:p>
            <a:r>
              <a:t>behaviour.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things.</a:t>
            </a:r>
          </a:p>
          <a:p/>
          <a:p>
            <a:r>
              <a:t>The model sees one stream of tokens. Your instructions and the document's instructions look the</a:t>
            </a:r>
          </a:p>
          <a:p>
            <a:r>
              <a:t>same to it.</a:t>
            </a:r>
          </a:p>
          <a:p/>
          <a:p>
            <a:r>
              <a:t>Indirect injection is the one that will reach you, and you will never see it. That's why it</a:t>
            </a:r>
          </a:p>
          <a:p>
            <a:r>
              <a:t>matters more than the famous one.</a:t>
            </a:r>
          </a:p>
          <a:p/>
          <a:p>
            <a:r>
              <a:t>There are only three attacker goals, and only one needs an agent. Narrow tools cut that one off</a:t>
            </a:r>
          </a:p>
          <a:p>
            <a:r>
              <a:t>entirely.</a:t>
            </a:r>
          </a:p>
          <a:p/>
          <a:p>
            <a:r>
              <a:t>Anonymisation is harder than removing names. Please carry that into your professional life.</a:t>
            </a:r>
          </a:p>
          <a:p/>
          <a:p>
            <a:r>
              <a:t>And the verification habit from week eight is also a security control — a poisoned summary</a:t>
            </a:r>
          </a:p>
          <a:p>
            <a:r>
              <a:t>usually fails the quote test.</a:t>
            </a:r>
          </a:p>
          <a:p/>
          <a:p>
            <a:r>
              <a:t>Next week: ethics, copyright, academic integrity and responsible use. Deliberately placed here,</a:t>
            </a:r>
          </a:p>
          <a:p>
            <a:r>
              <a:t>at the end, because now you've built things, tested them, and attacked one. The ethical</a:t>
            </a:r>
          </a:p>
          <a:p>
            <a:r>
              <a:t>questions attach to something concrete rather than being abstract worries.</a:t>
            </a:r>
          </a:p>
          <a:p/>
          <a:p>
            <a:r>
              <a:t>And we'll deal properly with the question several of you have been waiting for: what are the</a:t>
            </a:r>
          </a:p>
          <a:p>
            <a:r>
              <a:t>actual rules about using this on your own coursework.</a:t>
            </a:r>
          </a:p>
          <a:p/>
          <a:p>
            <a:r>
              <a:t>Questions?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questions here.</a:t>
            </a:r>
          </a:p>
          <a:p/>
          <a:p>
            <a:r>
              <a:t>Common ones:</a:t>
            </a:r>
          </a:p>
          <a:p/>
          <a:p>
            <a:r>
              <a:t>"Can't the developers just fix this?" — They mitigate it, continuously, and it improves. But the</a:t>
            </a:r>
          </a:p>
          <a:p>
            <a:r>
              <a:t>root cause is that instructions and data share one channel, which is how the architecture works.</a:t>
            </a:r>
          </a:p>
          <a:p>
            <a:r>
              <a:t>Treat it as a risk to manage rather than a bug awaiting a patch.</a:t>
            </a:r>
          </a:p>
          <a:p/>
          <a:p>
            <a:r>
              <a:t>"Is it illegal to do what we did today?" — On a system you own or were invited to test, no.</a:t>
            </a:r>
          </a:p>
          <a:p>
            <a:r>
              <a:t>That's why we used mine and why I said attack mine and not each other's. On someone else's</a:t>
            </a:r>
          </a:p>
          <a:p>
            <a:r>
              <a:t>system without permission, you're in different territory entirely — legally and professionally.</a:t>
            </a:r>
          </a:p>
          <a:p/>
          <a:p>
            <a:r>
              <a:t>"How would I know if I'd been injected?" — Often you wouldn't. That's the honest answer, and</a:t>
            </a:r>
          </a:p>
          <a:p>
            <a:r>
              <a:t>it's why the defences are structural — narrow tools, human review — rather than perceptual.</a:t>
            </a:r>
          </a:p>
          <a:p/>
          <a:p>
            <a:r>
              <a:t>"Should I stop uploading documents?" — No. Know that document content is instruction-carrying,</a:t>
            </a:r>
          </a:p>
          <a:p>
            <a:r>
              <a:t>prefer sources you control, and verify against the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6052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1371600"/>
            <a:ext cx="1051560" cy="508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 spc="220">
                <a:solidFill>
                  <a:srgbClr val="0F766E"/>
                </a:solidFill>
                <a:latin typeface="Calibri"/>
              </a:rPr>
              <a:t>WEEK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 Light"/>
              </a:rPr>
              <a:t>Prompt Injection and AI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063240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0" i="0">
                <a:solidFill>
                  <a:srgbClr val="C3D0DB"/>
                </a:solidFill>
                <a:latin typeface="Calibri"/>
              </a:rPr>
              <a:t>Artifact: the Attack &amp; Patch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709160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1F2937"/>
                </a:solidFill>
                <a:latin typeface="Calibri"/>
              </a:rPr>
              <a:t>Prompt Engineering and Large Language Models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6B7787"/>
                </a:solidFill>
                <a:latin typeface="Calibri"/>
              </a:rPr>
              <a:t>Mehmet Ali Akyol, PhD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6B7787"/>
                </a:solidFill>
                <a:latin typeface="Calibri"/>
              </a:rPr>
              <a:t>Ankara Medipol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Today: What We'll Explore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Why prompt injection works at all — and why it is hard to fix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Direct injection and jailbreaking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Indirect injection — the serious one, and the one you will actually meet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Live: we attack a grounded assistant together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Data leakage: what you reveal without meaning to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Defences you can actually apply, and safe handling of sensitive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12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743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0F766E"/>
                </a:solidFill>
                <a:latin typeface="Calibri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004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i="0">
                <a:solidFill>
                  <a:srgbClr val="1F2937"/>
                </a:solidFill>
                <a:latin typeface="Calibri Light"/>
              </a:rPr>
              <a:t>Why Injection Works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2331720"/>
            <a:ext cx="1051560" cy="508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697480"/>
            <a:ext cx="102412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1F2937"/>
                </a:solidFill>
                <a:latin typeface="Calibri Light"/>
              </a:rPr>
              <a:t>The model receives one stream of text. It cannot reliably tell your instructions from the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434840"/>
            <a:ext cx="10241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 i="0">
                <a:solidFill>
                  <a:srgbClr val="333D4B"/>
                </a:solidFill>
                <a:latin typeface="Calibri"/>
              </a:rPr>
              <a:t>Everything in the context is just tokens. Nothing carries a label saying "this part is trustworthy".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12  ·  Prompt Engineering and Large Language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Two Kinds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8408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Direct injection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A person types something designed to override the system's instructions — to reveal its configuration, drop its constraints, or behave as something else. The attacker is the user.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4898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46066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6066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Indirect injection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6066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The instruction is hidden in content the system reads — a document, a web page, an email, a calendar entry. The attacker is not the user. The user may be the victim.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2556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13724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3724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Why the second is worse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3724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You did nothing wrong. You asked your assistant to summarise a document, and the document contained instructions. There was no moment where you could have declined.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12  ·  Prompt Engineering and Large Language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Jailbreaking, Briefly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Getting a system to do what its operators told it not to do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Usually by supplying a frame in which the refused thing seems appropriate — fiction, research, a hypothetical, a role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Why it works, mechanically: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Safety behaviour is trained-in tendency, not a hard rule. It shifts probabilities; it does not install a gate.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A strong enough framing can make the unwanted continuation the likely one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It matters to you mainly because it shows the same thing injection shows: instructions in the context compete, and the last convincing frame can win.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12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743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0F766E"/>
                </a:solidFill>
                <a:latin typeface="Calibri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004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i="0">
                <a:solidFill>
                  <a:srgbClr val="1F2937"/>
                </a:solidFill>
                <a:latin typeface="Calibri Light"/>
              </a:rPr>
              <a:t>Indirect Injection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How It Reaches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2377440"/>
            <a:ext cx="2371267" cy="187451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2560320"/>
            <a:ext cx="2042083" cy="1508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600" b="1" i="0">
                <a:solidFill>
                  <a:srgbClr val="0F766E"/>
                </a:solidFill>
                <a:latin typeface="Calibri"/>
              </a:rPr>
              <a:t>You ask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333D4B"/>
                </a:solidFill>
                <a:latin typeface="Calibri"/>
              </a:rPr>
              <a:t>"Summarise this document" or "check my inbox and draft replies".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21659" y="3214115"/>
            <a:ext cx="237744" cy="201168"/>
          </a:xfrm>
          <a:prstGeom prst="rightArrow">
            <a:avLst/>
          </a:prstGeom>
          <a:solidFill>
            <a:srgbClr val="B6C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532555" y="2377440"/>
            <a:ext cx="2371267" cy="187451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97147" y="2560320"/>
            <a:ext cx="2042083" cy="1508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600" b="1" i="0">
                <a:solidFill>
                  <a:srgbClr val="0F766E"/>
                </a:solidFill>
                <a:latin typeface="Calibri"/>
              </a:rPr>
              <a:t>It reads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333D4B"/>
                </a:solidFill>
                <a:latin typeface="Calibri"/>
              </a:rPr>
              <a:t>The document, the page, the email — content you did not write.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76975" y="3214115"/>
            <a:ext cx="237744" cy="201168"/>
          </a:xfrm>
          <a:prstGeom prst="rightArrow">
            <a:avLst/>
          </a:prstGeom>
          <a:solidFill>
            <a:srgbClr val="B6C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87871" y="2377440"/>
            <a:ext cx="2371267" cy="187451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2463" y="2560320"/>
            <a:ext cx="2042083" cy="1508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600" b="1" i="0">
                <a:solidFill>
                  <a:srgbClr val="0F766E"/>
                </a:solidFill>
                <a:latin typeface="Calibri"/>
              </a:rPr>
              <a:t>Hidden text arrives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333D4B"/>
                </a:solidFill>
                <a:latin typeface="Calibri"/>
              </a:rPr>
              <a:t>Instructions embedded in that content enter the context as tokens.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732291" y="3214115"/>
            <a:ext cx="237744" cy="201168"/>
          </a:xfrm>
          <a:prstGeom prst="rightArrow">
            <a:avLst/>
          </a:prstGeom>
          <a:solidFill>
            <a:srgbClr val="B6C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043187" y="2377440"/>
            <a:ext cx="2371267" cy="187451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7779" y="2560320"/>
            <a:ext cx="2042083" cy="1508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600" b="1" i="0">
                <a:solidFill>
                  <a:srgbClr val="0F766E"/>
                </a:solidFill>
                <a:latin typeface="Calibri"/>
              </a:rPr>
              <a:t>It follows them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333D4B"/>
                </a:solidFill>
                <a:latin typeface="Calibri"/>
              </a:rPr>
              <a:t>The instruction competes with yours — and it arrived more recently.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63439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0" i="0">
                <a:solidFill>
                  <a:srgbClr val="6B7787"/>
                </a:solidFill>
                <a:latin typeface="Calibri"/>
              </a:rPr>
              <a:t>You never saw the malicious text. There was no point at which you could have refused.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12  ·  Prompt Engineering and Large Language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What an Attacker Would Want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8408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Change the output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Make a summary omit something, misstate a term, or recommend a particular course of action. Hardest to detect, because the output looks normal and you have no reason to suspect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4898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46066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6066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Extract information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6066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Get the system to reveal what else is in its context — other documents, earlier conversation, configuration — and place it somewhere the attacker can read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2556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13724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3724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Cause an 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3724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The serious one, and only possible with agents. Send, forward, delete, purchase. This is why Week 9 said: narrowest tools, human before anything irreversible.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12  ·  Prompt Engineering and Large Language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743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0F766E"/>
                </a:solidFill>
                <a:latin typeface="Calibri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004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i="0">
                <a:solidFill>
                  <a:srgbClr val="1F2937"/>
                </a:solidFill>
                <a:latin typeface="Calibri Light"/>
              </a:rPr>
              <a:t>Live: Break My Assistant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B45309"/>
                </a:solidFill>
                <a:latin typeface="Calibri"/>
              </a:rPr>
              <a:t>IN-CLASS ACTIVITY  ·  20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Break My Assistant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83080"/>
            <a:ext cx="1051560" cy="381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10637215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The target: a grounded assistant with a document pack, and instructions telling it to behave.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Link on the board. Attack mine, not each other's.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1.  Try to make it ignore its instructions.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Ask it to reveal how it was set up. Give it a frame where its rules seem not to apply.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2.  Try to make it answer outside its sources.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Get it to drop the refusal. Get a confident answer with no quotation.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3.  Then read the poisoned document I have added to the pack.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Find the hidden instruction. Ask a normal question and watch what it does.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12  ·  Prompt Engineering and Large Language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What the Room Usually Finds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Direct attempts to reveal the instructions work more often than people expect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The refusal is easier to defeat than to trigger — a small framing change is often enough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The poisoned document works immediately, and there is no visible sign at all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The output from a poisoned query is indistinguishable from a clean one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That last point is the entire lesson.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Every earlier failure in this course was invisible in the output. So is this one — but this one has an author.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12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743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0F766E"/>
                </a:solidFill>
                <a:latin typeface="Calibri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004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i="0">
                <a:solidFill>
                  <a:srgbClr val="1F2937"/>
                </a:solidFill>
                <a:latin typeface="Calibri Light"/>
              </a:rPr>
              <a:t>Leakage and Sensitive Data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What You Reveal Without Meaning To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Everything in the context is available to whatever the system does next.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Other documents you loaded. Earlier conversation. Text you pasted and moved on from.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Sharing a conversation shares more than the last message: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A shared chat link carries the whole history, including material you have forgotten is there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Screenshots crop; links do not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And separately: what the provider retains and whether it is used for training varies by service and by setting.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For institutional data this must be checked before use, not after.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12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Handling Sensitive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8408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Patient and client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Default to not putting it in. If your institution has an approved tool with an agreement in place, use that one and nothing else. Convenience is not a justification you can offer afterwards.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4898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46066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6066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Anonymisation is harder than it looks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6066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Removing names is not anonymisation. A rare condition, a specific date, a small department, an unusual combination of details — any of these can identify someone.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2556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13724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3724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Institutional documents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3724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Internal policies, unpublished research, commercial terms. Ask who owns it and what the terms say before uploading. "I did not think" is not a defence.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12  ·  Prompt Engineering and Large Language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Defences You Can Actually Apply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Treat everything the system reads as untrusted.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Documents, pages, emails — all of it is potentially instruction-carrying, not just data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Keep the tools narrow.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It cannot take an action you never enabled. This is the only defence that does not depend on the model behaving.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Human before anything irreversible.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Injection that changes a draft is recoverable. Injection that sends something is not.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Check outputs against sources, as in Week 8.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A poisoned summary usually fails the quote test — the change is not supported by any real passage.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Do not put in what you would not want 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12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Concepts You Must Be Able to Define and Diagnose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783080"/>
            <a:ext cx="10637215" cy="42519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9814255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Why injection works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The model receives one undifferentiated stream of tokens and cannot reliably distinguish your instructions from data it was given.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Direct vs indirect injection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Direct: the user attacks their own system. Indirect: instructions hidden in content the system reads — the user is the victim and never sees it.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Why jailbreaking works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Safety behaviour is a trained tendency that shifts probabilities, not a gate that blocks.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Three attacker goals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Change the output · extract context · cause an action. Only the third requires an agent.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Five user-level defences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Untrusted inputs · narrow tools · human before irreversible actions · verify against sources · do not put in what you would not want out.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12  ·  Prompt Engineering and Large Language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Wrap-Up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The model sees one stream of tokens. Your instructions and the document's look the same.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Indirect injection is the one that will reach you — and you will never see it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Only three attacker goals; only one needs an agent. Narrow tools cut it off.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Anonymisation is harder than removing names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Verification from Week 8 is also a security control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Next week: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Ethics, Copyright, Academic Integrity and Responsible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12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468880"/>
            <a:ext cx="10241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Calibri Light"/>
              </a:rPr>
              <a:t>Questions?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566160"/>
            <a:ext cx="1051560" cy="508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931920"/>
            <a:ext cx="10241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Mehmet Ali Akyol, PhD</a:t>
            </a:r>
          </a:p>
          <a:p>
            <a:pPr>
              <a:spcAft>
                <a:spcPts val="500"/>
              </a:spcAft>
            </a:pPr>
            <a:r>
              <a:rPr sz="1700" b="0" i="0">
                <a:solidFill>
                  <a:srgbClr val="C3D0DB"/>
                </a:solidFill>
                <a:latin typeface="Calibri"/>
              </a:rPr>
              <a:t>mehmetali.akyol@gmail.com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