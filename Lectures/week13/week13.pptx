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</a:t>
            </a:r>
          </a:p>
          <a:p/>
          <a:p>
            <a:r>
              <a:t>This session sits at the end of the course deliberately. Ethics taught in week two is abstract</a:t>
            </a:r>
          </a:p>
          <a:p>
            <a:r>
              <a:t>— a list of concerns about a technology you haven't used. Ethics taught now attaches to things</a:t>
            </a:r>
          </a:p>
          <a:p>
            <a:r>
              <a:t>you have actually built, tested and attacked.</a:t>
            </a:r>
          </a:p>
          <a:p/>
          <a:p>
            <a:r>
              <a:t>Four things today. Where bias comes from, mechanically, so you can predict it rather than</a:t>
            </a:r>
          </a:p>
          <a:p>
            <a:r>
              <a:t>deplore it. Copyright — who owns what, and what's genuinely unsettled. Academic integrity,</a:t>
            </a:r>
          </a:p>
          <a:p>
            <a:r>
              <a:t>with the actual reasoning rather than a list of prohibitions. And over-reliance, which I think</a:t>
            </a:r>
          </a:p>
          <a:p>
            <a:r>
              <a:t>is the most underrated risk in this entire course.</a:t>
            </a:r>
          </a:p>
          <a:p/>
          <a:p>
            <a:r>
              <a:t>I want to say something about how I'll teach this. I'm not going to give you a code of conduct</a:t>
            </a:r>
          </a:p>
          <a:p>
            <a:r>
              <a:t>to memorise. Codes go out of date and they don't help you with the case that isn't on the list.</a:t>
            </a:r>
          </a:p>
          <a:p>
            <a:r>
              <a:t>What I want you to leave with is the ability to reason about a situation you haven't seen</a:t>
            </a:r>
          </a:p>
          <a:p>
            <a:r>
              <a:t>before — because that's what you'll actually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we're going.</a:t>
            </a:r>
          </a:p>
          <a:p/>
          <a:p>
            <a:r>
              <a:t>First, bias — where it comes from mechanically. I want to reframe this as a reporting problem</a:t>
            </a:r>
          </a:p>
          <a:p>
            <a:r>
              <a:t>rather than an attitude problem, because that reframe is what makes it predictable.</a:t>
            </a:r>
          </a:p>
          <a:p/>
          <a:p>
            <a:r>
              <a:t>Then copyright. What's settled, what's contested, and what genuinely nobody knows yet. I'll be</a:t>
            </a:r>
          </a:p>
          <a:p>
            <a:r>
              <a:t>explicit about which is which, including where I have to tell you I don't know.</a:t>
            </a:r>
          </a:p>
          <a:p/>
          <a:p>
            <a:r>
              <a:t>Then academic integrity, in bold, because it's what several of you have been waiting for. The</a:t>
            </a:r>
          </a:p>
          <a:p>
            <a:r>
              <a:t>actual rules for this course, with the reasoning, so you can apply them to situations I haven't</a:t>
            </a:r>
          </a:p>
          <a:p>
            <a:r>
              <a:t>anticipated.</a:t>
            </a:r>
          </a:p>
          <a:p/>
          <a:p>
            <a:r>
              <a:t>Then over-reliance and skill atrophy. This is the one I think about most, and it's the one</a:t>
            </a:r>
          </a:p>
          <a:p>
            <a:r>
              <a:t>that's least discussed.</a:t>
            </a:r>
          </a:p>
          <a:p/>
          <a:p>
            <a:r>
              <a:t>Then four cases to discuss. No devices needed for any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And I want to do this mechanically, because the mechanism makes it predictable.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here, because the framing matters.</a:t>
            </a:r>
          </a:p>
          <a:p/>
          <a:p>
            <a:r>
              <a:t>The system is not prejudiced. It has no attitudes, no beliefs, no intentions. It is reporting</a:t>
            </a:r>
          </a:p>
          <a:p>
            <a:r>
              <a:t>the shape of what it read.</a:t>
            </a:r>
          </a:p>
          <a:p/>
          <a:p>
            <a:r>
              <a:t>Go back to week two, to embeddings. Words that appear in similar contexts end up near each</a:t>
            </a:r>
          </a:p>
          <a:p>
            <a:r>
              <a:t>other. If the text of the world consistently associates certain occupations with certain</a:t>
            </a:r>
          </a:p>
          <a:p>
            <a:r>
              <a:t>genders, or certain neighbourhoods with certain outcomes, that association is recorded. Not</a:t>
            </a:r>
          </a:p>
          <a:p>
            <a:r>
              <a:t>because anyone chose it — because it was there.</a:t>
            </a:r>
          </a:p>
          <a:p/>
          <a:p>
            <a:r>
              <a:t>Now, why do I say this is worse in one specific way?</a:t>
            </a:r>
          </a:p>
          <a:p/>
          <a:p>
            <a:r>
              <a:t>Because a prejudiced person can be argued with, is inconsistent, gets tired, and can be</a:t>
            </a:r>
          </a:p>
          <a:p>
            <a:r>
              <a:t>overruled. A system reporting a pattern will reproduce it faithfully, fluently, and at scale —</a:t>
            </a:r>
          </a:p>
          <a:p>
            <a:r>
              <a:t>identically, every time, for everyone, without any of the friction that human prejudice</a:t>
            </a:r>
          </a:p>
          <a:p>
            <a:r>
              <a:t>generates.</a:t>
            </a:r>
          </a:p>
          <a:p/>
          <a:p>
            <a:r>
              <a:t>There's no malice to appeal to and no conscience to engage. There's a distribution.</a:t>
            </a:r>
          </a:p>
          <a:p/>
          <a:p>
            <a:r>
              <a:t>And that's precisely why "be unbiased" as an instruction does so little. You're asking a</a:t>
            </a:r>
          </a:p>
          <a:p>
            <a:r>
              <a:t>reporting mechanism to have a different opinion. It doesn't have opinions.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places you'll actually meet it — and notice that all three are things you already learned</a:t>
            </a:r>
          </a:p>
          <a:p>
            <a:r>
              <a:t>as technical facts. Today we look at them ethically.</a:t>
            </a:r>
          </a:p>
          <a:p/>
          <a:p>
            <a:r>
              <a:t>Who is assumed. Ask for "a nurse" or "an engineer" and look at what comes back — names,</a:t>
            </a:r>
          </a:p>
          <a:p>
            <a:r>
              <a:t>pronouns, implied background. The default person in the output is the statistically frequent</a:t>
            </a:r>
          </a:p>
          <a:p>
            <a:r>
              <a:t>person in the text. Try it; it's a five-second experiment and it's more persuasive than</a:t>
            </a:r>
          </a:p>
          <a:p>
            <a:r>
              <a:t>anything I can say.</a:t>
            </a:r>
          </a:p>
          <a:p/>
          <a:p>
            <a:r>
              <a:t>Whose norms are default. This is week one's displacement failure, seen ethically. Advice,</a:t>
            </a:r>
          </a:p>
          <a:p>
            <a:r>
              <a:t>examples and assumptions default to the best-represented context — usually American, usually</a:t>
            </a:r>
          </a:p>
          <a:p>
            <a:r>
              <a:t>English-speaking, usually urban. When you asked about employment notice periods and got an</a:t>
            </a:r>
          </a:p>
          <a:p>
            <a:r>
              <a:t>American answer, that was a technical failure. It's also a statement about whose working life</a:t>
            </a:r>
          </a:p>
          <a:p>
            <a:r>
              <a:t>counts as the default case.</a:t>
            </a:r>
          </a:p>
          <a:p/>
          <a:p>
            <a:r>
              <a:t>And whose language is served worse. This is week three's tokenisation, seen ethically. Turkish</a:t>
            </a:r>
          </a:p>
          <a:p>
            <a:r>
              <a:t>costs more and performs worse. That's not a slight — it means speakers of less-represented</a:t>
            </a:r>
          </a:p>
          <a:p>
            <a:r>
              <a:t>languages get a measurably worse tool, pay more for it, and are more likely to receive confident</a:t>
            </a:r>
          </a:p>
          <a:p>
            <a:r>
              <a:t>wrong answers.</a:t>
            </a:r>
          </a:p>
          <a:p/>
          <a:p>
            <a:r>
              <a:t>For a room in Turkey, that's not an abstract fairness question. It's your working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And I'm going to be careful to separate what's settled from what isn't.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reasonably settled — and even "settled" is doing some work here.</a:t>
            </a:r>
          </a:p>
          <a:p/>
          <a:p>
            <a:r>
              <a:t>In the United States, purely machine-generated work is not copyrightable. The Copyright Office</a:t>
            </a:r>
          </a:p>
          <a:p>
            <a:r>
              <a:t>requires human authorship, and that position was upheld in Thaler v. Perlmutter. Work with</a:t>
            </a:r>
          </a:p>
          <a:p>
            <a:r>
              <a:t>sufficient human creative contribution — selection, arrangement, substantial editing — can be</a:t>
            </a:r>
          </a:p>
          <a:p>
            <a:r>
              <a:t>protected, but the protection attaches to the human contribution, not to the output as such.</a:t>
            </a:r>
          </a:p>
          <a:p/>
          <a:p>
            <a:r>
              <a:t>The United Kingdom is unusual: it has a specific provision for computer-generated works, which</a:t>
            </a:r>
          </a:p>
          <a:p>
            <a:r>
              <a:t>assigns authorship to the person who made the arrangements for the work's creation. That's a</a:t>
            </a:r>
          </a:p>
          <a:p>
            <a:r>
              <a:t>genuinely different answer to the same question.</a:t>
            </a:r>
          </a:p>
          <a:p/>
          <a:p>
            <a:r>
              <a:t>And the last line is the point I actually want you to take. Two developed jurisdictions, similar</a:t>
            </a:r>
          </a:p>
          <a:p>
            <a:r>
              <a:t>legal traditions, opposite conclusions. That tells you how unsettled this area is — and it means</a:t>
            </a:r>
          </a:p>
          <a:p>
            <a:r>
              <a:t>anyone who tells you confidently what the law is, globally, is overreaching.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contested, and then what I don't know.</a:t>
            </a:r>
          </a:p>
          <a:p/>
          <a:p>
            <a:r>
              <a:t>Contested and being litigated right now: whether training on copyrighted material without</a:t>
            </a:r>
          </a:p>
          <a:p>
            <a:r>
              <a:t>permission is permitted. Major suits including the New York Times against OpenAI and Getty</a:t>
            </a:r>
          </a:p>
          <a:p>
            <a:r>
              <a:t>Images against Stability AI. These are live. The answers will matter enormously and they don't</a:t>
            </a:r>
          </a:p>
          <a:p>
            <a:r>
              <a:t>exist yet.</a:t>
            </a:r>
          </a:p>
          <a:p/>
          <a:p>
            <a:r>
              <a:t>Also contested: whether imitating a living artist's style is actionable, and separately whether</a:t>
            </a:r>
          </a:p>
          <a:p>
            <a:r>
              <a:t>it should be. Those are different questions and it's worth keeping them apart — the legal</a:t>
            </a:r>
          </a:p>
          <a:p>
            <a:r>
              <a:t>question and the ethical one can have different answers.</a:t>
            </a:r>
          </a:p>
          <a:p/>
          <a:p>
            <a:r>
              <a:t>Now the second half, and I want to model something here.</a:t>
            </a:r>
          </a:p>
          <a:p/>
          <a:p>
            <a:r>
              <a:t>I do not know how Turkish law treats AI-generated work, or how it will treat training data. I</a:t>
            </a:r>
          </a:p>
          <a:p>
            <a:r>
              <a:t>could give you a plausible-sounding answer. I'm not going to, because I'd be doing exactly what</a:t>
            </a:r>
          </a:p>
          <a:p>
            <a:r>
              <a:t>this course spends fourteen weeks warning you about — producing fluent, confident content in an</a:t>
            </a:r>
          </a:p>
          <a:p>
            <a:r>
              <a:t>area of thin coverage.</a:t>
            </a:r>
          </a:p>
          <a:p/>
          <a:p>
            <a:r>
              <a:t>If this matters for your work, ask a qualified lawyer in this jurisdiction. Do not ask a</a:t>
            </a:r>
          </a:p>
          <a:p>
            <a:r>
              <a:t>language model, for the reason you learned in week one and understood mechanically in week</a:t>
            </a:r>
          </a:p>
          <a:p>
            <a:r>
              <a:t>three.</a:t>
            </a:r>
          </a:p>
          <a:p/>
          <a:p>
            <a:r>
              <a:t>Me saying "I don't know" here is the lesson, not a gap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rules that hold regardless of how the litigation resolves. This is how to act under</a:t>
            </a:r>
          </a:p>
          <a:p>
            <a:r>
              <a:t>uncertainty, which is the actual skill.</a:t>
            </a:r>
          </a:p>
          <a:p/>
          <a:p>
            <a:r>
              <a:t>Don't ask for reproduction of specific copyrighted text. Ask for analysis, summary, or</a:t>
            </a:r>
          </a:p>
          <a:p>
            <a:r>
              <a:t>transformation. That's on safer ground in essentially every jurisdiction.</a:t>
            </a:r>
          </a:p>
          <a:p/>
          <a:p>
            <a:r>
              <a:t>Don't upload material you don't have the right to share. And note that this is a *separate*</a:t>
            </a:r>
          </a:p>
          <a:p>
            <a:r>
              <a:t>question from who owns the output — people conflate them constantly. Uploading a confidential</a:t>
            </a:r>
          </a:p>
          <a:p>
            <a:r>
              <a:t>document is a problem even if nobody ever claims copyright in what comes back.</a:t>
            </a:r>
          </a:p>
          <a:p/>
          <a:p>
            <a:r>
              <a:t>Check whether your institution or publisher requires disclosure of AI assistance. Many now do,</a:t>
            </a:r>
          </a:p>
          <a:p>
            <a:r>
              <a:t>and the requirements are changing quickly. Check per journal, per institution, per year.</a:t>
            </a:r>
          </a:p>
          <a:p/>
          <a:p>
            <a:r>
              <a:t>And keep a record of what was generated and what you wrote.</a:t>
            </a:r>
          </a:p>
          <a:p/>
          <a:p>
            <a:r>
              <a:t>That last one, in bold, protects you whichever way the law settles. If protection depends on</a:t>
            </a:r>
          </a:p>
          <a:p>
            <a:r>
              <a:t>demonstrating human creative contribution, then evidence of your contribution is exactly what</a:t>
            </a:r>
          </a:p>
          <a:p>
            <a:r>
              <a:t>you'll need. And if a dispute arises about authorship, the person with contemporaneous records</a:t>
            </a:r>
          </a:p>
          <a:p>
            <a:r>
              <a:t>is in a very different position from the person reconstructing events afterwards.</a:t>
            </a:r>
          </a:p>
          <a:p/>
          <a:p>
            <a:r>
              <a:t>It costs nothing to keep drafts. Keep drafts.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The rules for this course, with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 first. Using it and telling me is fine. Using it and hiding it is not. That's been the</a:t>
            </a:r>
          </a:p>
          <a:p>
            <a:r>
              <a:t>rule since week one and it hasn't changed.</a:t>
            </a:r>
          </a:p>
          <a:p/>
          <a:p>
            <a:r>
              <a:t>Now the reason, because I want you to be able to apply this elsewhere.</a:t>
            </a:r>
          </a:p>
          <a:p/>
          <a:p>
            <a:r>
              <a:t>The reason is not that AI is cheating. It's that assessment measures something. If I set a task</a:t>
            </a:r>
          </a:p>
          <a:p>
            <a:r>
              <a:t>to find out whether you can do X, and a tool does X for you, I have measured nothing. I now</a:t>
            </a:r>
          </a:p>
          <a:p>
            <a:r>
              <a:t>have a grade that means nothing, which harms you more than it harms me — because the grade is</a:t>
            </a:r>
          </a:p>
          <a:p>
            <a:r>
              <a:t>supposed to be evidence about you, and now it isn't.</a:t>
            </a:r>
          </a:p>
          <a:p/>
          <a:p>
            <a:r>
              <a:t>The problem is the broken measurement, not the tool.</a:t>
            </a:r>
          </a:p>
          <a:p/>
          <a:p>
            <a:r>
              <a:t>And once you see it that way, the variation makes sense. For the in-class builds, using AI is</a:t>
            </a:r>
          </a:p>
          <a:p>
            <a:r>
              <a:t>the entire point — I'm measuring whether you can design and evaluate an AI workflow, so of</a:t>
            </a:r>
          </a:p>
          <a:p>
            <a:r>
              <a:t>course you use AI. Using it there isn't a loophole; it's the task.</a:t>
            </a:r>
          </a:p>
          <a:p/>
          <a:p>
            <a:r>
              <a:t>And the exams are written and in person, because that's the only way to measure what they're</a:t>
            </a:r>
          </a:p>
          <a:p>
            <a:r>
              <a:t>meant to measure — whether *you* can recognise an over-read answer, whether *you* can name the</a:t>
            </a:r>
          </a:p>
          <a:p>
            <a:r>
              <a:t>failure mode.</a:t>
            </a:r>
          </a:p>
          <a:p/>
          <a:p>
            <a:r>
              <a:t>Same principle. Different application. That's what I want you to be able to do in other courses</a:t>
            </a:r>
          </a:p>
          <a:p>
            <a:r>
              <a:t>and in professional life, where nobody will have written the rule down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questions for situations nobody has written a rule for.</a:t>
            </a:r>
          </a:p>
          <a:p/>
          <a:p>
            <a:r>
              <a:t>Ask what is being measured. A language course measuring your command of the language — using a</a:t>
            </a:r>
          </a:p>
          <a:p>
            <a:r>
              <a:t>translator defeats the measurement entirely. A content course where you happen to be writing in</a:t>
            </a:r>
          </a:p>
          <a:p>
            <a:r>
              <a:t>a second language — the measurement may be the content, not the language, in which case</a:t>
            </a:r>
          </a:p>
          <a:p>
            <a:r>
              <a:t>language help may be fine. Check, don't assume, and note that these two situations look</a:t>
            </a:r>
          </a:p>
          <a:p>
            <a:r>
              <a:t>identical from the outside.</a:t>
            </a:r>
          </a:p>
          <a:p/>
          <a:p>
            <a:r>
              <a:t>Ask what you are certifying. This one generalises furthest. Submitting work asserts that it's</a:t>
            </a:r>
          </a:p>
          <a:p>
            <a:r>
              <a:t>yours. A literature review with twenty citations you never opened is a false claim about your</a:t>
            </a:r>
          </a:p>
          <a:p>
            <a:r>
              <a:t>own diligence — and notice that's true whether or not AI was involved. The AI just made it</a:t>
            </a:r>
          </a:p>
          <a:p>
            <a:r>
              <a:t>faster to do something that was always dishonest.</a:t>
            </a:r>
          </a:p>
          <a:p/>
          <a:p>
            <a:r>
              <a:t>And when unsure, disclose. Look at the asymmetry: disclosure almost never causes a problem.</a:t>
            </a:r>
          </a:p>
          <a:p>
            <a:r>
              <a:t>Non-disclosure that surfaces later always does. Those two facts point in the same direction and</a:t>
            </a:r>
          </a:p>
          <a:p>
            <a:r>
              <a:t>it isn't close.</a:t>
            </a:r>
          </a:p>
          <a:p/>
          <a:p>
            <a:r>
              <a:t>If you find yourself calculating whether you'd get caught, you've already answered the question</a:t>
            </a:r>
          </a:p>
          <a:p>
            <a:r>
              <a:t>— you're reasoning about detection rather than about whether it's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 The one I think about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Automation bias. People accept a system's output more readily than a colleague's, and check it</a:t>
            </a:r>
          </a:p>
          <a:p>
            <a:r>
              <a:t>less.</a:t>
            </a:r>
          </a:p>
          <a:p/>
          <a:p>
            <a:r>
              <a:t>Why? It arrives instantly, confidently, and without visible effort — and all three of those</a:t>
            </a:r>
          </a:p>
          <a:p>
            <a:r>
              <a:t>read as competence to us. If a colleague produced a forty-page analysis in nine seconds, you'd</a:t>
            </a:r>
          </a:p>
          <a:p>
            <a:r>
              <a:t>be suspicious. When software does it, you're impressed.</a:t>
            </a:r>
          </a:p>
          <a:p/>
          <a:p>
            <a:r>
              <a:t>And it's usually right, which trains you to stop checking. That's the trap, and it's a trap</a:t>
            </a:r>
          </a:p>
          <a:p>
            <a:r>
              <a:t>built out of the system working well. Twenty good answers teach you that checking is a waste of</a:t>
            </a:r>
          </a:p>
          <a:p>
            <a:r>
              <a:t>time, and then the twenty-first is wrong.</a:t>
            </a:r>
          </a:p>
          <a:p/>
          <a:p>
            <a:r>
              <a:t>Now the second-order problem, which is the one that actually worries me.</a:t>
            </a:r>
          </a:p>
          <a:p/>
          <a:p>
            <a:r>
              <a:t>The judgment that lets you catch errors is built by doing the work yourself. You can spot a bad</a:t>
            </a:r>
          </a:p>
          <a:p>
            <a:r>
              <a:t>discharge summary because you've written a hundred. You can feel that an argument is weak</a:t>
            </a:r>
          </a:p>
          <a:p>
            <a:r>
              <a:t>because you've constructed weak ones and had them taken apart.</a:t>
            </a:r>
          </a:p>
          <a:p/>
          <a:p>
            <a:r>
              <a:t>If you never draft, you may lose — or never develop — the ability to tell a good draft from a</a:t>
            </a:r>
          </a:p>
          <a:p>
            <a:r>
              <a:t>merely plausible one. And that's the exact capability this whole course is trying to build in</a:t>
            </a:r>
          </a:p>
          <a:p>
            <a:r>
              <a:t>you.</a:t>
            </a:r>
          </a:p>
          <a:p/>
          <a:p>
            <a:r>
              <a:t>Last line, and I mean it: this is not an argument against using these tools. It's an argument</a:t>
            </a:r>
          </a:p>
          <a:p>
            <a:r>
              <a:t>for keeping a practice that maintains the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practices. These are personal rather than institutional, and I offer them as someone who</a:t>
            </a:r>
          </a:p>
          <a:p>
            <a:r>
              <a:t>uses these tools daily.</a:t>
            </a:r>
          </a:p>
          <a:p/>
          <a:p>
            <a:r>
              <a:t>Draft first sometimes. Not always — that would waste the tool. But if you never produce a first</a:t>
            </a:r>
          </a:p>
          <a:p>
            <a:r>
              <a:t>version yourself, you lose the comparison that tells you whether the generated one is any good.</a:t>
            </a:r>
          </a:p>
          <a:p>
            <a:r>
              <a:t>You can't evaluate against a standard you no longer have.</a:t>
            </a:r>
          </a:p>
          <a:p/>
          <a:p>
            <a:r>
              <a:t>Predict before you read. Before you look at the output, say what you expect the answer to be.</a:t>
            </a:r>
          </a:p>
          <a:p>
            <a:r>
              <a:t>Then look. It takes three seconds, and it keeps your judgment engaged rather than dormant — and</a:t>
            </a:r>
          </a:p>
          <a:p>
            <a:r>
              <a:t>it makes disagreements visible, which is when you actually learn something.</a:t>
            </a:r>
          </a:p>
          <a:p/>
          <a:p>
            <a:r>
              <a:t>And keep one thing you do unaided. Choose the skill most central to your profession and protect</a:t>
            </a:r>
          </a:p>
          <a:p>
            <a:r>
              <a:t>it deliberately. For a clinician that might be the differential. For a lawyer, constructing the</a:t>
            </a:r>
          </a:p>
          <a:p>
            <a:r>
              <a:t>argument. For a teacher, designing the assessment. Use the tools everywhere else, freely.</a:t>
            </a:r>
          </a:p>
          <a:p/>
          <a:p>
            <a:r>
              <a:t>That's not asceticism. It's the same logic as the four levers — deciding deliberately rather</a:t>
            </a:r>
          </a:p>
          <a:p>
            <a:r>
              <a:t>than by default. The default is that you use it for everything and notice the loss in five</a:t>
            </a:r>
          </a:p>
          <a:p>
            <a:r>
              <a:t>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five. No devices needed. These work as discussion or as a thinking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Fifteen minutes. Four cases. For each: what's the problem, and what would you do?</a:t>
            </a:r>
          </a:p>
          <a:p/>
          <a:p>
            <a:r>
              <a:t>Case A. A colleague pastes a patient's full history into a public chat tool to draft a referral.</a:t>
            </a:r>
          </a:p>
          <a:p>
            <a:r>
              <a:t>It works well. They do it weekly.</a:t>
            </a:r>
          </a:p>
          <a:p/>
          <a:p>
            <a:r>
              <a:t>Case B. A student submits an essay with fifteen citations. Twelve exist. Three don't. They say</a:t>
            </a:r>
          </a:p>
          <a:p>
            <a:r>
              <a:t>they didn't know.</a:t>
            </a:r>
          </a:p>
          <a:p/>
          <a:p>
            <a:r>
              <a:t>Case C. A department automates first-round application screening. Nobody has checked which</a:t>
            </a:r>
          </a:p>
          <a:p>
            <a:r>
              <a:t>applicants it rejects.</a:t>
            </a:r>
          </a:p>
          <a:p/>
          <a:p>
            <a:r>
              <a:t>Case D. You generate a course handout. It's excellent. A colleague asks if you wrote it.</a:t>
            </a:r>
          </a:p>
          <a:p/>
          <a:p>
            <a:r>
              <a:t>Think about them, or discuss them with the person next to you. I'll walk through all four</a:t>
            </a:r>
          </a:p>
          <a:p>
            <a:r>
              <a:t>either way.</a:t>
            </a:r>
          </a:p>
          <a:p/>
          <a:p>
            <a:r>
              <a:t>[If the room is willing, take one case at a time and hear a couple of views before giving the</a:t>
            </a:r>
          </a:p>
          <a:p>
            <a:r>
              <a:t>analysis. If it's quiet, go straight to the next slide — it has the analysis. Case D is</a:t>
            </a:r>
          </a:p>
          <a:p>
            <a:r>
              <a:t>deliberately the mildest and usually produces the most disagreement, so it's a good one to end</a:t>
            </a:r>
          </a:p>
          <a:p>
            <a:r>
              <a:t>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take them.</a:t>
            </a:r>
          </a:p>
          <a:p/>
          <a:p>
            <a:r>
              <a:t>A, the patient history. Not a grey area, and I'd want you clear about that. Data leaves the</a:t>
            </a:r>
          </a:p>
          <a:p>
            <a:r>
              <a:t>institution. The terms were never checked. "It works well" is not a safeguard — it's the reason</a:t>
            </a:r>
          </a:p>
          <a:p>
            <a:r>
              <a:t>they'll keep doing it. Raise it, kindly and promptly, because your colleague is exposed and</a:t>
            </a:r>
          </a:p>
          <a:p>
            <a:r>
              <a:t>probably hasn't thought about it. Kindly matters; people respond badly to being accused and</a:t>
            </a:r>
          </a:p>
          <a:p>
            <a:r>
              <a:t>well to being warned.</a:t>
            </a:r>
          </a:p>
          <a:p/>
          <a:p>
            <a:r>
              <a:t>B, the three citations. "I didn't know" may well be true, and it isn't exculpatory. Submitting</a:t>
            </a:r>
          </a:p>
          <a:p>
            <a:r>
              <a:t>the work certified they were real. That's the point from earlier — the dishonesty lives in the</a:t>
            </a:r>
          </a:p>
          <a:p>
            <a:r>
              <a:t>unchecked claim, not in the tool. And note this is a week one failure, fabrication, arriving</a:t>
            </a:r>
          </a:p>
          <a:p>
            <a:r>
              <a:t>with real consequences.</a:t>
            </a:r>
          </a:p>
          <a:p/>
          <a:p>
            <a:r>
              <a:t>C, the screening. The failure is not automation. It's that nobody has examined the rejections.</a:t>
            </a:r>
          </a:p>
          <a:p>
            <a:r>
              <a:t>An unexamined system encodes whatever pattern it found in whatever data it was given, and</a:t>
            </a:r>
          </a:p>
          <a:p>
            <a:r>
              <a:t>applies it identically to everyone, forever. The fix isn't necessarily to stop — it's to look at</a:t>
            </a:r>
          </a:p>
          <a:p>
            <a:r>
              <a:t>who is being rejected and why. That's week eight, applied to a decision about people's lives.</a:t>
            </a:r>
          </a:p>
          <a:p/>
          <a:p>
            <a:r>
              <a:t>D, the handout. The mildest case, and the one worth being straightforward about. "I generated</a:t>
            </a:r>
          </a:p>
          <a:p>
            <a:r>
              <a:t>it and edited it." Nothing is lost by saying so. And the fact that this feels slightly</a:t>
            </a:r>
          </a:p>
          <a:p>
            <a:r>
              <a:t>uncomfortable is worth noticing — that discomfort is exactly the thing that grows into</a:t>
            </a:r>
          </a:p>
          <a:p>
            <a:r>
              <a:t>non-disclosure if you don't address it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things.</a:t>
            </a:r>
          </a:p>
          <a:p/>
          <a:p>
            <a:r>
              <a:t>Bias is a reporting problem rather than an attitude problem — and that framing makes it</a:t>
            </a:r>
          </a:p>
          <a:p>
            <a:r>
              <a:t>predictable, which is what lets you design around it.</a:t>
            </a:r>
          </a:p>
          <a:p/>
          <a:p>
            <a:r>
              <a:t>Copyright is genuinely unsettled. Keep records of your own contribution regardless of how it</a:t>
            </a:r>
          </a:p>
          <a:p>
            <a:r>
              <a:t>resolves.</a:t>
            </a:r>
          </a:p>
          <a:p/>
          <a:p>
            <a:r>
              <a:t>Integrity is about what's being measured and what you're certifying. Those two questions will</a:t>
            </a:r>
          </a:p>
          <a:p>
            <a:r>
              <a:t>serve you in situations no rule covers.</a:t>
            </a:r>
          </a:p>
          <a:p/>
          <a:p>
            <a:r>
              <a:t>Over-reliance erodes the judgment that lets you catch errors. Protect one skill deliberately.</a:t>
            </a:r>
          </a:p>
          <a:p/>
          <a:p>
            <a:r>
              <a:t>And when unsure, disclose.</a:t>
            </a:r>
          </a:p>
          <a:p/>
          <a:p>
            <a:r>
              <a:t>Next week is the last session. We'll pull the whole course together — the failure taxonomy, the</a:t>
            </a:r>
          </a:p>
          <a:p>
            <a:r>
              <a:t>artifacts, the through-line — and I'll tell you exactly what the final covers.</a:t>
            </a:r>
          </a:p>
          <a:p/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here.</a:t>
            </a:r>
          </a:p>
          <a:p/>
          <a:p>
            <a:r>
              <a:t>Common ones:</a:t>
            </a:r>
          </a:p>
          <a:p/>
          <a:p>
            <a:r>
              <a:t>"Can I use AI to write my thesis?" — Depends on your institution's rules and your supervisor,</a:t>
            </a:r>
          </a:p>
          <a:p>
            <a:r>
              <a:t>and both are changing. Ask explicitly and get the answer in writing. Never assume from silence.</a:t>
            </a:r>
          </a:p>
          <a:p/>
          <a:p>
            <a:r>
              <a:t>"What if my supervisor says no but everyone does it?" — Then the answer is no, and "everyone</a:t>
            </a:r>
          </a:p>
          <a:p>
            <a:r>
              <a:t>does it" is the reasoning that ends careers rather than protecting them.</a:t>
            </a:r>
          </a:p>
          <a:p/>
          <a:p>
            <a:r>
              <a:t>"Is it unethical to use it at all, given the training data disputes?" — A reasonable position</a:t>
            </a:r>
          </a:p>
          <a:p>
            <a:r>
              <a:t>that reasonable people hold. It's also unresolved. I'd say: form a view, be able to defend it,</a:t>
            </a:r>
          </a:p>
          <a:p>
            <a:r>
              <a:t>and don't pretend the question isn't there.</a:t>
            </a:r>
          </a:p>
          <a:p/>
          <a:p>
            <a:r>
              <a:t>"Do you use it?" — Yes, daily, including in preparing this course. Which I'm telling you</a:t>
            </a:r>
          </a:p>
          <a:p>
            <a:r>
              <a:t>because it would be strange to teach disclosure and not practise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Ethics, Copyright and Responsible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Including the rules for your own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Where bias comes from, and why it is a reporting problem rather than an attitude problem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Copyright: what is settled, what is contested, and what nobody knows yet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Academic integrity — the actual rules for this course, with reasons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Over-reliance and skill atrophy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Activity: four cases, no devices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Bias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2937"/>
                </a:solidFill>
                <a:latin typeface="Calibri Light"/>
              </a:rPr>
              <a:t>The system is not prejudiced. It is reporting the shape of what it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333D4B"/>
                </a:solidFill>
                <a:latin typeface="Calibri"/>
              </a:rPr>
              <a:t>Which is worse in one specific way: it will reproduce the pattern faithfully, fluently, and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Where You Will Actually Meet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Who is assumed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Ask for "a nurse" or "an engineer" and note what comes back — names, pronouns, background. The default person in the output is the statistically frequent one in the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Whose norms are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Week 1's displacement, seen ethically. Advice, examples and assumptions default to the best-represented context — usually American, usually English-speaking, usually urban.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Whose language is served worse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Week 3's tokenisation, seen ethically. Turkish costs more and performs worse. Speakers of less-represented languages get a measurably worse tool.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Copyright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Is Reasonably Settled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In the United States, purely machine-generated work is not copyrightable.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Copyright Office requires human authorship. This was upheld in Thaler v. Perlmutter.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Work with sufficient human creative contribution — selection, arrangement, substantial editing — can be protected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United Kingdom is unusual.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has a provision for computer-generated works, assigning authorship to the person who made the arrangements for creation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Note that these are two developed jurisdictions reaching different answers. That should tell you how unsettled the area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Is Contested, and What I Do Not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Contested — being litigated now: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Whether training on copyrighted material without permission is permitted. Major suits including NY Times v. OpenAI and Getty Images v. Stability AI.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Whether imitating a living artist's style is actionable, and whether it should be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What I do not know, and will not guess: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How Turkish law treats AI-generated work, and how it will treat training data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If this matters for your work, ask a qualified lawyer in this jurisdiction. Do not ask a language model — see Week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Practical Rules That Do Not Depend on the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Do not ask for reproduction of specific copyrighted text. Ask for analysis, summary or transformation.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Do not upload material you do not have the right to share — that is a separate question from copyright in the output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Check whether your institution or publisher requires disclosure of AI assistance. Many now do.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Keep a record of what was generated and what you wrote. You may need to demonstrate your own contribution.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That last one protects you, whichever way the law settles.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Academic Integrity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Rule, and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rule: using it and telling me is fine. Using it and hiding it is not.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reason is not that AI is cheating. It is that assessment measures something.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If I set a task to find out whether you can do X, and a tool does X, I have measured nothing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problem is the broken measurement, not the tool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Which is why the rules differ by task: for the in-class builds, using AI is the entire point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And why the exams are written and in person — that is the only way to measure what they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Applying It Elsewhere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Ask what is being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 language course measuring your language: using a translator defeats it. A content course where you write in a second language: check, because the measurement may not be the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Ask what you are certifying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Submitting work asserts it is yours. A literature review with citations you never checked is a false claim about your own diligence — regardless of whether AI was involved.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When unsure, disclose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Disclosure almost never causes a problem. Non-disclosure that surfaces later always does. The asymmetry is enormous and it points one 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Over-Reliance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Risk Nobody Talks About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Automation bias: people accept a system's output more readily than a colleague's, and check it less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arrives instantly, confidently, and without visible effort — all of which read as competence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And it is usually right, which trains you to stop checking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second-order problem: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judgment that lets you catch errors is built by doing the work yourself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If you never draft, you may lose the ability to tell a good draft from a plausible one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This is not an argument against using these tools. It is an argument for keeping a practice that maintains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Keeping the Skill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Draft first sometimes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Not always. But if you never produce a first version yourself, you lose the comparison that tells you whether the generated one is good.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Predict before you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Say what you expect the answer to be, then look. Cheap, fast, and it keeps your own judgment engaged rather than dormant.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Keep one thing you do unaided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Choose the skill most central to your profession and protect it deliberately. Use the tools everywhere else.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Four Cases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IN-CLASS ACTIVITY  ·  15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Four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5156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For each: what is the problem, and what would you do?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colleague pastes a patient's full history into a public chat tool to draft a referral. It works well. They do it weekly.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B.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student submits an essay with fifteen citations. Twelve exist. Three do not. They say they did not know.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department automates first-round application screening. Nobody has checked which applicants it rejects.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You generate a course handout. It is excellent. A colleague asks if you wrote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Cases, Discussed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 — the patient history.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Not a grey area. Data leaves the institution; the terms were never checked; "it works well" is not a safeguard. Raise it, kindly and promptly.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B — the three citations.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"I did not know" may well be true and is not exculpatory. Submitting the work certified they were real. The dishonesty is in the unchecked claim.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 — the screening.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failure is not automation — it is the absence of anyone examining the rejections. An unexamined system encodes whatever pattern it found.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D — the handout.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mildest case and the one worth being straightforward about. "I generated it and edited it." Nothing is lost by saying 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Bias is a reporting problem, not an attitude problem — which makes it predictable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Copyright is genuinely unsettled; keep records of your own contribution regardless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Integrity is about what is being measured and what you are certifying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Over-reliance erodes the judgment that lets you catch errors — protect one skill deliberately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When unsure, disclose. The asymmetry points one way.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Synthesis and Course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13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